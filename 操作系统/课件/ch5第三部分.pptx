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5.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handoutMasterIdLst>
    <p:handoutMasterId r:id="rId62"/>
  </p:handoutMasterIdLst>
  <p:sldIdLst>
    <p:sldId id="406" r:id="rId2"/>
    <p:sldId id="462" r:id="rId3"/>
    <p:sldId id="455" r:id="rId4"/>
    <p:sldId id="456" r:id="rId5"/>
    <p:sldId id="457" r:id="rId6"/>
    <p:sldId id="458" r:id="rId7"/>
    <p:sldId id="459" r:id="rId8"/>
    <p:sldId id="460" r:id="rId9"/>
    <p:sldId id="461" r:id="rId10"/>
    <p:sldId id="409" r:id="rId11"/>
    <p:sldId id="410" r:id="rId12"/>
    <p:sldId id="411" r:id="rId13"/>
    <p:sldId id="412" r:id="rId14"/>
    <p:sldId id="413" r:id="rId15"/>
    <p:sldId id="414" r:id="rId16"/>
    <p:sldId id="415" r:id="rId17"/>
    <p:sldId id="467" r:id="rId18"/>
    <p:sldId id="468" r:id="rId19"/>
    <p:sldId id="469" r:id="rId20"/>
    <p:sldId id="470" r:id="rId21"/>
    <p:sldId id="516" r:id="rId22"/>
    <p:sldId id="517" r:id="rId23"/>
    <p:sldId id="471" r:id="rId24"/>
    <p:sldId id="416" r:id="rId25"/>
    <p:sldId id="417" r:id="rId26"/>
    <p:sldId id="418" r:id="rId27"/>
    <p:sldId id="419" r:id="rId28"/>
    <p:sldId id="422" r:id="rId29"/>
    <p:sldId id="420" r:id="rId30"/>
    <p:sldId id="421" r:id="rId31"/>
    <p:sldId id="428" r:id="rId32"/>
    <p:sldId id="429" r:id="rId33"/>
    <p:sldId id="430" r:id="rId34"/>
    <p:sldId id="515" r:id="rId35"/>
    <p:sldId id="431" r:id="rId36"/>
    <p:sldId id="432" r:id="rId37"/>
    <p:sldId id="464" r:id="rId38"/>
    <p:sldId id="465" r:id="rId39"/>
    <p:sldId id="466" r:id="rId40"/>
    <p:sldId id="433" r:id="rId41"/>
    <p:sldId id="434" r:id="rId42"/>
    <p:sldId id="435" r:id="rId43"/>
    <p:sldId id="518" r:id="rId44"/>
    <p:sldId id="436" r:id="rId45"/>
    <p:sldId id="519" r:id="rId46"/>
    <p:sldId id="437" r:id="rId47"/>
    <p:sldId id="438" r:id="rId48"/>
    <p:sldId id="441" r:id="rId49"/>
    <p:sldId id="442" r:id="rId50"/>
    <p:sldId id="444" r:id="rId51"/>
    <p:sldId id="445" r:id="rId52"/>
    <p:sldId id="446" r:id="rId53"/>
    <p:sldId id="447" r:id="rId54"/>
    <p:sldId id="448" r:id="rId55"/>
    <p:sldId id="449" r:id="rId56"/>
    <p:sldId id="450" r:id="rId57"/>
    <p:sldId id="451" r:id="rId58"/>
    <p:sldId id="452" r:id="rId59"/>
    <p:sldId id="454" r:id="rId60"/>
  </p:sldIdLst>
  <p:sldSz cx="9144000" cy="6858000" type="screen4x3"/>
  <p:notesSz cx="6858000" cy="9144000"/>
  <p:custDataLst>
    <p:tags r:id="rId63"/>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8000"/>
    <a:srgbClr val="0000FF"/>
    <a:srgbClr val="0033CC"/>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98"/>
    <p:restoredTop sz="85764"/>
  </p:normalViewPr>
  <p:slideViewPr>
    <p:cSldViewPr showGuides="1">
      <p:cViewPr varScale="1">
        <p:scale>
          <a:sx n="57" d="100"/>
          <a:sy n="57" d="100"/>
        </p:scale>
        <p:origin x="1780"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246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mn-ea"/>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246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246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0D357001-F1E5-E046-A020-04D0835E33C1}"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041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mn-ea"/>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4340"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042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042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042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6C6FBFAF-2356-F74C-9DA3-EE500A9373C1}"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ea typeface="宋体" panose="02010600030101010101" pitchFamily="2" charset="-122"/>
              </a:rPr>
              <a:t>1</a:t>
            </a:fld>
            <a:endParaRPr lang="zh-CN" altLang="en-US" sz="1200">
              <a:ea typeface="宋体" panose="02010600030101010101" pitchFamily="2" charset="-122"/>
            </a:endParaRPr>
          </a:p>
        </p:txBody>
      </p:sp>
      <p:sp>
        <p:nvSpPr>
          <p:cNvPr id="17410" name="Rectangle 2"/>
          <p:cNvSpPr>
            <a:spLocks noGrp="1" noRot="1" noChangeAspect="1" noTextEdit="1"/>
          </p:cNvSpPr>
          <p:nvPr>
            <p:ph type="sldImg"/>
          </p:nvPr>
        </p:nvSpPr>
        <p:spPr/>
      </p:sp>
      <p:sp>
        <p:nvSpPr>
          <p:cNvPr id="17411" name="Rectangle 3"/>
          <p:cNvSpPr>
            <a:spLocks noGrp="1"/>
          </p:cNvSpPr>
          <p:nvPr>
            <p:ph type="body" idx="1"/>
          </p:nvPr>
        </p:nvSpPr>
        <p:spPr/>
        <p:txBody>
          <a:bodyPr wrap="square" lIns="91440" tIns="45720" rIns="91440" bIns="45720" anchor="t" anchorCtr="0"/>
          <a:lstStyle/>
          <a:p>
            <a:pPr lvl="0"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幻灯片图像占位符 1"/>
          <p:cNvSpPr>
            <a:spLocks noGrp="1" noRot="1" noChangeAspect="1" noTextEdit="1"/>
          </p:cNvSpPr>
          <p:nvPr>
            <p:ph type="sldImg"/>
          </p:nvPr>
        </p:nvSpPr>
        <p:spPr/>
      </p:sp>
      <p:sp>
        <p:nvSpPr>
          <p:cNvPr id="77826" name="备注占位符 2"/>
          <p:cNvSpPr>
            <a:spLocks noGrp="1"/>
          </p:cNvSpPr>
          <p:nvPr>
            <p:ph type="body" idx="1"/>
          </p:nvPr>
        </p:nvSpPr>
        <p:spPr/>
        <p:txBody>
          <a:bodyPr wrap="square" lIns="91440" tIns="45720" rIns="91440" bIns="45720" anchor="t" anchorCtr="0"/>
          <a:lstStyle/>
          <a:p>
            <a:pPr lvl="0"/>
            <a:endParaRPr lang="zh-CN" altLang="en-US"/>
          </a:p>
        </p:txBody>
      </p:sp>
      <p:sp>
        <p:nvSpPr>
          <p:cNvPr id="77827"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ea typeface="宋体" panose="02010600030101010101" pitchFamily="2" charset="-122"/>
              </a:rPr>
              <a:t>5</a:t>
            </a:fld>
            <a:endParaRPr lang="zh-CN" altLang="en-US" sz="120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noTextEdit="1"/>
          </p:cNvSpPr>
          <p:nvPr>
            <p:ph type="sldImg"/>
          </p:nvPr>
        </p:nvSpPr>
        <p:spPr/>
      </p:sp>
      <p:sp>
        <p:nvSpPr>
          <p:cNvPr id="37890" name="备注占位符 2"/>
          <p:cNvSpPr>
            <a:spLocks noGrp="1"/>
          </p:cNvSpPr>
          <p:nvPr>
            <p:ph type="body" idx="1"/>
          </p:nvPr>
        </p:nvSpPr>
        <p:spPr/>
        <p:txBody>
          <a:bodyPr wrap="square" lIns="91440" tIns="45720" rIns="91440" bIns="45720" anchor="t" anchorCtr="0"/>
          <a:lstStyle/>
          <a:p>
            <a:pPr lvl="0"/>
            <a:r>
              <a:rPr lang="zh-CN" altLang="en-US"/>
              <a:t>缺页中断产生后，需要在内存中找到空闲页框并分配给需要访问的页（可能涉及到页面置换），之后缺页中断处理程序调用设备驱动程序做磁盘</a:t>
            </a:r>
            <a:r>
              <a:rPr lang="en-US" altLang="zh-CN"/>
              <a:t>I/O</a:t>
            </a:r>
            <a:r>
              <a:rPr lang="zh-CN" altLang="en-US"/>
              <a:t>，将位于外存上的页面调入内存，调入后需要修改页表，将页表中代表该页是否在内存的标志位（或有效位）置为</a:t>
            </a:r>
            <a:r>
              <a:rPr lang="en-US" altLang="zh-CN"/>
              <a:t>1</a:t>
            </a:r>
            <a:r>
              <a:rPr lang="zh-CN" altLang="en-US"/>
              <a:t>，并将物理页框号填入相应位置，若必要还需修改其他相关表项等。 </a:t>
            </a:r>
          </a:p>
          <a:p>
            <a:pPr lvl="0"/>
            <a:endParaRPr lang="zh-CN" altLang="en-US"/>
          </a:p>
        </p:txBody>
      </p:sp>
      <p:sp>
        <p:nvSpPr>
          <p:cNvPr id="37891"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latin typeface="Tahoma" panose="020B0604030504040204" pitchFamily="34" charset="0"/>
                <a:ea typeface="宋体" panose="02010600030101010101" pitchFamily="2" charset="-122"/>
              </a:rPr>
              <a:t>20</a:t>
            </a:fld>
            <a:endParaRPr lang="zh-CN" altLang="en-US" sz="1200">
              <a:latin typeface="Tahoma" panose="020B060403050404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noTextEdit="1"/>
          </p:cNvSpPr>
          <p:nvPr>
            <p:ph type="sldImg"/>
          </p:nvPr>
        </p:nvSpPr>
        <p:spPr/>
      </p:sp>
      <p:sp>
        <p:nvSpPr>
          <p:cNvPr id="39938" name="备注占位符 2"/>
          <p:cNvSpPr>
            <a:spLocks noGrp="1"/>
          </p:cNvSpPr>
          <p:nvPr>
            <p:ph type="body" idx="1"/>
          </p:nvPr>
        </p:nvSpPr>
        <p:spPr/>
        <p:txBody>
          <a:bodyPr wrap="square" lIns="91440" tIns="45720" rIns="91440" bIns="45720" anchor="t" anchorCtr="0"/>
          <a:lstStyle/>
          <a:p>
            <a:pPr lvl="0"/>
            <a:r>
              <a:rPr lang="en-US" altLang="zh-CN"/>
              <a:t>(1)</a:t>
            </a:r>
            <a:r>
              <a:rPr lang="zh-CN" altLang="en-US"/>
              <a:t>主存分成</a:t>
            </a:r>
            <a:r>
              <a:rPr lang="en-US" altLang="zh-CN"/>
              <a:t>256</a:t>
            </a:r>
            <a:r>
              <a:rPr lang="zh-CN" altLang="en-US"/>
              <a:t>块，说明一共能存放</a:t>
            </a:r>
            <a:r>
              <a:rPr lang="en-US" altLang="zh-CN"/>
              <a:t>256</a:t>
            </a:r>
            <a:r>
              <a:rPr lang="zh-CN" altLang="en-US"/>
              <a:t>个页面。每块大小为</a:t>
            </a:r>
            <a:r>
              <a:rPr lang="en-US" altLang="zh-CN"/>
              <a:t>4KB</a:t>
            </a:r>
            <a:r>
              <a:rPr lang="zh-CN" altLang="en-US"/>
              <a:t>，说明页内地址所占位数为</a:t>
            </a:r>
            <a:r>
              <a:rPr lang="en-US" altLang="zh-CN"/>
              <a:t>12</a:t>
            </a:r>
            <a:r>
              <a:rPr lang="zh-CN" altLang="en-US"/>
              <a:t>位。而十进制地址</a:t>
            </a:r>
            <a:r>
              <a:rPr lang="en-US" altLang="zh-CN"/>
              <a:t>9016</a:t>
            </a:r>
            <a:r>
              <a:rPr lang="zh-CN" altLang="en-US"/>
              <a:t>可以表示为：</a:t>
            </a:r>
            <a:r>
              <a:rPr lang="en-US" altLang="zh-CN"/>
              <a:t>10001100111000</a:t>
            </a:r>
            <a:r>
              <a:rPr lang="zh-CN" altLang="en-US"/>
              <a:t>，也就是页面号为</a:t>
            </a:r>
            <a:r>
              <a:rPr lang="en-US" altLang="zh-CN"/>
              <a:t>2</a:t>
            </a:r>
            <a:r>
              <a:rPr lang="zh-CN" altLang="en-US"/>
              <a:t>，页内地址为</a:t>
            </a:r>
            <a:r>
              <a:rPr lang="en-US" altLang="zh-CN"/>
              <a:t>001100111000(</a:t>
            </a:r>
            <a:r>
              <a:rPr lang="zh-CN" altLang="en-US"/>
              <a:t>十进制的</a:t>
            </a:r>
            <a:r>
              <a:rPr lang="en-US" altLang="zh-CN"/>
              <a:t>824)</a:t>
            </a:r>
            <a:r>
              <a:rPr lang="zh-CN" altLang="en-US"/>
              <a:t>。从页表可知页面</a:t>
            </a:r>
            <a:r>
              <a:rPr lang="en-US" altLang="zh-CN"/>
              <a:t>2</a:t>
            </a:r>
            <a:r>
              <a:rPr lang="zh-CN" altLang="en-US"/>
              <a:t>存放在物理内存的块</a:t>
            </a:r>
            <a:r>
              <a:rPr lang="en-US" altLang="zh-CN"/>
              <a:t>32</a:t>
            </a:r>
            <a:r>
              <a:rPr lang="zh-CN" altLang="en-US"/>
              <a:t>。因此，最后的物理地址为：</a:t>
            </a:r>
            <a:r>
              <a:rPr lang="en-US" altLang="zh-CN"/>
              <a:t>32×4KB+824=128KB+824</a:t>
            </a:r>
            <a:r>
              <a:rPr lang="zh-CN" altLang="en-US"/>
              <a:t>。</a:t>
            </a:r>
          </a:p>
          <a:p>
            <a:pPr lvl="0"/>
            <a:r>
              <a:rPr lang="en-US" altLang="zh-CN"/>
              <a:t>(2)</a:t>
            </a:r>
            <a:r>
              <a:rPr lang="zh-CN" altLang="en-US"/>
              <a:t>若给定逻辑地址为</a:t>
            </a:r>
            <a:r>
              <a:rPr lang="en-US" altLang="zh-CN"/>
              <a:t>12300</a:t>
            </a:r>
            <a:r>
              <a:rPr lang="zh-CN" altLang="en-US"/>
              <a:t>，按与</a:t>
            </a:r>
            <a:r>
              <a:rPr lang="en-US" altLang="zh-CN"/>
              <a:t>(1)</a:t>
            </a:r>
            <a:r>
              <a:rPr lang="zh-CN" altLang="en-US"/>
              <a:t>中同样的方法处理可得其页号为</a:t>
            </a:r>
            <a:r>
              <a:rPr lang="en-US" altLang="zh-CN"/>
              <a:t>3</a:t>
            </a:r>
            <a:r>
              <a:rPr lang="zh-CN" altLang="en-US"/>
              <a:t>。从页表可知该页未装入主存，因而产生缺页中断。随后中断处理程序将该页装入主存，然后进行地址变换。</a:t>
            </a:r>
          </a:p>
          <a:p>
            <a:pPr lvl="0"/>
            <a:endParaRPr lang="zh-CN" altLang="en-US"/>
          </a:p>
        </p:txBody>
      </p:sp>
      <p:sp>
        <p:nvSpPr>
          <p:cNvPr id="39939"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zh-CN" altLang="en-US">
                <a:latin typeface="Tahoma" panose="020B0604030504040204" pitchFamily="34" charset="0"/>
              </a:rPr>
              <a:t>23</a:t>
            </a:fld>
            <a:endParaRPr lang="zh-CN" altLang="en-US">
              <a:latin typeface="Tahoma" panose="020B060403050404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p:cNvSpPr>
            <a:spLocks noGrp="1" noRot="1" noChangeAspect="1" noTextEdit="1"/>
          </p:cNvSpPr>
          <p:nvPr>
            <p:ph type="sldImg"/>
          </p:nvPr>
        </p:nvSpPr>
        <p:spPr/>
      </p:sp>
      <p:sp>
        <p:nvSpPr>
          <p:cNvPr id="51202" name="备注占位符 2"/>
          <p:cNvSpPr>
            <a:spLocks noGrp="1"/>
          </p:cNvSpPr>
          <p:nvPr>
            <p:ph type="body" idx="1"/>
          </p:nvPr>
        </p:nvSpPr>
        <p:spPr/>
        <p:txBody>
          <a:bodyPr wrap="square" lIns="91440" tIns="45720" rIns="91440" bIns="45720" anchor="t" anchorCtr="0"/>
          <a:lstStyle/>
          <a:p>
            <a:pPr lvl="0"/>
            <a:r>
              <a:rPr lang="zh-CN" altLang="en-US"/>
              <a:t>在具有对换功能的操作系统中，通常把外存分为文件区和对换区。前者用于存放文件，后者用于存放从内存换出的进程。抖动现象是指刚刚被换出的页很快又要被访问，为此又要换出其他页，而该页又很快被访问，如此频繁地置换页面，以致大部分时间都花在页面置换上，引起系统性能下降。撤销部分进程可以减少所要用到的页面数，防止抖动。对换区大小和进程优先级都与抖动无关</a:t>
            </a:r>
          </a:p>
        </p:txBody>
      </p:sp>
      <p:sp>
        <p:nvSpPr>
          <p:cNvPr id="51203"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latin typeface="Tahoma" panose="020B0604030504040204" pitchFamily="34" charset="0"/>
                <a:ea typeface="宋体" panose="02010600030101010101" pitchFamily="2" charset="-122"/>
              </a:rPr>
              <a:t>33</a:t>
            </a:fld>
            <a:endParaRPr lang="zh-CN" altLang="en-US" sz="1200">
              <a:latin typeface="Tahoma" panose="020B060403050404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幻灯片图像占位符 1"/>
          <p:cNvSpPr>
            <a:spLocks noGrp="1" noRot="1" noChangeAspect="1" noTextEdit="1"/>
          </p:cNvSpPr>
          <p:nvPr>
            <p:ph type="sldImg"/>
          </p:nvPr>
        </p:nvSpPr>
        <p:spPr/>
      </p:sp>
      <p:sp>
        <p:nvSpPr>
          <p:cNvPr id="61442" name="备注占位符 2"/>
          <p:cNvSpPr>
            <a:spLocks noGrp="1"/>
          </p:cNvSpPr>
          <p:nvPr>
            <p:ph type="body" idx="1"/>
          </p:nvPr>
        </p:nvSpPr>
        <p:spPr/>
        <p:txBody>
          <a:bodyPr wrap="square" lIns="91440" tIns="45720" rIns="91440" bIns="45720" anchor="t" anchorCtr="0"/>
          <a:lstStyle/>
          <a:p>
            <a:pPr lvl="0"/>
            <a:endParaRPr lang="zh-CN" altLang="en-US"/>
          </a:p>
        </p:txBody>
      </p:sp>
      <p:sp>
        <p:nvSpPr>
          <p:cNvPr id="61443"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latin typeface="Tahoma" panose="020B0604030504040204" pitchFamily="34" charset="0"/>
                <a:ea typeface="宋体" panose="02010600030101010101" pitchFamily="2" charset="-122"/>
              </a:rPr>
              <a:t>44</a:t>
            </a:fld>
            <a:endParaRPr lang="zh-CN" altLang="en-US" sz="1200">
              <a:latin typeface="Tahoma" panose="020B060403050404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幻灯片图像占位符 1"/>
          <p:cNvSpPr>
            <a:spLocks noGrp="1" noRot="1" noChangeAspect="1" noTextEdit="1"/>
          </p:cNvSpPr>
          <p:nvPr>
            <p:ph type="sldImg"/>
          </p:nvPr>
        </p:nvSpPr>
        <p:spPr/>
      </p:sp>
      <p:sp>
        <p:nvSpPr>
          <p:cNvPr id="61442" name="备注占位符 2"/>
          <p:cNvSpPr>
            <a:spLocks noGrp="1"/>
          </p:cNvSpPr>
          <p:nvPr>
            <p:ph type="body" idx="1"/>
          </p:nvPr>
        </p:nvSpPr>
        <p:spPr/>
        <p:txBody>
          <a:bodyPr wrap="square" lIns="91440" tIns="45720" rIns="91440" bIns="45720" anchor="t" anchorCtr="0"/>
          <a:lstStyle/>
          <a:p>
            <a:pPr lvl="0"/>
            <a:endParaRPr lang="zh-CN" altLang="en-US"/>
          </a:p>
        </p:txBody>
      </p:sp>
      <p:sp>
        <p:nvSpPr>
          <p:cNvPr id="61443"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latin typeface="Tahoma" panose="020B0604030504040204" pitchFamily="34" charset="0"/>
                <a:ea typeface="宋体" panose="02010600030101010101" pitchFamily="2" charset="-122"/>
              </a:rPr>
              <a:t>45</a:t>
            </a:fld>
            <a:endParaRPr lang="zh-CN" altLang="en-US" sz="120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493885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76802" name="Line 7"/>
          <p:cNvSpPr/>
          <p:nvPr/>
        </p:nvSpPr>
        <p:spPr>
          <a:xfrm>
            <a:off x="457200" y="2514600"/>
            <a:ext cx="8153400" cy="0"/>
          </a:xfrm>
          <a:prstGeom prst="line">
            <a:avLst/>
          </a:prstGeom>
          <a:ln w="76200" cap="flat" cmpd="sng">
            <a:solidFill>
              <a:srgbClr val="0000FF"/>
            </a:solidFill>
            <a:prstDash val="solid"/>
            <a:headEnd type="none" w="med" len="med"/>
            <a:tailEnd type="none" w="med" len="med"/>
          </a:ln>
        </p:spPr>
      </p:sp>
      <p:pic>
        <p:nvPicPr>
          <p:cNvPr id="76803" name="Picture 8" descr="xidian字2"/>
          <p:cNvPicPr>
            <a:picLocks noChangeAspect="1"/>
          </p:cNvPicPr>
          <p:nvPr/>
        </p:nvPicPr>
        <p:blipFill>
          <a:blip r:embed="rId3"/>
          <a:stretch>
            <a:fillRect/>
          </a:stretch>
        </p:blipFill>
        <p:spPr>
          <a:xfrm>
            <a:off x="6419850" y="6492875"/>
            <a:ext cx="2724150" cy="365125"/>
          </a:xfrm>
          <a:prstGeom prst="rect">
            <a:avLst/>
          </a:prstGeom>
          <a:noFill/>
          <a:ln w="9525">
            <a:noFill/>
          </a:ln>
        </p:spPr>
      </p:pic>
      <p:pic>
        <p:nvPicPr>
          <p:cNvPr id="76804" name="Picture 9" descr="会标2"/>
          <p:cNvPicPr>
            <a:picLocks noChangeAspect="1"/>
          </p:cNvPicPr>
          <p:nvPr/>
        </p:nvPicPr>
        <p:blipFill>
          <a:blip r:embed="rId4"/>
          <a:stretch>
            <a:fillRect/>
          </a:stretch>
        </p:blipFill>
        <p:spPr>
          <a:xfrm>
            <a:off x="0" y="0"/>
            <a:ext cx="825500" cy="762000"/>
          </a:xfrm>
          <a:prstGeom prst="rect">
            <a:avLst/>
          </a:prstGeom>
          <a:noFill/>
          <a:ln w="9525">
            <a:noFill/>
          </a:ln>
        </p:spPr>
      </p:pic>
      <p:pic>
        <p:nvPicPr>
          <p:cNvPr id="76805" name="Picture 10" descr="xidian字2"/>
          <p:cNvPicPr>
            <a:picLocks noChangeAspect="1"/>
          </p:cNvPicPr>
          <p:nvPr userDrawn="1"/>
        </p:nvPicPr>
        <p:blipFill>
          <a:blip r:embed="rId3"/>
          <a:stretch>
            <a:fillRect/>
          </a:stretch>
        </p:blipFill>
        <p:spPr>
          <a:xfrm>
            <a:off x="6419850" y="6492875"/>
            <a:ext cx="2724150" cy="365125"/>
          </a:xfrm>
          <a:prstGeom prst="rect">
            <a:avLst/>
          </a:prstGeom>
          <a:noFill/>
          <a:ln w="9525">
            <a:noFill/>
          </a:ln>
        </p:spPr>
      </p:pic>
      <p:pic>
        <p:nvPicPr>
          <p:cNvPr id="76806" name="Picture 11" descr="会标2"/>
          <p:cNvPicPr>
            <a:picLocks noChangeAspect="1"/>
          </p:cNvPicPr>
          <p:nvPr userDrawn="1"/>
        </p:nvPicPr>
        <p:blipFill>
          <a:blip r:embed="rId4"/>
          <a:stretch>
            <a:fillRect/>
          </a:stretch>
        </p:blipFill>
        <p:spPr>
          <a:xfrm>
            <a:off x="0" y="0"/>
            <a:ext cx="825500" cy="762000"/>
          </a:xfrm>
          <a:prstGeom prst="rect">
            <a:avLst/>
          </a:prstGeom>
          <a:noFill/>
          <a:ln w="9525">
            <a:noFill/>
          </a:ln>
        </p:spPr>
      </p:pic>
      <p:sp>
        <p:nvSpPr>
          <p:cNvPr id="315394" name="Rectangle 2"/>
          <p:cNvSpPr>
            <a:spLocks noGrp="1" noChangeArrowheads="1"/>
          </p:cNvSpPr>
          <p:nvPr>
            <p:ph type="ctrTitle"/>
          </p:nvPr>
        </p:nvSpPr>
        <p:spPr>
          <a:xfrm>
            <a:off x="914400" y="533400"/>
            <a:ext cx="7721600" cy="1905000"/>
          </a:xfrm>
        </p:spPr>
        <p:txBody>
          <a:bodyPr/>
          <a:lstStyle>
            <a:lvl1pPr>
              <a:defRPr/>
            </a:lvl1pPr>
          </a:lstStyle>
          <a:p>
            <a:r>
              <a:rPr lang="zh-CN" altLang="en-US"/>
              <a:t>单击此处编辑母版标题样式</a:t>
            </a:r>
          </a:p>
        </p:txBody>
      </p:sp>
      <p:sp>
        <p:nvSpPr>
          <p:cNvPr id="315395" name="Rectangle 3"/>
          <p:cNvSpPr>
            <a:spLocks noGrp="1" noChangeArrowheads="1"/>
          </p:cNvSpPr>
          <p:nvPr>
            <p:ph type="subTitle" idx="1"/>
          </p:nvPr>
        </p:nvSpPr>
        <p:spPr>
          <a:xfrm>
            <a:off x="914400" y="3028950"/>
            <a:ext cx="6400800" cy="1771650"/>
          </a:xfrm>
        </p:spPr>
        <p:txBody>
          <a:bodyPr/>
          <a:lstStyle>
            <a:lvl1pPr marL="0" indent="0">
              <a:defRPr>
                <a:latin typeface="Arial Black" panose="020B0A04020102020204" pitchFamily="34" charset="0"/>
              </a:defRPr>
            </a:lvl1pPr>
          </a:lstStyle>
          <a:p>
            <a:r>
              <a:rPr lang="zh-CN" altLang="en-US"/>
              <a:t>单击此处编辑母版副标题样式</a:t>
            </a:r>
          </a:p>
        </p:txBody>
      </p:sp>
      <p:sp>
        <p:nvSpPr>
          <p:cNvPr id="17" name="Rectangle 4"/>
          <p:cNvSpPr>
            <a:spLocks noGrp="1" noChangeArrowheads="1"/>
          </p:cNvSpPr>
          <p:nvPr>
            <p:ph type="dt" sz="half" idx="2"/>
          </p:nvPr>
        </p:nvSpPr>
        <p:spPr bwMode="auto">
          <a:xfrm>
            <a:off x="711200" y="6229350"/>
            <a:ext cx="19304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5E574E"/>
              </a:solidFill>
              <a:effectLst/>
              <a:uLnTx/>
              <a:uFillTx/>
              <a:latin typeface="Arial" panose="020B0604020202020204" pitchFamily="34" charset="0"/>
              <a:ea typeface="宋体" panose="02010600030101010101" pitchFamily="2" charset="-122"/>
              <a:cs typeface="+mn-cs"/>
            </a:endParaRPr>
          </a:p>
        </p:txBody>
      </p:sp>
      <p:sp>
        <p:nvSpPr>
          <p:cNvPr id="18" name="Rectangle 5"/>
          <p:cNvSpPr>
            <a:spLocks noGrp="1" noChangeArrowheads="1"/>
          </p:cNvSpPr>
          <p:nvPr>
            <p:ph type="ftr" sz="quarter" idx="3"/>
          </p:nvPr>
        </p:nvSpPr>
        <p:spPr bwMode="auto">
          <a:xfrm>
            <a:off x="3149600" y="6229350"/>
            <a:ext cx="28448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5E574E"/>
              </a:solidFill>
              <a:effectLst/>
              <a:uLnTx/>
              <a:uFillTx/>
              <a:latin typeface="Arial" panose="020B0604020202020204" pitchFamily="34" charset="0"/>
              <a:ea typeface="宋体" panose="02010600030101010101" pitchFamily="2" charset="-122"/>
              <a:cs typeface="+mn-cs"/>
            </a:endParaRPr>
          </a:p>
        </p:txBody>
      </p:sp>
      <p:sp>
        <p:nvSpPr>
          <p:cNvPr id="19" name="Rectangle 6"/>
          <p:cNvSpPr>
            <a:spLocks noGrp="1" noChangeArrowheads="1"/>
          </p:cNvSpPr>
          <p:nvPr>
            <p:ph type="sldNum" sz="quarter" idx="4"/>
          </p:nvPr>
        </p:nvSpPr>
        <p:spPr bwMode="auto">
          <a:xfrm>
            <a:off x="6604000" y="6229350"/>
            <a:ext cx="18288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r" defTabSz="914400" rtl="0" eaLnBrk="0" fontAlgn="base" latinLnBrk="0" hangingPunct="0">
              <a:lnSpc>
                <a:spcPct val="100000"/>
              </a:lnSpc>
              <a:spcBef>
                <a:spcPct val="50000"/>
              </a:spcBef>
              <a:spcAft>
                <a:spcPct val="0"/>
              </a:spcAft>
              <a:buClrTx/>
              <a:buSzTx/>
              <a:buFontTx/>
              <a:buNone/>
              <a:defRPr/>
            </a:pPr>
            <a:fld id="{B5797EFC-400F-2844-A821-18C40A41D09B}" type="slidenum">
              <a:rPr kumimoji="0" lang="zh-CN" altLang="en-US" sz="1400" b="0" i="0" u="none" strike="noStrike" kern="1200" cap="none" spc="0" normalizeH="0" baseline="0" noProof="0">
                <a:ln>
                  <a:noFill/>
                </a:ln>
                <a:solidFill>
                  <a:srgbClr val="5E574E"/>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rgbClr val="5E574E"/>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412875"/>
            <a:ext cx="40132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3913" y="1412875"/>
            <a:ext cx="40132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00FF"/>
              </a:buClr>
              <a:buSzTx/>
              <a:buFont typeface="Monotype Sorts" pitchFamily="2" charset="2"/>
              <a:buNone/>
              <a:defRPr/>
            </a:pPr>
            <a:endParaRPr kumimoji="1"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8125" y="152400"/>
            <a:ext cx="2058988" cy="62293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152400"/>
            <a:ext cx="6029325" cy="62293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6400" y="152400"/>
            <a:ext cx="82042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68313" y="1412875"/>
            <a:ext cx="40132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3913" y="1412875"/>
            <a:ext cx="40132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06400" y="152400"/>
            <a:ext cx="8204200" cy="1143000"/>
          </a:xfrm>
          <a:prstGeom prst="rect">
            <a:avLst/>
          </a:prstGeom>
          <a:noFill/>
          <a:ln w="9525">
            <a:noFill/>
          </a:ln>
        </p:spPr>
        <p:txBody>
          <a:bodyPr anchor="b" anchorCtr="0"/>
          <a:lstStyle/>
          <a:p>
            <a:pPr lvl="0"/>
            <a:r>
              <a:rPr lang="zh-CN" altLang="en-US"/>
              <a:t>单击此处编辑母版标题样式</a:t>
            </a:r>
          </a:p>
        </p:txBody>
      </p:sp>
      <p:sp>
        <p:nvSpPr>
          <p:cNvPr id="1027" name="Rectangle 3"/>
          <p:cNvSpPr>
            <a:spLocks noGrp="1"/>
          </p:cNvSpPr>
          <p:nvPr>
            <p:ph type="body" idx="1"/>
          </p:nvPr>
        </p:nvSpPr>
        <p:spPr>
          <a:xfrm>
            <a:off x="468313" y="1412875"/>
            <a:ext cx="8178800" cy="4968875"/>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14372" name="Rectangle 4"/>
          <p:cNvSpPr>
            <a:spLocks noGrp="1" noChangeArrowheads="1"/>
          </p:cNvSpPr>
          <p:nvPr>
            <p:ph type="dt" sz="half" idx="2"/>
          </p:nvPr>
        </p:nvSpPr>
        <p:spPr bwMode="auto">
          <a:xfrm>
            <a:off x="431800" y="6229350"/>
            <a:ext cx="2311400" cy="457200"/>
          </a:xfrm>
          <a:prstGeom prst="rect">
            <a:avLst/>
          </a:prstGeom>
          <a:noFill/>
          <a:ln w="9525">
            <a:noFill/>
            <a:miter lim="800000"/>
          </a:ln>
        </p:spPr>
        <p:txBody>
          <a:bodyPr vert="horz" wrap="square" lIns="91440" tIns="45720" rIns="91440" bIns="45720" numCol="1" anchor="b" anchorCtr="0" compatLnSpc="1"/>
          <a:lstStyle>
            <a:lvl1pPr>
              <a:spcBef>
                <a:spcPct val="50000"/>
              </a:spcBef>
              <a:defRPr sz="1400">
                <a:solidFill>
                  <a:schemeClr val="bg2"/>
                </a:solidFill>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14373" name="Rectangle 5"/>
          <p:cNvSpPr>
            <a:spLocks noGrp="1" noChangeArrowheads="1"/>
          </p:cNvSpPr>
          <p:nvPr>
            <p:ph type="ftr" sz="quarter" idx="3"/>
          </p:nvPr>
        </p:nvSpPr>
        <p:spPr bwMode="auto">
          <a:xfrm>
            <a:off x="3124200" y="6229350"/>
            <a:ext cx="2895600" cy="457200"/>
          </a:xfrm>
          <a:prstGeom prst="rect">
            <a:avLst/>
          </a:prstGeom>
          <a:noFill/>
          <a:ln w="9525">
            <a:noFill/>
            <a:miter lim="800000"/>
          </a:ln>
        </p:spPr>
        <p:txBody>
          <a:bodyPr vert="horz" wrap="square" lIns="91440" tIns="45720" rIns="91440" bIns="45720" numCol="1" anchor="b" anchorCtr="0" compatLnSpc="1"/>
          <a:lstStyle>
            <a:lvl1pPr algn="ctr">
              <a:spcBef>
                <a:spcPct val="50000"/>
              </a:spcBef>
              <a:defRPr sz="1400">
                <a:solidFill>
                  <a:schemeClr val="bg2"/>
                </a:solidFill>
                <a:latin typeface="Arial" panose="020B0604020202020204" pitchFamily="34" charset="0"/>
                <a:ea typeface="宋体" panose="02010600030101010101" pitchFamily="2" charset="-122"/>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14374" name="Rectangle 6"/>
          <p:cNvSpPr>
            <a:spLocks noGrp="1" noChangeArrowheads="1"/>
          </p:cNvSpPr>
          <p:nvPr>
            <p:ph type="sldNum" sz="quarter" idx="4"/>
          </p:nvPr>
        </p:nvSpPr>
        <p:spPr bwMode="auto">
          <a:xfrm>
            <a:off x="6731000" y="6229350"/>
            <a:ext cx="1905000" cy="457200"/>
          </a:xfrm>
          <a:prstGeom prst="rect">
            <a:avLst/>
          </a:prstGeom>
          <a:noFill/>
          <a:ln w="9525">
            <a:noFill/>
            <a:miter lim="800000"/>
          </a:ln>
        </p:spPr>
        <p:txBody>
          <a:bodyPr vert="horz" wrap="square" lIns="91440" tIns="45720" rIns="91440" bIns="45720" numCol="1" anchor="b" anchorCtr="0" compatLnSpc="1"/>
          <a:lstStyle>
            <a:lvl1pPr algn="r">
              <a:spcBef>
                <a:spcPct val="50000"/>
              </a:spcBef>
              <a:defRPr sz="1400">
                <a:solidFill>
                  <a:schemeClr val="bg2"/>
                </a:solidFill>
                <a:latin typeface="Arial" panose="020B0604020202020204" pitchFamily="34" charset="0"/>
                <a:ea typeface="宋体" panose="02010600030101010101" pitchFamily="2" charset="-122"/>
              </a:defRPr>
            </a:lvl1p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031" name="Line 7"/>
          <p:cNvSpPr/>
          <p:nvPr/>
        </p:nvSpPr>
        <p:spPr>
          <a:xfrm>
            <a:off x="457200" y="1295400"/>
            <a:ext cx="8153400" cy="0"/>
          </a:xfrm>
          <a:prstGeom prst="line">
            <a:avLst/>
          </a:prstGeom>
          <a:ln w="76200" cap="flat" cmpd="sng">
            <a:solidFill>
              <a:srgbClr val="0000FF"/>
            </a:solidFill>
            <a:prstDash val="solid"/>
            <a:headEnd type="none" w="med" len="med"/>
            <a:tailEnd type="none" w="med" len="med"/>
          </a:ln>
        </p:spPr>
      </p:sp>
      <p:pic>
        <p:nvPicPr>
          <p:cNvPr id="1032" name="Picture 8" descr="xidian字2"/>
          <p:cNvPicPr>
            <a:picLocks noChangeAspect="1"/>
          </p:cNvPicPr>
          <p:nvPr/>
        </p:nvPicPr>
        <p:blipFill>
          <a:blip r:embed="rId15"/>
          <a:stretch>
            <a:fillRect/>
          </a:stretch>
        </p:blipFill>
        <p:spPr>
          <a:xfrm>
            <a:off x="6419850" y="6492875"/>
            <a:ext cx="2724150" cy="365125"/>
          </a:xfrm>
          <a:prstGeom prst="rect">
            <a:avLst/>
          </a:prstGeom>
          <a:noFill/>
          <a:ln w="9525">
            <a:noFill/>
          </a:ln>
        </p:spPr>
      </p:pic>
      <p:pic>
        <p:nvPicPr>
          <p:cNvPr id="1033" name="Picture 9" descr="会标2"/>
          <p:cNvPicPr>
            <a:picLocks noChangeAspect="1"/>
          </p:cNvPicPr>
          <p:nvPr/>
        </p:nvPicPr>
        <p:blipFill>
          <a:blip r:embed="rId16"/>
          <a:stretch>
            <a:fillRect/>
          </a:stretch>
        </p:blipFill>
        <p:spPr>
          <a:xfrm>
            <a:off x="0" y="0"/>
            <a:ext cx="825500" cy="762000"/>
          </a:xfrm>
          <a:prstGeom prst="rect">
            <a:avLst/>
          </a:prstGeom>
          <a:noFill/>
          <a:ln w="9525">
            <a:noFill/>
          </a:ln>
        </p:spPr>
      </p:pic>
      <p:pic>
        <p:nvPicPr>
          <p:cNvPr id="1034" name="Picture 10" descr="xidian字2"/>
          <p:cNvPicPr>
            <a:picLocks noChangeAspect="1"/>
          </p:cNvPicPr>
          <p:nvPr userDrawn="1"/>
        </p:nvPicPr>
        <p:blipFill>
          <a:blip r:embed="rId15"/>
          <a:stretch>
            <a:fillRect/>
          </a:stretch>
        </p:blipFill>
        <p:spPr>
          <a:xfrm>
            <a:off x="6419850" y="6492875"/>
            <a:ext cx="2724150" cy="365125"/>
          </a:xfrm>
          <a:prstGeom prst="rect">
            <a:avLst/>
          </a:prstGeom>
          <a:noFill/>
          <a:ln w="9525">
            <a:noFill/>
          </a:ln>
        </p:spPr>
      </p:pic>
      <p:pic>
        <p:nvPicPr>
          <p:cNvPr id="1035" name="Picture 11" descr="会标2"/>
          <p:cNvPicPr>
            <a:picLocks noChangeAspect="1"/>
          </p:cNvPicPr>
          <p:nvPr userDrawn="1"/>
        </p:nvPicPr>
        <p:blipFill>
          <a:blip r:embed="rId16"/>
          <a:stretch>
            <a:fillRect/>
          </a:stretch>
        </p:blipFill>
        <p:spPr>
          <a:xfrm>
            <a:off x="0" y="0"/>
            <a:ext cx="825500" cy="762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anose="020B0A04020102020204" pitchFamily="34" charset="0"/>
        </a:defRPr>
      </a:lvl2pPr>
      <a:lvl3pPr algn="l" rtl="0" eaLnBrk="0" fontAlgn="base" hangingPunct="0">
        <a:spcBef>
          <a:spcPct val="0"/>
        </a:spcBef>
        <a:spcAft>
          <a:spcPct val="0"/>
        </a:spcAft>
        <a:defRPr kumimoji="1" sz="3600">
          <a:solidFill>
            <a:schemeClr val="tx2"/>
          </a:solidFill>
          <a:latin typeface="Arial Black" panose="020B0A04020102020204" pitchFamily="34" charset="0"/>
        </a:defRPr>
      </a:lvl3pPr>
      <a:lvl4pPr algn="l" rtl="0" eaLnBrk="0" fontAlgn="base" hangingPunct="0">
        <a:spcBef>
          <a:spcPct val="0"/>
        </a:spcBef>
        <a:spcAft>
          <a:spcPct val="0"/>
        </a:spcAft>
        <a:defRPr kumimoji="1" sz="3600">
          <a:solidFill>
            <a:schemeClr val="tx2"/>
          </a:solidFill>
          <a:latin typeface="Arial Black" panose="020B0A04020102020204" pitchFamily="34" charset="0"/>
        </a:defRPr>
      </a:lvl4pPr>
      <a:lvl5pPr algn="l" rtl="0" eaLnBrk="0" fontAlgn="base" hangingPunct="0">
        <a:spcBef>
          <a:spcPct val="0"/>
        </a:spcBef>
        <a:spcAft>
          <a:spcPct val="0"/>
        </a:spcAft>
        <a:defRPr kumimoji="1" sz="3600">
          <a:solidFill>
            <a:schemeClr val="tx2"/>
          </a:solidFill>
          <a:latin typeface="Arial Black" panose="020B0A04020102020204" pitchFamily="34" charset="0"/>
        </a:defRPr>
      </a:lvl5pPr>
      <a:lvl6pPr marL="457200" algn="l" rtl="0" eaLnBrk="0" fontAlgn="base" hangingPunct="0">
        <a:spcBef>
          <a:spcPct val="0"/>
        </a:spcBef>
        <a:spcAft>
          <a:spcPct val="0"/>
        </a:spcAft>
        <a:defRPr kumimoji="1" sz="3600">
          <a:solidFill>
            <a:schemeClr val="tx2"/>
          </a:solidFill>
          <a:latin typeface="Arial Black" panose="020B0A04020102020204" pitchFamily="34" charset="0"/>
        </a:defRPr>
      </a:lvl6pPr>
      <a:lvl7pPr marL="914400" algn="l" rtl="0" eaLnBrk="0" fontAlgn="base" hangingPunct="0">
        <a:spcBef>
          <a:spcPct val="0"/>
        </a:spcBef>
        <a:spcAft>
          <a:spcPct val="0"/>
        </a:spcAft>
        <a:defRPr kumimoji="1" sz="3600">
          <a:solidFill>
            <a:schemeClr val="tx2"/>
          </a:solidFill>
          <a:latin typeface="Arial Black" panose="020B0A04020102020204" pitchFamily="34" charset="0"/>
        </a:defRPr>
      </a:lvl7pPr>
      <a:lvl8pPr marL="1371600" algn="l" rtl="0" eaLnBrk="0" fontAlgn="base" hangingPunct="0">
        <a:spcBef>
          <a:spcPct val="0"/>
        </a:spcBef>
        <a:spcAft>
          <a:spcPct val="0"/>
        </a:spcAft>
        <a:defRPr kumimoji="1" sz="3600">
          <a:solidFill>
            <a:schemeClr val="tx2"/>
          </a:solidFill>
          <a:latin typeface="Arial Black" panose="020B0A04020102020204" pitchFamily="34" charset="0"/>
        </a:defRPr>
      </a:lvl8pPr>
      <a:lvl9pPr marL="1828800" algn="l" rtl="0" eaLnBrk="0" fontAlgn="base" hangingPunct="0">
        <a:spcBef>
          <a:spcPct val="0"/>
        </a:spcBef>
        <a:spcAft>
          <a:spcPct val="0"/>
        </a:spcAft>
        <a:defRPr kumimoji="1" sz="3600">
          <a:solidFill>
            <a:schemeClr val="tx2"/>
          </a:solidFill>
          <a:latin typeface="Arial Black" panose="020B0A04020102020204" pitchFamily="34" charset="0"/>
        </a:defRPr>
      </a:lvl9pPr>
    </p:titleStyle>
    <p:body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vl6pPr marL="2514600" indent="-228600" algn="l" rtl="0" eaLnBrk="0" fontAlgn="base" hangingPunct="0">
        <a:spcBef>
          <a:spcPct val="20000"/>
        </a:spcBef>
        <a:spcAft>
          <a:spcPct val="0"/>
        </a:spcAft>
        <a:buClr>
          <a:srgbClr val="0000FF"/>
        </a:buClr>
        <a:defRPr kumimoji="1" sz="2000" b="1">
          <a:solidFill>
            <a:schemeClr val="tx1"/>
          </a:solidFill>
          <a:latin typeface="+mn-lt"/>
          <a:ea typeface="+mn-ea"/>
        </a:defRPr>
      </a:lvl6pPr>
      <a:lvl7pPr marL="2971800" indent="-228600" algn="l" rtl="0" eaLnBrk="0" fontAlgn="base" hangingPunct="0">
        <a:spcBef>
          <a:spcPct val="20000"/>
        </a:spcBef>
        <a:spcAft>
          <a:spcPct val="0"/>
        </a:spcAft>
        <a:buClr>
          <a:srgbClr val="0000FF"/>
        </a:buClr>
        <a:defRPr kumimoji="1" sz="2000" b="1">
          <a:solidFill>
            <a:schemeClr val="tx1"/>
          </a:solidFill>
          <a:latin typeface="+mn-lt"/>
          <a:ea typeface="+mn-ea"/>
        </a:defRPr>
      </a:lvl7pPr>
      <a:lvl8pPr marL="3429000" indent="-228600" algn="l" rtl="0" eaLnBrk="0" fontAlgn="base" hangingPunct="0">
        <a:spcBef>
          <a:spcPct val="20000"/>
        </a:spcBef>
        <a:spcAft>
          <a:spcPct val="0"/>
        </a:spcAft>
        <a:buClr>
          <a:srgbClr val="0000FF"/>
        </a:buClr>
        <a:defRPr kumimoji="1" sz="2000" b="1">
          <a:solidFill>
            <a:schemeClr val="tx1"/>
          </a:solidFill>
          <a:latin typeface="+mn-lt"/>
          <a:ea typeface="+mn-ea"/>
        </a:defRPr>
      </a:lvl8pPr>
      <a:lvl9pPr marL="3886200" indent="-228600" algn="l" rtl="0" eaLnBrk="0" fontAlgn="base" hangingPunct="0">
        <a:spcBef>
          <a:spcPct val="20000"/>
        </a:spcBef>
        <a:spcAft>
          <a:spcPct val="0"/>
        </a:spcAft>
        <a:buClr>
          <a:srgbClr val="0000FF"/>
        </a:buCl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image" Target="../media/image8.pn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slideLayout" Target="../slideLayouts/slideLayout7.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22.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tags" Target="../tags/tag35.xml"/><Relationship Id="rId3" Type="http://schemas.openxmlformats.org/officeDocument/2006/relationships/tags" Target="../tags/tag20.xml"/><Relationship Id="rId21" Type="http://schemas.openxmlformats.org/officeDocument/2006/relationships/image" Target="../media/image8.png"/><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slideLayout" Target="../slideLayouts/slideLayout7.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tags" Target="../tags/tag36.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tags" Target="../tags/tag50.xml"/><Relationship Id="rId18" Type="http://schemas.openxmlformats.org/officeDocument/2006/relationships/image" Target="../media/image10.png"/><Relationship Id="rId3" Type="http://schemas.openxmlformats.org/officeDocument/2006/relationships/tags" Target="../tags/tag40.xml"/><Relationship Id="rId7" Type="http://schemas.openxmlformats.org/officeDocument/2006/relationships/tags" Target="../tags/tag44.xml"/><Relationship Id="rId12" Type="http://schemas.openxmlformats.org/officeDocument/2006/relationships/tags" Target="../tags/tag49.xml"/><Relationship Id="rId17" Type="http://schemas.openxmlformats.org/officeDocument/2006/relationships/slideLayout" Target="../slideLayouts/slideLayout7.xml"/><Relationship Id="rId2" Type="http://schemas.openxmlformats.org/officeDocument/2006/relationships/tags" Target="../tags/tag39.xml"/><Relationship Id="rId16" Type="http://schemas.openxmlformats.org/officeDocument/2006/relationships/tags" Target="../tags/tag53.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5" Type="http://schemas.openxmlformats.org/officeDocument/2006/relationships/tags" Target="../tags/tag52.xml"/><Relationship Id="rId10" Type="http://schemas.openxmlformats.org/officeDocument/2006/relationships/tags" Target="../tags/tag47.xml"/><Relationship Id="rId19" Type="http://schemas.openxmlformats.org/officeDocument/2006/relationships/image" Target="../media/image8.png"/><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tags" Target="../tags/tag51.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18" Type="http://schemas.openxmlformats.org/officeDocument/2006/relationships/image" Target="../media/image8.png"/><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slideLayout" Target="../slideLayouts/slideLayout7.xml"/><Relationship Id="rId2" Type="http://schemas.openxmlformats.org/officeDocument/2006/relationships/tags" Target="../tags/tag55.xml"/><Relationship Id="rId16" Type="http://schemas.openxmlformats.org/officeDocument/2006/relationships/tags" Target="../tags/tag69.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5" Type="http://schemas.openxmlformats.org/officeDocument/2006/relationships/tags" Target="../tags/tag58.xml"/><Relationship Id="rId15" Type="http://schemas.openxmlformats.org/officeDocument/2006/relationships/tags" Target="../tags/tag68.xml"/><Relationship Id="rId10" Type="http://schemas.openxmlformats.org/officeDocument/2006/relationships/tags" Target="../tags/tag63.xml"/><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18" Type="http://schemas.openxmlformats.org/officeDocument/2006/relationships/image" Target="../media/image17.png"/><Relationship Id="rId3" Type="http://schemas.openxmlformats.org/officeDocument/2006/relationships/tags" Target="../tags/tag72.xml"/><Relationship Id="rId21" Type="http://schemas.openxmlformats.org/officeDocument/2006/relationships/image" Target="../media/image8.png"/><Relationship Id="rId7" Type="http://schemas.openxmlformats.org/officeDocument/2006/relationships/tags" Target="../tags/tag76.xml"/><Relationship Id="rId12" Type="http://schemas.openxmlformats.org/officeDocument/2006/relationships/tags" Target="../tags/tag81.xml"/><Relationship Id="rId17" Type="http://schemas.openxmlformats.org/officeDocument/2006/relationships/image" Target="../media/image16.png"/><Relationship Id="rId2" Type="http://schemas.openxmlformats.org/officeDocument/2006/relationships/tags" Target="../tags/tag71.xml"/><Relationship Id="rId16" Type="http://schemas.openxmlformats.org/officeDocument/2006/relationships/slideLayout" Target="../slideLayouts/slideLayout7.xml"/><Relationship Id="rId20" Type="http://schemas.openxmlformats.org/officeDocument/2006/relationships/image" Target="../media/image19.png"/><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5" Type="http://schemas.openxmlformats.org/officeDocument/2006/relationships/tags" Target="../tags/tag74.xml"/><Relationship Id="rId15" Type="http://schemas.openxmlformats.org/officeDocument/2006/relationships/tags" Target="../tags/tag84.xml"/><Relationship Id="rId10" Type="http://schemas.openxmlformats.org/officeDocument/2006/relationships/tags" Target="../tags/tag79.xml"/><Relationship Id="rId19" Type="http://schemas.openxmlformats.org/officeDocument/2006/relationships/image" Target="../media/image18.png"/><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tags" Target="../tags/tag83.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tags" Target="../tags/tag92.xml"/><Relationship Id="rId13" Type="http://schemas.openxmlformats.org/officeDocument/2006/relationships/tags" Target="../tags/tag97.xml"/><Relationship Id="rId18" Type="http://schemas.openxmlformats.org/officeDocument/2006/relationships/image" Target="../media/image8.png"/><Relationship Id="rId3" Type="http://schemas.openxmlformats.org/officeDocument/2006/relationships/tags" Target="../tags/tag87.xml"/><Relationship Id="rId7" Type="http://schemas.openxmlformats.org/officeDocument/2006/relationships/tags" Target="../tags/tag91.xml"/><Relationship Id="rId12" Type="http://schemas.openxmlformats.org/officeDocument/2006/relationships/tags" Target="../tags/tag96.xml"/><Relationship Id="rId17" Type="http://schemas.openxmlformats.org/officeDocument/2006/relationships/image" Target="../media/image23.png"/><Relationship Id="rId2" Type="http://schemas.openxmlformats.org/officeDocument/2006/relationships/tags" Target="../tags/tag86.xml"/><Relationship Id="rId16" Type="http://schemas.openxmlformats.org/officeDocument/2006/relationships/slideLayout" Target="../slideLayouts/slideLayout7.xml"/><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tags" Target="../tags/tag95.xml"/><Relationship Id="rId5" Type="http://schemas.openxmlformats.org/officeDocument/2006/relationships/tags" Target="../tags/tag89.xml"/><Relationship Id="rId15" Type="http://schemas.openxmlformats.org/officeDocument/2006/relationships/tags" Target="../tags/tag99.xml"/><Relationship Id="rId10" Type="http://schemas.openxmlformats.org/officeDocument/2006/relationships/tags" Target="../tags/tag94.xml"/><Relationship Id="rId4" Type="http://schemas.openxmlformats.org/officeDocument/2006/relationships/tags" Target="../tags/tag88.xml"/><Relationship Id="rId9" Type="http://schemas.openxmlformats.org/officeDocument/2006/relationships/tags" Target="../tags/tag93.xml"/><Relationship Id="rId14" Type="http://schemas.openxmlformats.org/officeDocument/2006/relationships/tags" Target="../tags/tag9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p:txBody>
          <a:bodyPr vert="horz" wrap="square" lIns="91440" tIns="45720" rIns="91440" bIns="45720" anchor="b" anchorCtr="0"/>
          <a:lstStyle/>
          <a:p>
            <a:r>
              <a:rPr lang="en-US" altLang="zh-CN">
                <a:ea typeface="宋体" panose="02010600030101010101" pitchFamily="2" charset="-122"/>
              </a:rPr>
              <a:t>《</a:t>
            </a:r>
            <a:r>
              <a:rPr lang="zh-CN" altLang="en-US">
                <a:ea typeface="宋体" panose="02010600030101010101" pitchFamily="2" charset="-122"/>
              </a:rPr>
              <a:t>操作系统</a:t>
            </a:r>
            <a:r>
              <a:rPr lang="en-US" altLang="zh-CN">
                <a:ea typeface="宋体" panose="02010600030101010101" pitchFamily="2" charset="-122"/>
              </a:rPr>
              <a:t>》</a:t>
            </a:r>
            <a:endParaRPr lang="zh-CN" altLang="en-US">
              <a:ea typeface="宋体" panose="02010600030101010101" pitchFamily="2" charset="-122"/>
            </a:endParaRPr>
          </a:p>
        </p:txBody>
      </p:sp>
      <p:sp>
        <p:nvSpPr>
          <p:cNvPr id="16386" name="Rectangle 3"/>
          <p:cNvSpPr>
            <a:spLocks noGrp="1"/>
          </p:cNvSpPr>
          <p:nvPr>
            <p:ph idx="1"/>
          </p:nvPr>
        </p:nvSpPr>
        <p:spPr>
          <a:xfrm>
            <a:off x="406400" y="1273175"/>
            <a:ext cx="8178800" cy="1658938"/>
          </a:xfrm>
        </p:spPr>
        <p:txBody>
          <a:bodyPr vert="horz" wrap="square" lIns="91440" tIns="45720" rIns="91440" bIns="45720" anchor="t" anchorCtr="0"/>
          <a:lstStyle/>
          <a:p>
            <a:pPr algn="ctr">
              <a:buNone/>
            </a:pPr>
            <a:endParaRPr lang="zh-CN" altLang="en-US" sz="3600">
              <a:ea typeface="宋体" panose="02010600030101010101" pitchFamily="2" charset="-122"/>
            </a:endParaRPr>
          </a:p>
          <a:p>
            <a:pPr algn="ctr">
              <a:buNone/>
            </a:pPr>
            <a:r>
              <a:rPr lang="zh-CN" altLang="en-US" sz="4000">
                <a:solidFill>
                  <a:srgbClr val="FF0000"/>
                </a:solidFill>
                <a:ea typeface="华文行楷" panose="02010800040101010101" pitchFamily="2" charset="-122"/>
              </a:rPr>
              <a:t>第五章  存储管理</a:t>
            </a:r>
          </a:p>
          <a:p>
            <a:pPr algn="ctr">
              <a:buNone/>
            </a:pPr>
            <a:endParaRPr lang="zh-CN" altLang="en-US" sz="4000">
              <a:solidFill>
                <a:srgbClr val="FF0000"/>
              </a:solidFill>
              <a:ea typeface="华文行楷" panose="02010800040101010101" pitchFamily="2" charset="-122"/>
            </a:endParaRPr>
          </a:p>
          <a:p>
            <a:pPr algn="ctr">
              <a:buNone/>
            </a:pPr>
            <a:endParaRPr lang="zh-CN" altLang="en-US" sz="3600">
              <a:ea typeface="宋体" panose="02010600030101010101" pitchFamily="2" charset="-122"/>
            </a:endParaRPr>
          </a:p>
          <a:p>
            <a:pPr algn="ctr">
              <a:buNone/>
            </a:pPr>
            <a:endParaRPr lang="en-US" altLang="zh-CN" b="0">
              <a:solidFill>
                <a:srgbClr val="9933FF"/>
              </a:solidFill>
              <a:latin typeface="华文行楷" panose="02010800040101010101" pitchFamily="2" charset="-122"/>
              <a:ea typeface="华文行楷" panose="02010800040101010101" pitchFamily="2" charset="-122"/>
            </a:endParaRPr>
          </a:p>
        </p:txBody>
      </p:sp>
      <p:sp>
        <p:nvSpPr>
          <p:cNvPr id="6" name="Text Box 19"/>
          <p:cNvSpPr txBox="1">
            <a:spLocks noChangeArrowheads="1"/>
          </p:cNvSpPr>
          <p:nvPr/>
        </p:nvSpPr>
        <p:spPr bwMode="auto">
          <a:xfrm>
            <a:off x="4859338" y="5013325"/>
            <a:ext cx="3105150" cy="614363"/>
          </a:xfrm>
          <a:prstGeom prst="rect">
            <a:avLst/>
          </a:prstGeom>
          <a:noFill/>
          <a:ln>
            <a:noFill/>
          </a:ln>
          <a:effectLst>
            <a:outerShdw blurRad="63500" dist="37026" dir="19001120" algn="ctr" rotWithShape="0">
              <a:schemeClr val="bg2">
                <a:alpha val="75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defTabSz="914400">
              <a:spcBef>
                <a:spcPct val="0"/>
              </a:spcBef>
              <a:buClrTx/>
              <a:buFontTx/>
              <a:buNone/>
              <a:tabLst>
                <a:tab pos="279400" algn="l"/>
                <a:tab pos="558800" algn="l"/>
                <a:tab pos="838200" algn="l"/>
                <a:tab pos="1117600" algn="l"/>
                <a:tab pos="1384300" algn="l"/>
                <a:tab pos="1663700" algn="l"/>
                <a:tab pos="1943100" algn="l"/>
                <a:tab pos="2222500" algn="l"/>
                <a:tab pos="2501900" algn="l"/>
                <a:tab pos="2781300" algn="l"/>
                <a:tab pos="3060700" algn="l"/>
                <a:tab pos="3340100" algn="l"/>
              </a:tabLst>
            </a:pPr>
            <a:r>
              <a:rPr lang="zh-CN" altLang="en-US" sz="4000">
                <a:solidFill>
                  <a:srgbClr val="0000FF"/>
                </a:solidFill>
                <a:effectLst>
                  <a:outerShdw blurRad="38100" dist="38100" dir="2700000">
                    <a:srgbClr val="000000"/>
                  </a:outerShdw>
                </a:effectLst>
                <a:ea typeface="隶书" panose="02010509060101010101" pitchFamily="49" charset="-122"/>
              </a:rPr>
              <a:t>教师：李晓</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2</a:t>
            </a:fld>
            <a:endParaRPr lang="zh-CN" altLang="en-US" sz="1400" b="0">
              <a:latin typeface="Tahoma" panose="020B0604030504040204" pitchFamily="34" charset="0"/>
              <a:ea typeface="宋体" panose="02010600030101010101" pitchFamily="2" charset="-122"/>
            </a:endParaRPr>
          </a:p>
        </p:txBody>
      </p:sp>
      <p:sp>
        <p:nvSpPr>
          <p:cNvPr id="18434" name="Rectangle 2"/>
          <p:cNvSpPr>
            <a:spLocks noGrp="1"/>
          </p:cNvSpPr>
          <p:nvPr>
            <p:ph type="title"/>
          </p:nvPr>
        </p:nvSpPr>
        <p:spPr/>
        <p:txBody>
          <a:bodyPr vert="horz" wrap="square" lIns="91440" tIns="45720" rIns="91440" bIns="45720" anchor="b" anchorCtr="0"/>
          <a:lstStyle/>
          <a:p>
            <a:pPr eaLnBrk="1" hangingPunct="1"/>
            <a:r>
              <a:rPr lang="zh-CN" altLang="en-US"/>
              <a:t>5 存储管理</a:t>
            </a:r>
          </a:p>
        </p:txBody>
      </p:sp>
      <p:sp>
        <p:nvSpPr>
          <p:cNvPr id="18435" name="内容占位符 4"/>
          <p:cNvSpPr>
            <a:spLocks noGrp="1" noChangeArrowheads="1"/>
          </p:cNvSpPr>
          <p:nvPr>
            <p:ph idx="1"/>
          </p:nvPr>
        </p:nvSpPr>
        <p:spPr/>
        <p:txBody>
          <a:bodyPr vert="horz" wrap="square" lIns="91440" tIns="45720" rIns="91440" bIns="45720" numCol="1" anchor="t" anchorCtr="0" compatLnSpc="1"/>
          <a:lstStyle/>
          <a:p>
            <a:pPr marL="0" indent="0">
              <a:buNone/>
            </a:pPr>
            <a:r>
              <a:rPr lang="zh-CN" altLang="en-US" b="0">
                <a:latin typeface="times"/>
              </a:rPr>
              <a:t>5.</a:t>
            </a:r>
            <a:r>
              <a:rPr lang="en-US" altLang="zh-CN" b="0">
                <a:latin typeface="times"/>
              </a:rPr>
              <a:t>7</a:t>
            </a:r>
            <a:r>
              <a:rPr lang="zh-CN" altLang="en-US" b="0">
                <a:latin typeface="times"/>
              </a:rPr>
              <a:t> 内存扩充技术</a:t>
            </a:r>
            <a:endParaRPr lang="en-US" altLang="zh-CN" b="0">
              <a:latin typeface="times"/>
            </a:endParaRPr>
          </a:p>
          <a:p>
            <a:pPr marL="0" indent="0">
              <a:buNone/>
            </a:pPr>
            <a:r>
              <a:rPr lang="zh-CN" altLang="en-US" b="0">
                <a:latin typeface="times"/>
              </a:rPr>
              <a:t>（交换，覆盖，</a:t>
            </a:r>
            <a:r>
              <a:rPr lang="zh-CN" altLang="en-US" b="0"/>
              <a:t>虚拟存储技术</a:t>
            </a:r>
            <a:r>
              <a:rPr lang="zh-CN" altLang="en-US" b="0">
                <a:latin typeface="times"/>
              </a:rPr>
              <a:t>）</a:t>
            </a:r>
            <a:endParaRPr lang="en-US" altLang="zh-CN" b="0"/>
          </a:p>
          <a:p>
            <a:pPr marL="0" indent="0">
              <a:buNone/>
            </a:pPr>
            <a:r>
              <a:rPr lang="en-US" altLang="zh-CN" b="0"/>
              <a:t>5.8</a:t>
            </a:r>
            <a:r>
              <a:rPr lang="zh-CN" altLang="en-US" b="0"/>
              <a:t>虚拟页式存储</a:t>
            </a:r>
            <a:endParaRPr lang="en-US" altLang="zh-CN" b="0"/>
          </a:p>
          <a:p>
            <a:pPr marL="0" indent="0">
              <a:buNone/>
            </a:pPr>
            <a:r>
              <a:rPr lang="en-US" altLang="zh-CN" b="0"/>
              <a:t>5.8.1</a:t>
            </a:r>
            <a:r>
              <a:rPr lang="zh-CN" altLang="en-US" b="0"/>
              <a:t>工作集，缺页率</a:t>
            </a:r>
            <a:endParaRPr lang="en-US" altLang="zh-CN" b="0"/>
          </a:p>
          <a:p>
            <a:pPr marL="0" indent="0">
              <a:buNone/>
            </a:pPr>
            <a:r>
              <a:rPr lang="en-US" altLang="zh-CN" b="0"/>
              <a:t>5.8.2</a:t>
            </a:r>
            <a:r>
              <a:rPr lang="zh-CN" altLang="en-US" b="0"/>
              <a:t>虚拟页式存储过程</a:t>
            </a:r>
            <a:endParaRPr lang="en-US" altLang="zh-CN" b="0"/>
          </a:p>
          <a:p>
            <a:pPr marL="0" indent="0">
              <a:buNone/>
            </a:pPr>
            <a:r>
              <a:rPr lang="en-US" altLang="zh-CN" b="0"/>
              <a:t>5.8.3</a:t>
            </a:r>
            <a:r>
              <a:rPr lang="zh-CN" altLang="en-US" b="0"/>
              <a:t>页面调入策略</a:t>
            </a:r>
            <a:endParaRPr lang="en-US" altLang="zh-CN" b="0"/>
          </a:p>
          <a:p>
            <a:pPr marL="0" indent="0">
              <a:buNone/>
            </a:pPr>
            <a:r>
              <a:rPr lang="en-US" altLang="zh-CN" b="0"/>
              <a:t>5.8.4</a:t>
            </a:r>
            <a:r>
              <a:rPr lang="zh-CN" altLang="en-US" b="0"/>
              <a:t>页面置换算法</a:t>
            </a:r>
            <a:endParaRPr lang="en-US" altLang="zh-CN" b="0"/>
          </a:p>
          <a:p>
            <a:pPr marL="0" indent="0">
              <a:buNone/>
            </a:pPr>
            <a:r>
              <a:rPr lang="en-US" altLang="zh-CN" b="0"/>
              <a:t>5.9</a:t>
            </a:r>
            <a:r>
              <a:rPr lang="zh-CN" altLang="en-US" b="0"/>
              <a:t>虚拟段式存储</a:t>
            </a:r>
            <a:endParaRPr lang="en-US" altLang="zh-CN" b="0"/>
          </a:p>
          <a:p>
            <a:pPr marL="0" indent="0">
              <a:buNone/>
            </a:pPr>
            <a:r>
              <a:rPr lang="en-US" altLang="zh-CN" b="0"/>
              <a:t>5.10</a:t>
            </a:r>
            <a:r>
              <a:rPr lang="zh-CN" altLang="en-US" b="0"/>
              <a:t>虚拟段页式存储</a:t>
            </a:r>
            <a:endParaRPr lang="en-US" altLang="zh-CN" b="0"/>
          </a:p>
          <a:p>
            <a:pPr marL="0" indent="0">
              <a:buNone/>
            </a:pPr>
            <a:endParaRPr lang="en-US" altLang="zh-CN"/>
          </a:p>
          <a:p>
            <a:pPr marL="0" indent="0"/>
            <a:endParaRPr lang="en-US" altLang="zh-CN"/>
          </a:p>
          <a:p>
            <a:pPr marL="0" indent="0"/>
            <a:endParaRPr lang="en-US" altLang="zh-CN"/>
          </a:p>
          <a:p>
            <a:pPr marL="0" indent="0"/>
            <a:endParaRPr lang="en-US" altLang="zh-CN"/>
          </a:p>
          <a:p>
            <a:pPr marL="0" indent="0"/>
            <a:endParaRPr lang="en-US" altLang="zh-CN"/>
          </a:p>
          <a:p>
            <a:pPr marL="0" indent="0"/>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3</a:t>
            </a:fld>
            <a:endParaRPr lang="zh-CN" altLang="en-US" sz="1400" b="0">
              <a:latin typeface="Tahoma" panose="020B0604030504040204" pitchFamily="34" charset="0"/>
              <a:ea typeface="宋体" panose="02010600030101010101" pitchFamily="2" charset="-122"/>
            </a:endParaRPr>
          </a:p>
        </p:txBody>
      </p:sp>
      <p:sp>
        <p:nvSpPr>
          <p:cNvPr id="19458"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a:t>
            </a:r>
            <a:r>
              <a:rPr lang="zh-CN" altLang="en-US"/>
              <a:t> 内存扩充技术</a:t>
            </a:r>
          </a:p>
        </p:txBody>
      </p:sp>
      <p:sp>
        <p:nvSpPr>
          <p:cNvPr id="101380" name="Rectangle 3"/>
          <p:cNvSpPr>
            <a:spLocks noGrp="1"/>
          </p:cNvSpPr>
          <p:nvPr>
            <p:ph idx="1"/>
          </p:nvPr>
        </p:nvSpPr>
        <p:spPr>
          <a:xfrm>
            <a:off x="493713" y="1512888"/>
            <a:ext cx="8628062" cy="1511300"/>
          </a:xfrm>
        </p:spPr>
        <p:txBody>
          <a:bodyPr vert="horz" wrap="square" lIns="91440" tIns="45720" rIns="91440" bIns="45720" anchor="t" anchorCtr="0"/>
          <a:lstStyle/>
          <a:p>
            <a:pPr eaLnBrk="1" hangingPunct="1">
              <a:lnSpc>
                <a:spcPct val="90000"/>
              </a:lnSpc>
              <a:buNone/>
            </a:pPr>
            <a:r>
              <a:rPr lang="zh-CN" altLang="en-US" sz="2400" b="0">
                <a:latin typeface="times"/>
              </a:rPr>
              <a:t>内存扩充技术的引入</a:t>
            </a:r>
            <a:endParaRPr lang="en-US" altLang="zh-CN" sz="2400" b="0">
              <a:latin typeface="times"/>
            </a:endParaRPr>
          </a:p>
          <a:p>
            <a:pPr eaLnBrk="1" hangingPunct="1">
              <a:lnSpc>
                <a:spcPct val="90000"/>
              </a:lnSpc>
              <a:buFont typeface="Wingdings" panose="05000000000000000000" pitchFamily="2" charset="2"/>
              <a:buNone/>
            </a:pPr>
            <a:r>
              <a:rPr lang="zh-CN" altLang="en-US" sz="2400" b="0"/>
              <a:t>    在多道程序设计环境下，为了解决并发作业的程序地址空间总和大于内存可用空间而无法运行的问题，引入内存扩充。即借助大容量的辅存在逻辑上实现内存的扩充，来解决内存容量不足的问题。</a:t>
            </a:r>
          </a:p>
        </p:txBody>
      </p:sp>
      <p:pic>
        <p:nvPicPr>
          <p:cNvPr id="19460" name="图片 1"/>
          <p:cNvPicPr>
            <a:picLocks noChangeAspect="1"/>
          </p:cNvPicPr>
          <p:nvPr/>
        </p:nvPicPr>
        <p:blipFill>
          <a:blip r:embed="rId2"/>
          <a:stretch>
            <a:fillRect/>
          </a:stretch>
        </p:blipFill>
        <p:spPr>
          <a:xfrm>
            <a:off x="1763713" y="3533775"/>
            <a:ext cx="4581525" cy="292417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380">
                                            <p:txEl>
                                              <p:pRg st="0" end="0"/>
                                            </p:txEl>
                                          </p:spTgt>
                                        </p:tgtEl>
                                        <p:attrNameLst>
                                          <p:attrName>style.visibility</p:attrName>
                                        </p:attrNameLst>
                                      </p:cBhvr>
                                      <p:to>
                                        <p:strVal val="visible"/>
                                      </p:to>
                                    </p:set>
                                    <p:animEffect transition="in" filter="fade">
                                      <p:cBhvr>
                                        <p:cTn id="7" dur="500"/>
                                        <p:tgtEl>
                                          <p:spTgt spid="1013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1380">
                                            <p:txEl>
                                              <p:pRg st="1" end="1"/>
                                            </p:txEl>
                                          </p:spTgt>
                                        </p:tgtEl>
                                        <p:attrNameLst>
                                          <p:attrName>style.visibility</p:attrName>
                                        </p:attrNameLst>
                                      </p:cBhvr>
                                      <p:to>
                                        <p:strVal val="visible"/>
                                      </p:to>
                                    </p:set>
                                    <p:animEffect transition="in" filter="fade">
                                      <p:cBhvr>
                                        <p:cTn id="12" dur="500"/>
                                        <p:tgtEl>
                                          <p:spTgt spid="10138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4</a:t>
            </a:fld>
            <a:endParaRPr lang="zh-CN" altLang="en-US" sz="1400" b="0">
              <a:latin typeface="Tahoma" panose="020B0604030504040204" pitchFamily="34" charset="0"/>
              <a:ea typeface="宋体" panose="02010600030101010101" pitchFamily="2" charset="-122"/>
            </a:endParaRPr>
          </a:p>
        </p:txBody>
      </p:sp>
      <p:sp>
        <p:nvSpPr>
          <p:cNvPr id="20482"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a:t>
            </a:r>
            <a:r>
              <a:rPr lang="zh-CN" altLang="en-US"/>
              <a:t> 内存扩充技术</a:t>
            </a:r>
          </a:p>
        </p:txBody>
      </p:sp>
      <p:sp>
        <p:nvSpPr>
          <p:cNvPr id="20483" name="Rectangle 3"/>
          <p:cNvSpPr>
            <a:spLocks noGrp="1"/>
          </p:cNvSpPr>
          <p:nvPr>
            <p:ph idx="1"/>
          </p:nvPr>
        </p:nvSpPr>
        <p:spPr/>
        <p:txBody>
          <a:bodyPr vert="horz" wrap="square" lIns="91440" tIns="45720" rIns="91440" bIns="45720" anchor="t" anchorCtr="0"/>
          <a:lstStyle/>
          <a:p>
            <a:pPr eaLnBrk="1" hangingPunct="1">
              <a:lnSpc>
                <a:spcPct val="90000"/>
              </a:lnSpc>
              <a:buFont typeface="Wingdings" panose="05000000000000000000" pitchFamily="2" charset="2"/>
              <a:buNone/>
            </a:pPr>
            <a:r>
              <a:rPr lang="zh-CN" altLang="en-US" sz="2400" b="0">
                <a:latin typeface="times"/>
              </a:rPr>
              <a:t>内存扩充技术</a:t>
            </a:r>
            <a:endParaRPr lang="en-US" altLang="zh-CN" sz="2400" b="0">
              <a:latin typeface="times"/>
            </a:endParaRPr>
          </a:p>
          <a:p>
            <a:pPr eaLnBrk="1" hangingPunct="1">
              <a:lnSpc>
                <a:spcPct val="90000"/>
              </a:lnSpc>
              <a:buFont typeface="Wingdings" panose="05000000000000000000" pitchFamily="2" charset="2"/>
              <a:buNone/>
            </a:pPr>
            <a:r>
              <a:rPr lang="zh-CN" altLang="en-US" sz="2400" b="0">
                <a:latin typeface="times"/>
              </a:rPr>
              <a:t>     内存紧缩技术（可变分区）</a:t>
            </a:r>
            <a:br>
              <a:rPr lang="zh-CN" altLang="en-US" sz="2400" b="0">
                <a:latin typeface="times"/>
              </a:rPr>
            </a:br>
            <a:r>
              <a:rPr lang="zh-CN" altLang="en-US" sz="2400" b="0">
                <a:latin typeface="times"/>
              </a:rPr>
              <a:t> 覆盖技术 </a:t>
            </a:r>
            <a:r>
              <a:rPr lang="en-US" altLang="zh-CN" sz="2400" b="0">
                <a:latin typeface="times"/>
              </a:rPr>
              <a:t>overlaying</a:t>
            </a:r>
            <a:br>
              <a:rPr lang="en-US" altLang="zh-CN" sz="2400" b="0">
                <a:latin typeface="times"/>
              </a:rPr>
            </a:br>
            <a:r>
              <a:rPr lang="en-US" altLang="zh-CN" sz="2400" b="0">
                <a:latin typeface="times"/>
              </a:rPr>
              <a:t> </a:t>
            </a:r>
            <a:r>
              <a:rPr lang="zh-CN" altLang="en-US" sz="2400" b="0">
                <a:latin typeface="times"/>
              </a:rPr>
              <a:t>交换技术 </a:t>
            </a:r>
            <a:r>
              <a:rPr lang="en-US" altLang="zh-CN" sz="2400" b="0">
                <a:latin typeface="times"/>
              </a:rPr>
              <a:t>swapping</a:t>
            </a:r>
            <a:br>
              <a:rPr lang="en-US" altLang="zh-CN" sz="2400" b="0">
                <a:latin typeface="times"/>
              </a:rPr>
            </a:br>
            <a:r>
              <a:rPr lang="en-US" altLang="zh-CN" sz="2400" b="0">
                <a:latin typeface="times"/>
              </a:rPr>
              <a:t> </a:t>
            </a:r>
            <a:r>
              <a:rPr lang="zh-CN" altLang="en-US" sz="2400" b="0">
                <a:latin typeface="times"/>
              </a:rPr>
              <a:t>虚拟存储技术 </a:t>
            </a:r>
            <a:r>
              <a:rPr lang="en-US" altLang="zh-CN" sz="2400" b="0">
                <a:latin typeface="times"/>
              </a:rPr>
              <a:t>virtual memory</a:t>
            </a:r>
          </a:p>
          <a:p>
            <a:pPr eaLnBrk="1" hangingPunct="1">
              <a:lnSpc>
                <a:spcPct val="90000"/>
              </a:lnSpc>
              <a:buFont typeface="Wingdings" panose="05000000000000000000" pitchFamily="2" charset="2"/>
              <a:buNone/>
            </a:pPr>
            <a:r>
              <a:rPr lang="zh-CN" altLang="en-US" sz="2400" b="0">
                <a:latin typeface="times"/>
              </a:rPr>
              <a:t>覆盖技术主要用于早期的操作系统。</a:t>
            </a:r>
            <a:endParaRPr lang="en-US" altLang="zh-CN" sz="2400" b="0">
              <a:latin typeface="times"/>
            </a:endParaRPr>
          </a:p>
          <a:p>
            <a:pPr eaLnBrk="1" hangingPunct="1">
              <a:lnSpc>
                <a:spcPct val="90000"/>
              </a:lnSpc>
              <a:buFont typeface="Wingdings" panose="05000000000000000000" pitchFamily="2" charset="2"/>
              <a:buNone/>
            </a:pPr>
            <a:r>
              <a:rPr lang="zh-CN" altLang="en-US" sz="2400" b="0">
                <a:latin typeface="times"/>
              </a:rPr>
              <a:t>交换技术广泛用于小型分时系统中，其发展导致了虚拟技术的出现。两者共同之处都是程序和数据主要放在外存，当前需要执行的部分放在内存，内外存之间进行信息交换，不同之处在于如何交换信息。</a:t>
            </a:r>
            <a:endParaRPr lang="en-US" altLang="zh-CN" sz="2400" b="0">
              <a:latin typeface="times"/>
            </a:endParaRPr>
          </a:p>
          <a:p>
            <a:pPr eaLnBrk="1" hangingPunct="1">
              <a:lnSpc>
                <a:spcPct val="90000"/>
              </a:lnSpc>
              <a:buFont typeface="Wingdings" panose="05000000000000000000" pitchFamily="2" charset="2"/>
              <a:buNone/>
            </a:pPr>
            <a:r>
              <a:rPr lang="zh-CN" altLang="en-US" sz="2400"/>
              <a:t>        </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5</a:t>
            </a:fld>
            <a:endParaRPr lang="zh-CN" altLang="en-US" sz="1400" b="0">
              <a:latin typeface="Tahoma" panose="020B0604030504040204" pitchFamily="34" charset="0"/>
              <a:ea typeface="宋体" panose="02010600030101010101" pitchFamily="2" charset="-122"/>
            </a:endParaRPr>
          </a:p>
        </p:txBody>
      </p:sp>
      <p:sp>
        <p:nvSpPr>
          <p:cNvPr id="21506"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7.1</a:t>
            </a:r>
            <a:r>
              <a:rPr lang="zh-CN" altLang="en-US"/>
              <a:t> 覆盖技术</a:t>
            </a:r>
          </a:p>
        </p:txBody>
      </p:sp>
      <p:sp>
        <p:nvSpPr>
          <p:cNvPr id="122883" name="Rectangle 3"/>
          <p:cNvSpPr>
            <a:spLocks noGrp="1" noChangeArrowheads="1"/>
          </p:cNvSpPr>
          <p:nvPr>
            <p:ph idx="1"/>
          </p:nvPr>
        </p:nvSpPr>
        <p:spPr>
          <a:xfrm>
            <a:off x="468313" y="1447800"/>
            <a:ext cx="8159750" cy="4572000"/>
          </a:xfrm>
        </p:spPr>
        <p:txBody>
          <a:bodyPr vert="horz" wrap="square" lIns="91440" tIns="45720" rIns="91440" bIns="45720" numCol="1" anchor="t" anchorCtr="0" compatLnSpc="1"/>
          <a:lstStyle/>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覆盖技术</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将程序的必要部分的代码和数据常驻内存；</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将可选部分在其它程序模块中实现，平时存放在外存中的覆盖文件中，用到时才装入内存。</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不存在调用关</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系的模块不必</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同时装入到内</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存，从而可以</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相互覆盖。</a:t>
            </a:r>
            <a:endParaRPr lang="en-US" altLang="zh-CN" sz="2400" b="0">
              <a:latin typeface="黑体" panose="02010609060101010101" pitchFamily="49" charset="-122"/>
            </a:endParaRPr>
          </a:p>
          <a:p>
            <a:pPr marL="0" indent="0" eaLnBrk="1" hangingPunct="1">
              <a:lnSpc>
                <a:spcPct val="90000"/>
              </a:lnSpc>
              <a:buFont typeface="Monotype Sorts" pitchFamily="2" charset="2"/>
              <a:buChar char="•"/>
            </a:pPr>
            <a:endParaRPr lang="zh-CN" altLang="en-US">
              <a:latin typeface="黑体" panose="02010609060101010101" pitchFamily="49" charset="-122"/>
            </a:endParaRPr>
          </a:p>
        </p:txBody>
      </p:sp>
      <p:sp>
        <p:nvSpPr>
          <p:cNvPr id="68612" name="文本框 1"/>
          <p:cNvSpPr txBox="1">
            <a:spLocks noChangeArrowheads="1"/>
          </p:cNvSpPr>
          <p:nvPr/>
        </p:nvSpPr>
        <p:spPr bwMode="auto">
          <a:xfrm>
            <a:off x="468313" y="5516563"/>
            <a:ext cx="81867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1" indent="0">
              <a:spcBef>
                <a:spcPct val="0"/>
              </a:spcBef>
              <a:buClrTx/>
              <a:buFontTx/>
              <a:buNone/>
            </a:pPr>
            <a:r>
              <a:rPr lang="zh-CN" altLang="en-US" b="0">
                <a:latin typeface="黑体" panose="02010609060101010101" pitchFamily="49" charset="-122"/>
              </a:rPr>
              <a:t>要求程序员编写调用关系明确的程序；主程序常驻内存，将</a:t>
            </a:r>
            <a:endParaRPr lang="en-US" altLang="zh-CN" b="0">
              <a:latin typeface="黑体" panose="02010609060101010101" pitchFamily="49" charset="-122"/>
            </a:endParaRPr>
          </a:p>
          <a:p>
            <a:pPr marL="0" lvl="1" indent="0">
              <a:spcBef>
                <a:spcPct val="0"/>
              </a:spcBef>
              <a:buClrTx/>
              <a:buFontTx/>
              <a:buNone/>
            </a:pPr>
            <a:r>
              <a:rPr lang="zh-CN" altLang="en-US" b="0">
                <a:latin typeface="黑体" panose="02010609060101010101" pitchFamily="49" charset="-122"/>
              </a:rPr>
              <a:t>不会同时执行的程序段共享内存。</a:t>
            </a:r>
          </a:p>
        </p:txBody>
      </p:sp>
      <p:pic>
        <p:nvPicPr>
          <p:cNvPr id="21509" name="图片 1"/>
          <p:cNvPicPr>
            <a:picLocks noChangeAspect="1"/>
          </p:cNvPicPr>
          <p:nvPr/>
        </p:nvPicPr>
        <p:blipFill>
          <a:blip r:embed="rId3"/>
          <a:stretch>
            <a:fillRect/>
          </a:stretch>
        </p:blipFill>
        <p:spPr>
          <a:xfrm>
            <a:off x="3132138" y="3038475"/>
            <a:ext cx="4895850" cy="2325688"/>
          </a:xfrm>
          <a:prstGeom prst="rect">
            <a:avLst/>
          </a:prstGeom>
          <a:noFill/>
          <a:ln w="9525">
            <a:noFill/>
          </a:ln>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6</a:t>
            </a:fld>
            <a:endParaRPr lang="zh-CN" altLang="en-US" sz="1400" b="0">
              <a:latin typeface="Tahoma" panose="020B0604030504040204" pitchFamily="34" charset="0"/>
              <a:ea typeface="宋体" panose="02010600030101010101" pitchFamily="2" charset="-122"/>
            </a:endParaRPr>
          </a:p>
        </p:txBody>
      </p:sp>
      <p:sp>
        <p:nvSpPr>
          <p:cNvPr id="22530"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7.1</a:t>
            </a:r>
            <a:r>
              <a:rPr lang="zh-CN" altLang="en-US"/>
              <a:t> 覆盖技术</a:t>
            </a:r>
          </a:p>
        </p:txBody>
      </p:sp>
      <p:sp>
        <p:nvSpPr>
          <p:cNvPr id="123907" name="Rectangle 3"/>
          <p:cNvSpPr>
            <a:spLocks noGrp="1" noChangeArrowheads="1"/>
          </p:cNvSpPr>
          <p:nvPr>
            <p:ph idx="1"/>
          </p:nvPr>
        </p:nvSpPr>
        <p:spPr>
          <a:xfrm>
            <a:off x="180975" y="1377950"/>
            <a:ext cx="8135938" cy="4572000"/>
          </a:xfrm>
        </p:spPr>
        <p:txBody>
          <a:bodyPr vert="horz" wrap="square" lIns="91440" tIns="45720" rIns="91440" bIns="45720" numCol="1" anchor="t" anchorCtr="0" compatLnSpc="1"/>
          <a:lstStyle/>
          <a:p>
            <a:pPr marL="914400" lvl="2" indent="0" eaLnBrk="1" hangingPunct="1">
              <a:buFont typeface="Wingdings" panose="05000000000000000000" pitchFamily="2" charset="2"/>
              <a:buNone/>
            </a:pPr>
            <a:r>
              <a:rPr lang="zh-CN" altLang="en-US" sz="2400" b="0">
                <a:latin typeface="黑体" panose="02010609060101010101" pitchFamily="49" charset="-122"/>
              </a:rPr>
              <a:t>覆盖技术特点</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同一个程序的实现；</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实现内存扩充，小内存运行大程序；</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对程序员要求高。</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缺点：</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对用户不透明；</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执行效率低；</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有碎片。</a:t>
            </a:r>
          </a:p>
          <a:p>
            <a:pPr marL="914400" lvl="2" indent="0" eaLnBrk="1" hangingPunct="1">
              <a:buFont typeface="Monotype Sorts" pitchFamily="2" charset="2"/>
              <a:buChar char="•"/>
            </a:pPr>
            <a:endParaRPr lang="zh-CN" altLang="en-US" sz="1800" b="0">
              <a:latin typeface="黑体" panose="02010609060101010101" pitchFamily="49"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7</a:t>
            </a:fld>
            <a:endParaRPr lang="zh-CN" altLang="en-US" sz="1400" b="0">
              <a:latin typeface="Tahoma" panose="020B0604030504040204" pitchFamily="34" charset="0"/>
              <a:ea typeface="宋体" panose="02010600030101010101" pitchFamily="2" charset="-122"/>
            </a:endParaRPr>
          </a:p>
        </p:txBody>
      </p:sp>
      <p:sp>
        <p:nvSpPr>
          <p:cNvPr id="23554"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7.2</a:t>
            </a:r>
            <a:r>
              <a:rPr lang="zh-CN" altLang="en-US"/>
              <a:t> 交换技术</a:t>
            </a:r>
            <a:endParaRPr lang="zh-CN" altLang="en-US" b="1"/>
          </a:p>
        </p:txBody>
      </p:sp>
      <p:sp>
        <p:nvSpPr>
          <p:cNvPr id="70659" name="Rectangle 3"/>
          <p:cNvSpPr>
            <a:spLocks noGrp="1" noChangeArrowheads="1"/>
          </p:cNvSpPr>
          <p:nvPr>
            <p:ph idx="1"/>
          </p:nvPr>
        </p:nvSpPr>
        <p:spPr>
          <a:xfrm>
            <a:off x="34925" y="1520825"/>
            <a:ext cx="8351838" cy="4572000"/>
          </a:xfrm>
        </p:spPr>
        <p:txBody>
          <a:bodyPr vert="horz" wrap="square" lIns="91440" tIns="45720" rIns="91440" bIns="45720" numCol="1" anchor="t" anchorCtr="0" compatLnSpc="1"/>
          <a:lstStyle/>
          <a:p>
            <a:pPr marL="457200" lvl="1" indent="0" eaLnBrk="1" hangingPunct="1">
              <a:buNone/>
            </a:pPr>
            <a:r>
              <a:rPr lang="zh-CN" altLang="en-US" b="0">
                <a:latin typeface="黑体" panose="02010609060101010101" pitchFamily="49" charset="-122"/>
              </a:rPr>
              <a:t>在内存空间紧张时，系统将内存中某些进程暂时移到外存，把外存中某些进程换进内存，占据前者所占用的区域，这种技术是进程在内存和外存之间的中级调度。</a:t>
            </a:r>
          </a:p>
          <a:p>
            <a:pPr marL="457200" lvl="1" indent="0" eaLnBrk="1" hangingPunct="1">
              <a:buNone/>
            </a:pPr>
            <a:r>
              <a:rPr lang="zh-CN" altLang="en-US" b="0">
                <a:latin typeface="黑体" panose="02010609060101010101" pitchFamily="49" charset="-122"/>
              </a:rPr>
              <a:t>与覆盖技术相比，交换技术不要求给出程序段之间的逻辑覆盖结构；而且，交换发生在作业之间。覆盖只能覆盖那些与覆盖段无关的程序段。</a:t>
            </a:r>
          </a:p>
          <a:p>
            <a:pPr marL="457200" lvl="1" indent="0" eaLnBrk="1" hangingPunct="1">
              <a:buNone/>
            </a:pPr>
            <a:r>
              <a:rPr lang="zh-CN" altLang="en-US" b="0">
                <a:latin typeface="黑体" panose="02010609060101010101" pitchFamily="49" charset="-122"/>
              </a:rPr>
              <a:t>在</a:t>
            </a:r>
            <a:r>
              <a:rPr lang="en-US" altLang="zh-CN" b="0">
                <a:latin typeface="黑体" panose="02010609060101010101" pitchFamily="49" charset="-122"/>
              </a:rPr>
              <a:t>Windows</a:t>
            </a:r>
            <a:r>
              <a:rPr lang="zh-CN" altLang="en-US" b="0">
                <a:latin typeface="黑体" panose="02010609060101010101" pitchFamily="49" charset="-122"/>
              </a:rPr>
              <a:t>操作系统中，采用交换技术实现多任务。</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8</a:t>
            </a:fld>
            <a:endParaRPr lang="zh-CN" altLang="en-US" sz="1400" b="0">
              <a:latin typeface="Tahoma" panose="020B0604030504040204" pitchFamily="34" charset="0"/>
              <a:ea typeface="宋体" panose="02010600030101010101" pitchFamily="2" charset="-122"/>
            </a:endParaRPr>
          </a:p>
        </p:txBody>
      </p:sp>
      <p:sp>
        <p:nvSpPr>
          <p:cNvPr id="24578"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7.2</a:t>
            </a:r>
            <a:r>
              <a:rPr lang="zh-CN" altLang="en-US"/>
              <a:t> 交换技术</a:t>
            </a:r>
          </a:p>
        </p:txBody>
      </p:sp>
      <p:sp>
        <p:nvSpPr>
          <p:cNvPr id="71683" name="Rectangle 3"/>
          <p:cNvSpPr>
            <a:spLocks noGrp="1" noChangeArrowheads="1"/>
          </p:cNvSpPr>
          <p:nvPr>
            <p:ph idx="1"/>
          </p:nvPr>
        </p:nvSpPr>
        <p:spPr>
          <a:xfrm>
            <a:off x="400050" y="1520825"/>
            <a:ext cx="8564563" cy="4572000"/>
          </a:xfrm>
        </p:spPr>
        <p:txBody>
          <a:bodyPr vert="horz" wrap="square" lIns="91440" tIns="45720" rIns="91440" bIns="45720" numCol="1" anchor="t" anchorCtr="0" compatLnSpc="1"/>
          <a:lstStyle/>
          <a:p>
            <a:pPr marL="0" indent="0" eaLnBrk="1" hangingPunct="1">
              <a:buNone/>
            </a:pPr>
            <a:r>
              <a:rPr lang="zh-CN" altLang="en-US" sz="2400" b="0">
                <a:latin typeface="黑体" panose="02010609060101010101" pitchFamily="49" charset="-122"/>
              </a:rPr>
              <a:t>在磁盘的什么位置保存被换出的进程？</a:t>
            </a:r>
            <a:endParaRPr lang="en-US" altLang="zh-CN" sz="2400" b="0">
              <a:latin typeface="黑体" panose="02010609060101010101" pitchFamily="49" charset="-122"/>
            </a:endParaRPr>
          </a:p>
          <a:p>
            <a:pPr marL="0" indent="0" eaLnBrk="1" hangingPunct="1">
              <a:buNone/>
            </a:pPr>
            <a:r>
              <a:rPr lang="zh-CN" altLang="en-US" sz="2400" b="0">
                <a:latin typeface="黑体" panose="02010609060101010101" pitchFamily="49" charset="-122"/>
              </a:rPr>
              <a:t>交换区： 一般系统会指定一块特殊的磁盘区域作为交换空间（</a:t>
            </a:r>
            <a:r>
              <a:rPr lang="en-US" altLang="zh-CN" sz="2400" b="0">
                <a:latin typeface="黑体" panose="02010609060101010101" pitchFamily="49" charset="-122"/>
              </a:rPr>
              <a:t>swap space</a:t>
            </a:r>
            <a:r>
              <a:rPr lang="zh-CN" altLang="en-US" sz="2400" b="0">
                <a:latin typeface="黑体" panose="02010609060101010101" pitchFamily="49" charset="-122"/>
              </a:rPr>
              <a:t>），包含连续的磁道，操作系统可以使用底层的磁盘读写操作对其高效访问。</a:t>
            </a:r>
            <a:endParaRPr lang="en-US" altLang="zh-CN" sz="2400" b="0">
              <a:latin typeface="黑体" panose="02010609060101010101" pitchFamily="49" charset="-122"/>
            </a:endParaRPr>
          </a:p>
          <a:p>
            <a:pPr marL="0" indent="0" eaLnBrk="1" hangingPunct="1">
              <a:buNone/>
            </a:pPr>
            <a:r>
              <a:rPr lang="zh-CN" altLang="en-US" sz="2400" b="0">
                <a:latin typeface="黑体" panose="02010609060101010101" pitchFamily="49" charset="-122"/>
              </a:rPr>
              <a:t>交换时机？</a:t>
            </a:r>
            <a:endParaRPr lang="en-US" altLang="zh-CN" sz="2400" b="0">
              <a:latin typeface="黑体" panose="02010609060101010101" pitchFamily="49" charset="-122"/>
            </a:endParaRPr>
          </a:p>
          <a:p>
            <a:pPr marL="0" indent="0" eaLnBrk="1" hangingPunct="1">
              <a:buNone/>
            </a:pPr>
            <a:r>
              <a:rPr lang="zh-CN" altLang="en-US" sz="2400" b="0">
                <a:latin typeface="黑体" panose="02010609060101010101" pitchFamily="49" charset="-122"/>
              </a:rPr>
              <a:t>只要不用就换出（很少再用）；内存空间不够或有不够的危险时换出。</a:t>
            </a:r>
            <a:endParaRPr lang="en-US" altLang="zh-CN" sz="2400" b="0">
              <a:latin typeface="黑体" panose="02010609060101010101" pitchFamily="49" charset="-122"/>
            </a:endParaRPr>
          </a:p>
          <a:p>
            <a:pPr marL="0" indent="0" eaLnBrk="1" hangingPunct="1">
              <a:buNone/>
            </a:pPr>
            <a:r>
              <a:rPr lang="zh-CN" altLang="en-US" sz="2400" b="0">
                <a:latin typeface="黑体" panose="02010609060101010101" pitchFamily="49" charset="-122"/>
              </a:rPr>
              <a:t>如何选择被换出的进程？</a:t>
            </a:r>
            <a:endParaRPr lang="en-US" altLang="zh-CN" sz="2400" b="0">
              <a:latin typeface="黑体" panose="02010609060101010101" pitchFamily="49" charset="-122"/>
            </a:endParaRPr>
          </a:p>
          <a:p>
            <a:pPr marL="0" indent="0" eaLnBrk="1" hangingPunct="1">
              <a:buNone/>
            </a:pPr>
            <a:r>
              <a:rPr lang="zh-CN" altLang="en-US" sz="2400" b="0">
                <a:latin typeface="黑体" panose="02010609060101010101" pitchFamily="49" charset="-122"/>
              </a:rPr>
              <a:t>考虑进程的各种属性；不应换出等待</a:t>
            </a:r>
            <a:r>
              <a:rPr lang="en-US" altLang="zh-CN" sz="2400" b="0">
                <a:latin typeface="黑体" panose="02010609060101010101" pitchFamily="49" charset="-122"/>
              </a:rPr>
              <a:t>I/O</a:t>
            </a:r>
            <a:r>
              <a:rPr lang="zh-CN" altLang="en-US" sz="2400" b="0">
                <a:latin typeface="黑体" panose="02010609060101010101" pitchFamily="49" charset="-122"/>
              </a:rPr>
              <a:t>状态的进程。</a:t>
            </a:r>
            <a:br>
              <a:rPr lang="zh-CN" altLang="en-US" sz="2400" b="0">
                <a:latin typeface="黑体" panose="02010609060101010101" pitchFamily="49" charset="-122"/>
              </a:rPr>
            </a:br>
            <a:endParaRPr lang="zh-CN" altLang="en-US" sz="2400" b="0">
              <a:latin typeface="黑体" panose="02010609060101010101" pitchFamily="49"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9</a:t>
            </a:fld>
            <a:endParaRPr lang="zh-CN" altLang="en-US" sz="1400" b="0">
              <a:latin typeface="Tahoma" panose="020B0604030504040204" pitchFamily="34" charset="0"/>
              <a:ea typeface="宋体" panose="02010600030101010101" pitchFamily="2" charset="-122"/>
            </a:endParaRPr>
          </a:p>
        </p:txBody>
      </p:sp>
      <p:sp>
        <p:nvSpPr>
          <p:cNvPr id="25602"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7.2</a:t>
            </a:r>
            <a:r>
              <a:rPr lang="zh-CN" altLang="en-US"/>
              <a:t> 交换技术</a:t>
            </a:r>
          </a:p>
        </p:txBody>
      </p:sp>
      <p:sp>
        <p:nvSpPr>
          <p:cNvPr id="25603" name="Rectangle 3"/>
          <p:cNvSpPr>
            <a:spLocks noGrp="1"/>
          </p:cNvSpPr>
          <p:nvPr>
            <p:ph idx="1"/>
          </p:nvPr>
        </p:nvSpPr>
        <p:spPr/>
        <p:txBody>
          <a:bodyPr vert="horz" wrap="square" lIns="91440" tIns="45720" rIns="91440" bIns="45720" anchor="t" anchorCtr="0"/>
          <a:lstStyle/>
          <a:p>
            <a:pPr eaLnBrk="1" hangingPunct="1"/>
            <a:r>
              <a:rPr lang="zh-CN" altLang="en-US" sz="2400" b="0"/>
              <a:t>交换技术</a:t>
            </a:r>
          </a:p>
          <a:p>
            <a:pPr lvl="1" eaLnBrk="1" hangingPunct="1"/>
            <a:r>
              <a:rPr lang="zh-CN" altLang="en-US" b="0"/>
              <a:t>优点：增加并发执行的程序数目；对程序员透明。</a:t>
            </a:r>
          </a:p>
          <a:p>
            <a:pPr lvl="1" eaLnBrk="1" hangingPunct="1"/>
            <a:r>
              <a:rPr lang="zh-CN" altLang="en-US" b="0"/>
              <a:t>缺点：增加处理机开销；程序整个地址空间都进行交换，信息量特别大；程序换入时需要重定位。</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10</a:t>
            </a:fld>
            <a:endParaRPr lang="zh-CN" altLang="en-US" sz="1400" b="0">
              <a:latin typeface="Tahoma" panose="020B0604030504040204" pitchFamily="34" charset="0"/>
              <a:ea typeface="宋体" panose="02010600030101010101" pitchFamily="2" charset="-122"/>
            </a:endParaRPr>
          </a:p>
        </p:txBody>
      </p:sp>
      <p:sp>
        <p:nvSpPr>
          <p:cNvPr id="26626"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虚拟存储</a:t>
            </a:r>
          </a:p>
        </p:txBody>
      </p:sp>
      <p:sp>
        <p:nvSpPr>
          <p:cNvPr id="19459" name="Rectangle 3"/>
          <p:cNvSpPr>
            <a:spLocks noGrp="1" noChangeArrowheads="1"/>
          </p:cNvSpPr>
          <p:nvPr>
            <p:ph idx="1"/>
          </p:nvPr>
        </p:nvSpPr>
        <p:spPr>
          <a:xfrm>
            <a:off x="250825" y="1484313"/>
            <a:ext cx="8178800" cy="4968875"/>
          </a:xfrm>
        </p:spPr>
        <p:txBody>
          <a:bodyPr vert="horz" wrap="square" lIns="91440" tIns="45720" rIns="91440" bIns="45720" numCol="1" anchor="t" anchorCtr="0" compatLnSpc="1"/>
          <a:lstStyle/>
          <a:p>
            <a:pPr eaLnBrk="1" hangingPunct="1">
              <a:lnSpc>
                <a:spcPct val="90000"/>
              </a:lnSpc>
            </a:pPr>
            <a:r>
              <a:rPr lang="zh-CN" altLang="en-US" sz="2400" b="0">
                <a:latin typeface="黑体" panose="02010609060101010101" pitchFamily="49" charset="-122"/>
              </a:rPr>
              <a:t>局部性原理</a:t>
            </a:r>
            <a:r>
              <a:rPr lang="en-US" altLang="zh-CN" sz="2400" b="0">
                <a:latin typeface="黑体" panose="02010609060101010101" pitchFamily="49" charset="-122"/>
              </a:rPr>
              <a:t>(</a:t>
            </a:r>
            <a:r>
              <a:rPr lang="en-US" altLang="zh-CN" sz="2400" b="0"/>
              <a:t>principle of locality</a:t>
            </a:r>
            <a:r>
              <a:rPr lang="en-US" altLang="zh-CN" sz="2400" b="0">
                <a:latin typeface="黑体" panose="02010609060101010101" pitchFamily="49" charset="-122"/>
              </a:rPr>
              <a:t>)</a:t>
            </a:r>
            <a:r>
              <a:rPr lang="zh-CN" altLang="en-US" sz="2400" b="0">
                <a:latin typeface="黑体" panose="02010609060101010101" pitchFamily="49" charset="-122"/>
              </a:rPr>
              <a:t>：指程序在执行过程中的一个较短时期，所执行的指令地址和指令的操作数地址，分别局限于一定区域，可以表现为：</a:t>
            </a:r>
          </a:p>
          <a:p>
            <a:pPr lvl="1" eaLnBrk="1" hangingPunct="1">
              <a:lnSpc>
                <a:spcPct val="90000"/>
              </a:lnSpc>
            </a:pPr>
            <a:r>
              <a:rPr lang="zh-CN" altLang="en-US" b="0">
                <a:latin typeface="黑体" panose="02010609060101010101" pitchFamily="49" charset="-122"/>
              </a:rPr>
              <a:t>时间局部性，即一条指令的一次执行和下次执行，一个数据的一次访问和下次访问都集中在一个较短时期内；</a:t>
            </a:r>
          </a:p>
          <a:p>
            <a:pPr lvl="1" eaLnBrk="1" hangingPunct="1">
              <a:lnSpc>
                <a:spcPct val="90000"/>
              </a:lnSpc>
            </a:pPr>
            <a:r>
              <a:rPr lang="zh-CN" altLang="en-US" b="0">
                <a:latin typeface="黑体" panose="02010609060101010101" pitchFamily="49" charset="-122"/>
              </a:rPr>
              <a:t>空间局部性，即当前指令和邻近的几条指令，当前访问的数据和邻近的数据都集中在一个较小区域内。</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11</a:t>
            </a:fld>
            <a:endParaRPr lang="zh-CN" altLang="en-US" sz="1400" b="0">
              <a:latin typeface="Tahoma" panose="020B0604030504040204" pitchFamily="34" charset="0"/>
              <a:ea typeface="宋体" panose="02010600030101010101" pitchFamily="2" charset="-122"/>
            </a:endParaRPr>
          </a:p>
        </p:txBody>
      </p:sp>
      <p:sp>
        <p:nvSpPr>
          <p:cNvPr id="27650"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虚拟存储</a:t>
            </a:r>
          </a:p>
        </p:txBody>
      </p:sp>
      <p:sp>
        <p:nvSpPr>
          <p:cNvPr id="20483" name="Rectangle 3"/>
          <p:cNvSpPr>
            <a:spLocks noGrp="1" noChangeArrowheads="1"/>
          </p:cNvSpPr>
          <p:nvPr>
            <p:ph idx="1"/>
          </p:nvPr>
        </p:nvSpPr>
        <p:spPr/>
        <p:txBody>
          <a:bodyPr vert="horz" wrap="square" lIns="91440" tIns="45720" rIns="91440" bIns="45720" numCol="1" anchor="t" anchorCtr="0" compatLnSpc="1"/>
          <a:lstStyle/>
          <a:p>
            <a:pPr eaLnBrk="1" hangingPunct="1"/>
            <a:r>
              <a:rPr lang="zh-CN" altLang="en-US" sz="2400" b="0">
                <a:latin typeface="黑体" panose="02010609060101010101" pitchFamily="49" charset="-122"/>
              </a:rPr>
              <a:t>局部性原理的具体体现</a:t>
            </a:r>
          </a:p>
          <a:p>
            <a:pPr lvl="1" eaLnBrk="1" hangingPunct="1"/>
            <a:r>
              <a:rPr lang="zh-CN" altLang="en-US" b="0">
                <a:latin typeface="黑体" panose="02010609060101010101" pitchFamily="49" charset="-122"/>
              </a:rPr>
              <a:t>程序在执行时，大部分是顺序执行的指令，少部分是转移和过程调用指令。</a:t>
            </a:r>
          </a:p>
          <a:p>
            <a:pPr lvl="1" eaLnBrk="1" hangingPunct="1"/>
            <a:r>
              <a:rPr lang="zh-CN" altLang="en-US" b="0">
                <a:latin typeface="黑体" panose="02010609060101010101" pitchFamily="49" charset="-122"/>
              </a:rPr>
              <a:t>过程调用的嵌套深度一般不超过</a:t>
            </a:r>
            <a:r>
              <a:rPr lang="en-US" altLang="zh-CN" b="0">
                <a:latin typeface="黑体" panose="02010609060101010101" pitchFamily="49" charset="-122"/>
              </a:rPr>
              <a:t>5</a:t>
            </a:r>
            <a:r>
              <a:rPr lang="zh-CN" altLang="en-US" b="0">
                <a:latin typeface="黑体" panose="02010609060101010101" pitchFamily="49" charset="-122"/>
              </a:rPr>
              <a:t>，因此执行的范围不超过这组嵌套的过程。</a:t>
            </a:r>
          </a:p>
          <a:p>
            <a:pPr lvl="1" eaLnBrk="1" hangingPunct="1"/>
            <a:r>
              <a:rPr lang="zh-CN" altLang="en-US" b="0">
                <a:latin typeface="黑体" panose="02010609060101010101" pitchFamily="49" charset="-122"/>
              </a:rPr>
              <a:t>程序中存在相当多的循环结构，它们由少量指令组成，而被多次执行。</a:t>
            </a:r>
          </a:p>
          <a:p>
            <a:pPr lvl="1" eaLnBrk="1" hangingPunct="1"/>
            <a:r>
              <a:rPr lang="zh-CN" altLang="en-US" b="0">
                <a:latin typeface="黑体" panose="02010609060101010101" pitchFamily="49" charset="-122"/>
              </a:rPr>
              <a:t>程序中存在相当多对一定数据结构的操作，如数组操作，往往局限在较小范围内。</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12</a:t>
            </a:fld>
            <a:endParaRPr lang="zh-CN" altLang="en-US" sz="1400" b="0">
              <a:latin typeface="Tahoma" panose="020B0604030504040204" pitchFamily="34" charset="0"/>
              <a:ea typeface="宋体" panose="02010600030101010101" pitchFamily="2" charset="-122"/>
            </a:endParaRPr>
          </a:p>
        </p:txBody>
      </p:sp>
      <p:sp>
        <p:nvSpPr>
          <p:cNvPr id="28674"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虚拟存储</a:t>
            </a:r>
          </a:p>
        </p:txBody>
      </p:sp>
      <p:sp>
        <p:nvSpPr>
          <p:cNvPr id="21507" name="Rectangle 3"/>
          <p:cNvSpPr>
            <a:spLocks noGrp="1" noChangeArrowheads="1"/>
          </p:cNvSpPr>
          <p:nvPr>
            <p:ph idx="1"/>
          </p:nvPr>
        </p:nvSpPr>
        <p:spPr>
          <a:xfrm>
            <a:off x="250825" y="1412875"/>
            <a:ext cx="8353425" cy="4968875"/>
          </a:xfrm>
        </p:spPr>
        <p:txBody>
          <a:bodyPr vert="horz" wrap="square" lIns="91440" tIns="45720" rIns="91440" bIns="45720" numCol="1" anchor="t" anchorCtr="0" compatLnSpc="1"/>
          <a:lstStyle/>
          <a:p>
            <a:pPr eaLnBrk="1" hangingPunct="1">
              <a:lnSpc>
                <a:spcPct val="90000"/>
              </a:lnSpc>
            </a:pPr>
            <a:r>
              <a:rPr lang="zh-CN" altLang="en-US" sz="2400" b="0">
                <a:latin typeface="黑体" panose="02010609060101010101" pitchFamily="49" charset="-122"/>
              </a:rPr>
              <a:t>虚拟存储的基本原理</a:t>
            </a:r>
          </a:p>
          <a:p>
            <a:pPr lvl="1" eaLnBrk="1" hangingPunct="1">
              <a:lnSpc>
                <a:spcPct val="90000"/>
              </a:lnSpc>
            </a:pPr>
            <a:r>
              <a:rPr lang="zh-CN" altLang="en-US" b="0">
                <a:latin typeface="黑体" panose="02010609060101010101" pitchFamily="49" charset="-122"/>
              </a:rPr>
              <a:t>在程序装入时，不必将其全部读入到内存，而只需将当前需要执行的部分页或段读入到内存，就可让程序开始执行。</a:t>
            </a:r>
          </a:p>
          <a:p>
            <a:pPr lvl="1" eaLnBrk="1" hangingPunct="1">
              <a:lnSpc>
                <a:spcPct val="90000"/>
              </a:lnSpc>
            </a:pPr>
            <a:r>
              <a:rPr lang="zh-CN" altLang="en-US" b="0">
                <a:latin typeface="黑体" panose="02010609060101010101" pitchFamily="49" charset="-122"/>
              </a:rPr>
              <a:t>在程序执行过程中，如果需执行的指令或访问的数据尚未在内存（称为</a:t>
            </a:r>
            <a:r>
              <a:rPr lang="zh-CN" altLang="en-US" b="0">
                <a:solidFill>
                  <a:schemeClr val="folHlink"/>
                </a:solidFill>
                <a:latin typeface="黑体" panose="02010609060101010101" pitchFamily="49" charset="-122"/>
              </a:rPr>
              <a:t>缺页</a:t>
            </a:r>
            <a:r>
              <a:rPr lang="zh-CN" altLang="en-US" b="0">
                <a:latin typeface="黑体" panose="02010609060101010101" pitchFamily="49" charset="-122"/>
              </a:rPr>
              <a:t>或</a:t>
            </a:r>
            <a:r>
              <a:rPr lang="zh-CN" altLang="en-US" b="0">
                <a:solidFill>
                  <a:schemeClr val="folHlink"/>
                </a:solidFill>
                <a:latin typeface="黑体" panose="02010609060101010101" pitchFamily="49" charset="-122"/>
              </a:rPr>
              <a:t>缺段</a:t>
            </a:r>
            <a:r>
              <a:rPr lang="zh-CN" altLang="en-US" b="0">
                <a:latin typeface="黑体" panose="02010609060101010101" pitchFamily="49" charset="-122"/>
              </a:rPr>
              <a:t>），则由处理器通知操作系统将相应的页或段调入到内存，然后继续执行程序。</a:t>
            </a:r>
          </a:p>
          <a:p>
            <a:pPr lvl="1" eaLnBrk="1" hangingPunct="1">
              <a:lnSpc>
                <a:spcPct val="90000"/>
              </a:lnSpc>
            </a:pPr>
            <a:r>
              <a:rPr lang="zh-CN" altLang="en-US" b="0">
                <a:latin typeface="黑体" panose="02010609060101010101" pitchFamily="49" charset="-122"/>
              </a:rPr>
              <a:t>操作系统将内存中暂时不使用的页或段调出保存在外存上，从而腾出空间存放将要装入的程序以及将要调入的页或段</a:t>
            </a:r>
            <a:r>
              <a:rPr lang="en-US" altLang="zh-CN" b="0">
                <a:latin typeface="黑体" panose="02010609060101010101" pitchFamily="49" charset="-122"/>
              </a:rPr>
              <a:t>―</a:t>
            </a:r>
            <a:r>
              <a:rPr lang="zh-CN" altLang="en-US" b="0">
                <a:latin typeface="黑体" panose="02010609060101010101" pitchFamily="49" charset="-122"/>
              </a:rPr>
              <a:t>具有请求调入和置换功能，只需程序的一部分在内存就可执行。</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13</a:t>
            </a:fld>
            <a:endParaRPr lang="zh-CN" altLang="en-US" sz="1400" b="0">
              <a:latin typeface="Tahoma" panose="020B0604030504040204" pitchFamily="34" charset="0"/>
              <a:ea typeface="宋体" panose="02010600030101010101" pitchFamily="2" charset="-122"/>
            </a:endParaRPr>
          </a:p>
        </p:txBody>
      </p:sp>
      <p:sp>
        <p:nvSpPr>
          <p:cNvPr id="29698"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虚拟存储</a:t>
            </a:r>
          </a:p>
        </p:txBody>
      </p:sp>
      <p:sp>
        <p:nvSpPr>
          <p:cNvPr id="22531" name="Rectangle 3"/>
          <p:cNvSpPr>
            <a:spLocks noGrp="1" noChangeArrowheads="1"/>
          </p:cNvSpPr>
          <p:nvPr>
            <p:ph idx="1"/>
          </p:nvPr>
        </p:nvSpPr>
        <p:spPr/>
        <p:txBody>
          <a:bodyPr vert="horz" wrap="square" lIns="91440" tIns="45720" rIns="91440" bIns="45720" numCol="1" anchor="t" anchorCtr="0" compatLnSpc="1"/>
          <a:lstStyle/>
          <a:p>
            <a:pPr eaLnBrk="1" hangingPunct="1"/>
            <a:r>
              <a:rPr lang="zh-CN" altLang="en-US" sz="2400" b="0">
                <a:latin typeface="黑体" panose="02010609060101010101" pitchFamily="49" charset="-122"/>
              </a:rPr>
              <a:t>引入虚拟存储技术的好处</a:t>
            </a:r>
          </a:p>
          <a:p>
            <a:pPr lvl="1" eaLnBrk="1" hangingPunct="1"/>
            <a:r>
              <a:rPr lang="zh-CN" altLang="en-US" b="0">
                <a:latin typeface="黑体" panose="02010609060101010101" pitchFamily="49" charset="-122"/>
              </a:rPr>
              <a:t>可在较小的可用内存中执行较大的用户程序；</a:t>
            </a:r>
          </a:p>
          <a:p>
            <a:pPr lvl="1" eaLnBrk="1" hangingPunct="1"/>
            <a:r>
              <a:rPr lang="zh-CN" altLang="en-US" b="0">
                <a:latin typeface="黑体" panose="02010609060101010101" pitchFamily="49" charset="-122"/>
              </a:rPr>
              <a:t>可在内存中容纳更多程序并发执行；</a:t>
            </a:r>
          </a:p>
          <a:p>
            <a:pPr lvl="1" eaLnBrk="1" hangingPunct="1"/>
            <a:r>
              <a:rPr lang="zh-CN" altLang="en-US" b="0">
                <a:latin typeface="黑体" panose="02010609060101010101" pitchFamily="49" charset="-122"/>
              </a:rPr>
              <a:t>不必影响编程时的程序结构（与覆盖技术比较）</a:t>
            </a:r>
          </a:p>
          <a:p>
            <a:pPr lvl="1" eaLnBrk="1" hangingPunct="1"/>
            <a:r>
              <a:rPr lang="zh-CN" altLang="en-US" b="0">
                <a:latin typeface="黑体" panose="02010609060101010101" pitchFamily="49" charset="-122"/>
              </a:rPr>
              <a:t>提供给用户可用的虚拟内存空间通常大于物理内存</a:t>
            </a:r>
            <a:r>
              <a:rPr lang="en-US" altLang="zh-CN" b="0">
                <a:latin typeface="黑体" panose="02010609060101010101" pitchFamily="49" charset="-122"/>
              </a:rPr>
              <a:t>(</a:t>
            </a:r>
            <a:r>
              <a:rPr lang="en-US" altLang="zh-CN" b="0"/>
              <a:t>real memory</a:t>
            </a:r>
            <a:r>
              <a:rPr lang="en-US" altLang="zh-CN" b="0">
                <a:latin typeface="黑体" panose="02010609060101010101" pitchFamily="49" charset="-122"/>
              </a:rPr>
              <a:t>)</a:t>
            </a:r>
            <a:endParaRPr lang="zh-CN" altLang="en-US" b="0">
              <a:latin typeface="黑体" panose="02010609060101010101" pitchFamily="49"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14</a:t>
            </a:fld>
            <a:endParaRPr lang="zh-CN" altLang="en-US" sz="1400" b="0">
              <a:latin typeface="Tahoma" panose="020B0604030504040204" pitchFamily="34" charset="0"/>
              <a:ea typeface="宋体" panose="02010600030101010101" pitchFamily="2" charset="-122"/>
            </a:endParaRPr>
          </a:p>
        </p:txBody>
      </p:sp>
      <p:sp>
        <p:nvSpPr>
          <p:cNvPr id="30722"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虚拟存储</a:t>
            </a:r>
          </a:p>
        </p:txBody>
      </p:sp>
      <p:sp>
        <p:nvSpPr>
          <p:cNvPr id="30723" name="Rectangle 3"/>
          <p:cNvSpPr>
            <a:spLocks noGrp="1"/>
          </p:cNvSpPr>
          <p:nvPr>
            <p:ph idx="1"/>
          </p:nvPr>
        </p:nvSpPr>
        <p:spPr/>
        <p:txBody>
          <a:bodyPr vert="horz" wrap="square" lIns="91440" tIns="45720" rIns="91440" bIns="45720" anchor="t" anchorCtr="0"/>
          <a:lstStyle/>
          <a:p>
            <a:pPr eaLnBrk="1" hangingPunct="1"/>
            <a:r>
              <a:rPr lang="zh-CN" altLang="en-US" sz="2400" b="0"/>
              <a:t>虚拟存储技术的特征</a:t>
            </a:r>
          </a:p>
          <a:p>
            <a:pPr lvl="1" eaLnBrk="1" hangingPunct="1"/>
            <a:r>
              <a:rPr lang="zh-CN" altLang="en-US" b="0"/>
              <a:t>物理内存分配的不连续性，虚拟地址空间使用的不连续性（数据段和栈段之间的空闲空间，共享段和动态链接库占用的空间）</a:t>
            </a:r>
          </a:p>
          <a:p>
            <a:pPr lvl="1" eaLnBrk="1" hangingPunct="1"/>
            <a:r>
              <a:rPr lang="zh-CN" altLang="en-US" b="0"/>
              <a:t>与交换的比较：调入和调出是对部分虚拟地址空间进行</a:t>
            </a:r>
          </a:p>
          <a:p>
            <a:pPr lvl="1" eaLnBrk="1" hangingPunct="1"/>
            <a:r>
              <a:rPr lang="zh-CN" altLang="en-US" b="0"/>
              <a:t>通过物理内存和快速外存相结合，提供大范围的虚拟地址空间，但占用容量不超过物理内存和外存交换区容量之和，其中占用容量包括：进程地址空间中的各个段，操作系统代码</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15</a:t>
            </a:fld>
            <a:endParaRPr lang="zh-CN" altLang="en-US" sz="1400" b="0">
              <a:latin typeface="Tahoma" panose="020B0604030504040204" pitchFamily="34" charset="0"/>
              <a:ea typeface="宋体" panose="02010600030101010101" pitchFamily="2" charset="-122"/>
            </a:endParaRPr>
          </a:p>
        </p:txBody>
      </p:sp>
      <p:sp>
        <p:nvSpPr>
          <p:cNvPr id="31746"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虚拟存储</a:t>
            </a:r>
          </a:p>
        </p:txBody>
      </p:sp>
      <p:sp>
        <p:nvSpPr>
          <p:cNvPr id="31747" name="Rectangle 3"/>
          <p:cNvSpPr>
            <a:spLocks noGrp="1"/>
          </p:cNvSpPr>
          <p:nvPr>
            <p:ph idx="1"/>
          </p:nvPr>
        </p:nvSpPr>
        <p:spPr/>
        <p:txBody>
          <a:bodyPr vert="horz" wrap="square" lIns="91440" tIns="45720" rIns="91440" bIns="45720" anchor="t" anchorCtr="0"/>
          <a:lstStyle/>
          <a:p>
            <a:pPr eaLnBrk="1" hangingPunct="1"/>
            <a:r>
              <a:rPr lang="zh-CN" altLang="en-US" sz="2400" b="0"/>
              <a:t>虚拟存储技术的种类</a:t>
            </a:r>
          </a:p>
          <a:p>
            <a:pPr lvl="1" eaLnBrk="1" hangingPunct="1"/>
            <a:r>
              <a:rPr lang="zh-CN" altLang="en-US" b="0"/>
              <a:t>虚拟页式（请求分页）：在简单页式存储管理的基础上，增加</a:t>
            </a:r>
            <a:r>
              <a:rPr lang="zh-CN" altLang="en-US" b="0">
                <a:solidFill>
                  <a:srgbClr val="FF0000"/>
                </a:solidFill>
              </a:rPr>
              <a:t>请求调页和页面置换</a:t>
            </a:r>
            <a:r>
              <a:rPr lang="zh-CN" altLang="en-US" b="0"/>
              <a:t>功能。</a:t>
            </a:r>
          </a:p>
          <a:p>
            <a:pPr lvl="1" eaLnBrk="1" hangingPunct="1"/>
            <a:r>
              <a:rPr lang="zh-CN" altLang="en-US" b="0"/>
              <a:t>虚拟段式（请求分段）：在简单段式存储管理的基础上，增加</a:t>
            </a:r>
            <a:r>
              <a:rPr lang="zh-CN" altLang="en-US" b="0">
                <a:solidFill>
                  <a:srgbClr val="FF0000"/>
                </a:solidFill>
              </a:rPr>
              <a:t>请求调段和段置换</a:t>
            </a:r>
            <a:r>
              <a:rPr lang="zh-CN" altLang="en-US" b="0"/>
              <a:t>功能。</a:t>
            </a:r>
          </a:p>
          <a:p>
            <a:pPr lvl="1" eaLnBrk="1" hangingPunct="1"/>
            <a:r>
              <a:rPr lang="zh-CN" altLang="en-US" b="0"/>
              <a:t>虚拟段页式（请求段页式）：请求分页和请求分段的结合。</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16</a:t>
            </a:fld>
            <a:endParaRPr lang="zh-CN" altLang="en-US" sz="1400" b="0">
              <a:latin typeface="Tahoma" panose="020B0604030504040204" pitchFamily="34" charset="0"/>
              <a:ea typeface="宋体" panose="02010600030101010101" pitchFamily="2" charset="-122"/>
            </a:endParaRPr>
          </a:p>
        </p:txBody>
      </p:sp>
      <p:sp>
        <p:nvSpPr>
          <p:cNvPr id="32770"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虚拟页式存储</a:t>
            </a:r>
          </a:p>
        </p:txBody>
      </p:sp>
      <p:sp>
        <p:nvSpPr>
          <p:cNvPr id="25603" name="Rectangle 3"/>
          <p:cNvSpPr>
            <a:spLocks noGrp="1" noChangeArrowheads="1"/>
          </p:cNvSpPr>
          <p:nvPr>
            <p:ph idx="1"/>
          </p:nvPr>
        </p:nvSpPr>
        <p:spPr>
          <a:xfrm>
            <a:off x="0" y="1484313"/>
            <a:ext cx="5003800" cy="4968875"/>
          </a:xfrm>
        </p:spPr>
        <p:txBody>
          <a:bodyPr vert="horz" wrap="square" lIns="91440" tIns="45720" rIns="91440" bIns="45720" numCol="1" anchor="t" anchorCtr="0" compatLnSpc="1"/>
          <a:lstStyle/>
          <a:p>
            <a:pPr marL="457200" lvl="1" indent="0" eaLnBrk="1" hangingPunct="1">
              <a:buNone/>
            </a:pPr>
            <a:r>
              <a:rPr lang="zh-CN" altLang="en-US" b="0">
                <a:latin typeface="黑体" panose="02010609060101010101" pitchFamily="49" charset="-122"/>
              </a:rPr>
              <a:t>分页存储管理方法，必须一次性将所有的页面全部装入，有可能造成其他的作业无法装入，从而造成系统的性能下降。</a:t>
            </a:r>
          </a:p>
          <a:p>
            <a:pPr marL="457200" lvl="1" indent="0" eaLnBrk="1" hangingPunct="1">
              <a:buNone/>
            </a:pPr>
            <a:r>
              <a:rPr lang="zh-CN" altLang="en-US" b="0">
                <a:latin typeface="黑体" panose="02010609060101010101" pitchFamily="49" charset="-122"/>
              </a:rPr>
              <a:t>因此，要想办法使得程序在装入时，不一次性装入，只要装入当前运行需要的一部分页面即可，这些页面为</a:t>
            </a:r>
            <a:r>
              <a:rPr lang="en-US" altLang="zh-CN" b="0">
                <a:latin typeface="黑体" panose="02010609060101010101" pitchFamily="49" charset="-122"/>
              </a:rPr>
              <a:t>“</a:t>
            </a:r>
            <a:r>
              <a:rPr lang="zh-CN" altLang="en-US" b="0">
                <a:solidFill>
                  <a:schemeClr val="folHlink"/>
                </a:solidFill>
                <a:latin typeface="黑体" panose="02010609060101010101" pitchFamily="49" charset="-122"/>
              </a:rPr>
              <a:t>工作集</a:t>
            </a:r>
            <a:r>
              <a:rPr lang="en-US" altLang="zh-CN" b="0">
                <a:latin typeface="黑体" panose="02010609060101010101" pitchFamily="49" charset="-122"/>
              </a:rPr>
              <a:t>”</a:t>
            </a:r>
            <a:r>
              <a:rPr lang="zh-CN" altLang="en-US" b="0">
                <a:latin typeface="黑体" panose="02010609060101010101" pitchFamily="49" charset="-122"/>
              </a:rPr>
              <a:t>。</a:t>
            </a:r>
            <a:endParaRPr lang="en-US" altLang="zh-CN" b="0">
              <a:latin typeface="黑体" panose="02010609060101010101" pitchFamily="49" charset="-122"/>
            </a:endParaRPr>
          </a:p>
          <a:p>
            <a:pPr marL="457200" lvl="1" indent="0" eaLnBrk="1" hangingPunct="1">
              <a:buNone/>
            </a:pPr>
            <a:r>
              <a:rPr lang="en-US" altLang="zh-CN" b="0">
                <a:latin typeface="黑体" panose="02010609060101010101" pitchFamily="49" charset="-122"/>
              </a:rPr>
              <a:t>-</a:t>
            </a:r>
            <a:r>
              <a:rPr lang="zh-CN" altLang="en-US" b="0">
                <a:latin typeface="黑体" panose="02010609060101010101" pitchFamily="49" charset="-122"/>
              </a:rPr>
              <a:t> 分多少块（页）。</a:t>
            </a:r>
            <a:endParaRPr lang="en-US" altLang="zh-CN" b="0">
              <a:latin typeface="黑体" panose="02010609060101010101" pitchFamily="49" charset="-122"/>
            </a:endParaRPr>
          </a:p>
          <a:p>
            <a:pPr marL="457200" lvl="1" indent="0" eaLnBrk="1" hangingPunct="1">
              <a:buNone/>
            </a:pPr>
            <a:r>
              <a:rPr lang="en-US" altLang="zh-CN" b="0">
                <a:latin typeface="黑体" panose="02010609060101010101" pitchFamily="49" charset="-122"/>
                <a:sym typeface="+mn-ea"/>
              </a:rPr>
              <a:t>-</a:t>
            </a:r>
            <a:r>
              <a:rPr lang="zh-CN" altLang="en-US" b="0">
                <a:latin typeface="黑体" panose="02010609060101010101" pitchFamily="49" charset="-122"/>
                <a:sym typeface="+mn-ea"/>
              </a:rPr>
              <a:t> </a:t>
            </a:r>
            <a:r>
              <a:rPr lang="zh-CN" altLang="en-US" b="0">
                <a:latin typeface="黑体" panose="02010609060101010101" pitchFamily="49" charset="-122"/>
              </a:rPr>
              <a:t>需要其他页面时，通过</a:t>
            </a:r>
            <a:r>
              <a:rPr lang="zh-CN" altLang="en-US">
                <a:latin typeface="黑体" panose="02010609060101010101" pitchFamily="49" charset="-122"/>
              </a:rPr>
              <a:t>调页功能</a:t>
            </a:r>
            <a:r>
              <a:rPr lang="zh-CN" altLang="en-US" b="0">
                <a:latin typeface="黑体" panose="02010609060101010101" pitchFamily="49" charset="-122"/>
              </a:rPr>
              <a:t>将要运行的页面换入内存。</a:t>
            </a:r>
            <a:endParaRPr lang="en-US" altLang="zh-CN" b="0">
              <a:latin typeface="黑体" panose="02010609060101010101" pitchFamily="49" charset="-122"/>
            </a:endParaRPr>
          </a:p>
          <a:p>
            <a:pPr marL="457200" lvl="1" indent="0" eaLnBrk="1" hangingPunct="1">
              <a:buNone/>
            </a:pPr>
            <a:r>
              <a:rPr lang="en-US" altLang="zh-CN" b="0">
                <a:latin typeface="黑体" panose="02010609060101010101" pitchFamily="49" charset="-122"/>
                <a:sym typeface="+mn-ea"/>
              </a:rPr>
              <a:t>-</a:t>
            </a:r>
            <a:r>
              <a:rPr lang="zh-CN" altLang="en-US" b="0">
                <a:latin typeface="黑体" panose="02010609060101010101" pitchFamily="49" charset="-122"/>
                <a:sym typeface="+mn-ea"/>
              </a:rPr>
              <a:t> </a:t>
            </a:r>
            <a:r>
              <a:rPr lang="zh-CN" altLang="en-US" b="0">
                <a:latin typeface="黑体" panose="02010609060101010101" pitchFamily="49" charset="-122"/>
              </a:rPr>
              <a:t>如果分配的内存已满，通过</a:t>
            </a:r>
            <a:r>
              <a:rPr lang="zh-CN" altLang="en-US">
                <a:latin typeface="黑体" panose="02010609060101010101" pitchFamily="49" charset="-122"/>
              </a:rPr>
              <a:t>页面置换算法</a:t>
            </a:r>
            <a:r>
              <a:rPr lang="zh-CN" altLang="en-US" b="0">
                <a:latin typeface="黑体" panose="02010609060101010101" pitchFamily="49" charset="-122"/>
              </a:rPr>
              <a:t>把不运行的页面换出内存。</a:t>
            </a:r>
          </a:p>
        </p:txBody>
      </p:sp>
      <p:pic>
        <p:nvPicPr>
          <p:cNvPr id="32772" name="虚拟页式.mp4">
            <a:hlinkClick r:id="" action="ppaction://media"/>
          </p:cNvPr>
          <p:cNvPicPr>
            <a:picLocks noChangeAspect="1"/>
          </p:cNvPicPr>
          <p:nvPr/>
        </p:nvPicPr>
        <p:blipFill>
          <a:blip r:embed="rId2"/>
          <a:stretch>
            <a:fillRect/>
          </a:stretch>
        </p:blipFill>
        <p:spPr>
          <a:xfrm>
            <a:off x="5076825" y="1300163"/>
            <a:ext cx="3857625" cy="5459412"/>
          </a:xfrm>
          <a:prstGeom prst="rect">
            <a:avLst/>
          </a:prstGeom>
          <a:noFill/>
          <a:ln w="9525">
            <a:no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17</a:t>
            </a:fld>
            <a:endParaRPr lang="zh-CN" altLang="en-US" sz="1400" b="0">
              <a:latin typeface="Tahoma" panose="020B0604030504040204" pitchFamily="34" charset="0"/>
              <a:ea typeface="宋体" panose="02010600030101010101" pitchFamily="2" charset="-122"/>
            </a:endParaRPr>
          </a:p>
        </p:txBody>
      </p:sp>
      <p:sp>
        <p:nvSpPr>
          <p:cNvPr id="33794"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8.1</a:t>
            </a:r>
            <a:r>
              <a:rPr lang="zh-CN" altLang="en-US"/>
              <a:t>虚拟页式存储过程</a:t>
            </a:r>
          </a:p>
        </p:txBody>
      </p:sp>
      <p:sp>
        <p:nvSpPr>
          <p:cNvPr id="359427" name="Rectangle 3"/>
          <p:cNvSpPr>
            <a:spLocks noGrp="1" noChangeArrowheads="1"/>
          </p:cNvSpPr>
          <p:nvPr>
            <p:ph idx="1"/>
          </p:nvPr>
        </p:nvSpPr>
        <p:spPr>
          <a:xfrm>
            <a:off x="0" y="1412875"/>
            <a:ext cx="8964613" cy="4572000"/>
          </a:xfrm>
        </p:spPr>
        <p:txBody>
          <a:bodyPr vert="horz" wrap="square" lIns="91440" tIns="45720" rIns="91440" bIns="45720" numCol="1" anchor="t" anchorCtr="0" compatLnSpc="1"/>
          <a:lstStyle/>
          <a:p>
            <a:pPr marL="457200" lvl="1" indent="0" eaLnBrk="1" hangingPunct="1">
              <a:lnSpc>
                <a:spcPct val="90000"/>
              </a:lnSpc>
              <a:buFont typeface="Wingdings" panose="05000000000000000000" pitchFamily="2" charset="2"/>
              <a:buNone/>
            </a:pPr>
            <a:r>
              <a:rPr lang="zh-CN" altLang="en-US" b="0"/>
              <a:t>在作业运行了一段时间之后，必然要访问没有装入的页面，也就是说，要访问的虚页不在内存，系统怎么发现？使用缺页中断。</a:t>
            </a:r>
            <a:endParaRPr lang="en-US" altLang="zh-CN" b="0"/>
          </a:p>
          <a:p>
            <a:pPr marL="457200" lvl="1" indent="0" eaLnBrk="1" hangingPunct="1">
              <a:lnSpc>
                <a:spcPct val="90000"/>
              </a:lnSpc>
              <a:buFont typeface="Wingdings" panose="05000000000000000000" pitchFamily="2" charset="2"/>
              <a:buNone/>
            </a:pPr>
            <a:r>
              <a:rPr lang="zh-CN" altLang="en-US" b="0"/>
              <a:t>系统如何知道虚页是否在内存中？通过扩充的页表。</a:t>
            </a:r>
            <a:endParaRPr lang="en-US" altLang="zh-CN" b="0"/>
          </a:p>
          <a:p>
            <a:pPr marL="457200" lvl="1" indent="0" eaLnBrk="1" hangingPunct="1">
              <a:buFont typeface="Monotype Sorts" pitchFamily="2" charset="2"/>
              <a:buChar char="–"/>
            </a:pPr>
            <a:r>
              <a:rPr lang="zh-CN" altLang="en-US" b="0"/>
              <a:t>存在位（</a:t>
            </a:r>
            <a:r>
              <a:rPr lang="en-US" altLang="zh-CN" b="0"/>
              <a:t>present bit</a:t>
            </a:r>
            <a:r>
              <a:rPr lang="zh-CN" altLang="en-US" b="0"/>
              <a:t>）</a:t>
            </a:r>
            <a:r>
              <a:rPr lang="en-US" altLang="zh-CN" b="0"/>
              <a:t>0</a:t>
            </a:r>
            <a:r>
              <a:rPr lang="zh-CN" altLang="en-US" b="0"/>
              <a:t>：不在内存 </a:t>
            </a:r>
            <a:r>
              <a:rPr lang="en-US" altLang="zh-CN" b="0"/>
              <a:t>1</a:t>
            </a:r>
            <a:r>
              <a:rPr lang="zh-CN" altLang="en-US" b="0"/>
              <a:t>：在内存</a:t>
            </a:r>
          </a:p>
          <a:p>
            <a:pPr marL="457200" lvl="1" indent="0" eaLnBrk="1" hangingPunct="1">
              <a:buFont typeface="Monotype Sorts" pitchFamily="2" charset="2"/>
              <a:buChar char="–"/>
            </a:pPr>
            <a:r>
              <a:rPr lang="zh-CN" altLang="en-US" b="0"/>
              <a:t>修改位</a:t>
            </a:r>
            <a:r>
              <a:rPr lang="en-US" altLang="zh-CN" b="0"/>
              <a:t>(modified bit)   0</a:t>
            </a:r>
            <a:r>
              <a:rPr lang="zh-CN" altLang="en-US" b="0"/>
              <a:t>：未修改     </a:t>
            </a:r>
            <a:r>
              <a:rPr lang="en-US" altLang="zh-CN" b="0"/>
              <a:t>1</a:t>
            </a:r>
            <a:r>
              <a:rPr lang="zh-CN" altLang="en-US" b="0"/>
              <a:t>：修改</a:t>
            </a:r>
            <a:endParaRPr lang="en-US" altLang="zh-CN" b="0"/>
          </a:p>
          <a:p>
            <a:pPr marL="457200" lvl="1" indent="0" eaLnBrk="1" hangingPunct="1">
              <a:buFont typeface="Monotype Sorts" pitchFamily="2" charset="2"/>
              <a:buChar char="–"/>
            </a:pPr>
            <a:r>
              <a:rPr lang="zh-CN" altLang="en-US" b="0"/>
              <a:t>访问统计：在近期内被访问的次数，或最近一次访问到现在的时间间隔</a:t>
            </a:r>
            <a:endParaRPr lang="en-US" altLang="zh-CN" b="0"/>
          </a:p>
          <a:p>
            <a:pPr marL="457200" lvl="1" indent="0" eaLnBrk="1" hangingPunct="1">
              <a:buFont typeface="Monotype Sorts" pitchFamily="2" charset="2"/>
              <a:buChar char="–"/>
            </a:pPr>
            <a:endParaRPr lang="en-US" altLang="zh-CN"/>
          </a:p>
          <a:p>
            <a:pPr marL="457200" lvl="1" indent="0" eaLnBrk="1" hangingPunct="1">
              <a:lnSpc>
                <a:spcPct val="90000"/>
              </a:lnSpc>
              <a:buFont typeface="Wingdings" panose="05000000000000000000" pitchFamily="2" charset="2"/>
              <a:buNone/>
            </a:pPr>
            <a:endParaRPr lang="en-US" altLang="zh-CN"/>
          </a:p>
        </p:txBody>
      </p:sp>
      <p:graphicFrame>
        <p:nvGraphicFramePr>
          <p:cNvPr id="33796" name="表格 33795"/>
          <p:cNvGraphicFramePr/>
          <p:nvPr/>
        </p:nvGraphicFramePr>
        <p:xfrm>
          <a:off x="971550" y="4724400"/>
          <a:ext cx="7391400" cy="1584325"/>
        </p:xfrm>
        <a:graphic>
          <a:graphicData uri="http://schemas.openxmlformats.org/drawingml/2006/table">
            <a:tbl>
              <a:tblPr/>
              <a:tblGrid>
                <a:gridCol w="1258888">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258887">
                  <a:extLst>
                    <a:ext uri="{9D8B030D-6E8A-4147-A177-3AD203B41FA5}">
                      <a16:colId xmlns:a16="http://schemas.microsoft.com/office/drawing/2014/main" val="20002"/>
                    </a:ext>
                  </a:extLst>
                </a:gridCol>
                <a:gridCol w="1025525">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页号</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物理块号</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存在位</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修改位</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访问统计</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外存地址</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15</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9427">
                                            <p:txEl>
                                              <p:pRg st="0" end="0"/>
                                            </p:txEl>
                                          </p:spTgt>
                                        </p:tgtEl>
                                        <p:attrNameLst>
                                          <p:attrName>style.visibility</p:attrName>
                                        </p:attrNameLst>
                                      </p:cBhvr>
                                      <p:to>
                                        <p:strVal val="visible"/>
                                      </p:to>
                                    </p:set>
                                    <p:animEffect transition="in" filter="blinds(horizontal)">
                                      <p:cBhvr>
                                        <p:cTn id="7" dur="500"/>
                                        <p:tgtEl>
                                          <p:spTgt spid="3594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9427">
                                            <p:txEl>
                                              <p:pRg st="1" end="1"/>
                                            </p:txEl>
                                          </p:spTgt>
                                        </p:tgtEl>
                                        <p:attrNameLst>
                                          <p:attrName>style.visibility</p:attrName>
                                        </p:attrNameLst>
                                      </p:cBhvr>
                                      <p:to>
                                        <p:strVal val="visible"/>
                                      </p:to>
                                    </p:set>
                                    <p:animEffect transition="in" filter="blinds(horizontal)">
                                      <p:cBhvr>
                                        <p:cTn id="12" dur="500"/>
                                        <p:tgtEl>
                                          <p:spTgt spid="3594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9427">
                                            <p:txEl>
                                              <p:pRg st="2" end="2"/>
                                            </p:txEl>
                                          </p:spTgt>
                                        </p:tgtEl>
                                        <p:attrNameLst>
                                          <p:attrName>style.visibility</p:attrName>
                                        </p:attrNameLst>
                                      </p:cBhvr>
                                      <p:to>
                                        <p:strVal val="visible"/>
                                      </p:to>
                                    </p:set>
                                    <p:animEffect transition="in" filter="blinds(horizontal)">
                                      <p:cBhvr>
                                        <p:cTn id="17" dur="500"/>
                                        <p:tgtEl>
                                          <p:spTgt spid="3594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9427">
                                            <p:txEl>
                                              <p:pRg st="3" end="3"/>
                                            </p:txEl>
                                          </p:spTgt>
                                        </p:tgtEl>
                                        <p:attrNameLst>
                                          <p:attrName>style.visibility</p:attrName>
                                        </p:attrNameLst>
                                      </p:cBhvr>
                                      <p:to>
                                        <p:strVal val="visible"/>
                                      </p:to>
                                    </p:set>
                                    <p:animEffect transition="in" filter="blinds(horizontal)">
                                      <p:cBhvr>
                                        <p:cTn id="22" dur="500"/>
                                        <p:tgtEl>
                                          <p:spTgt spid="3594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59427">
                                            <p:txEl>
                                              <p:pRg st="4" end="4"/>
                                            </p:txEl>
                                          </p:spTgt>
                                        </p:tgtEl>
                                        <p:attrNameLst>
                                          <p:attrName>style.visibility</p:attrName>
                                        </p:attrNameLst>
                                      </p:cBhvr>
                                      <p:to>
                                        <p:strVal val="visible"/>
                                      </p:to>
                                    </p:set>
                                    <p:animEffect transition="in" filter="blinds(horizontal)">
                                      <p:cBhvr>
                                        <p:cTn id="27" dur="500"/>
                                        <p:tgtEl>
                                          <p:spTgt spid="3594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build="p" bldLvl="2"/>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18</a:t>
            </a:fld>
            <a:endParaRPr lang="zh-CN" altLang="en-US" sz="1400" b="0">
              <a:latin typeface="Tahoma" panose="020B0604030504040204" pitchFamily="34" charset="0"/>
              <a:ea typeface="宋体" panose="02010600030101010101" pitchFamily="2" charset="-122"/>
            </a:endParaRPr>
          </a:p>
        </p:txBody>
      </p:sp>
      <p:sp>
        <p:nvSpPr>
          <p:cNvPr id="34818"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8.1</a:t>
            </a:r>
            <a:r>
              <a:rPr lang="zh-CN" altLang="en-US"/>
              <a:t>虚拟页式存储过程</a:t>
            </a:r>
          </a:p>
        </p:txBody>
      </p:sp>
      <p:pic>
        <p:nvPicPr>
          <p:cNvPr id="121860" name="Picture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471613"/>
            <a:ext cx="6408738" cy="4986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19</a:t>
            </a:fld>
            <a:endParaRPr lang="zh-CN" altLang="en-US" sz="1400" b="0">
              <a:latin typeface="Tahoma" panose="020B0604030504040204" pitchFamily="34" charset="0"/>
              <a:ea typeface="宋体" panose="02010600030101010101" pitchFamily="2" charset="-122"/>
            </a:endParaRPr>
          </a:p>
        </p:txBody>
      </p:sp>
      <p:sp>
        <p:nvSpPr>
          <p:cNvPr id="35842"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8.1</a:t>
            </a:r>
            <a:r>
              <a:rPr lang="zh-CN" altLang="en-US"/>
              <a:t>虚拟页式存储过程</a:t>
            </a:r>
          </a:p>
        </p:txBody>
      </p:sp>
      <p:sp>
        <p:nvSpPr>
          <p:cNvPr id="35843" name="Rectangle 3"/>
          <p:cNvSpPr>
            <a:spLocks noGrp="1" noChangeArrowheads="1"/>
          </p:cNvSpPr>
          <p:nvPr>
            <p:ph idx="1"/>
          </p:nvPr>
        </p:nvSpPr>
        <p:spPr/>
        <p:txBody>
          <a:bodyPr vert="horz" wrap="square" lIns="91440" tIns="45720" rIns="91440" bIns="45720" numCol="1" anchor="t" anchorCtr="0" compatLnSpc="1"/>
          <a:lstStyle/>
          <a:p>
            <a:pPr marL="0" indent="0" eaLnBrk="1" hangingPunct="1">
              <a:buNone/>
            </a:pPr>
            <a:r>
              <a:rPr lang="zh-CN" altLang="en-US" sz="2400" b="0"/>
              <a:t>当要访问的页不在内存时，产生</a:t>
            </a:r>
            <a:r>
              <a:rPr lang="zh-CN" altLang="en-US" sz="2400" b="0">
                <a:latin typeface="楷体_GB2312" pitchFamily="49" charset="-122"/>
              </a:rPr>
              <a:t>缺页中断。</a:t>
            </a:r>
          </a:p>
          <a:p>
            <a:pPr marL="0" indent="0" eaLnBrk="1" hangingPunct="1">
              <a:buFont typeface="Wingdings" panose="05000000000000000000" pitchFamily="2" charset="2"/>
              <a:buNone/>
            </a:pPr>
            <a:r>
              <a:rPr lang="zh-CN" altLang="en-US" sz="2400" b="0"/>
              <a:t>缺页中断的处理过程：</a:t>
            </a:r>
          </a:p>
          <a:p>
            <a:pPr lvl="1" eaLnBrk="1" hangingPunct="1"/>
            <a:r>
              <a:rPr lang="zh-CN" altLang="en-US" b="0"/>
              <a:t>保存现场。</a:t>
            </a:r>
          </a:p>
          <a:p>
            <a:pPr lvl="1" eaLnBrk="1" hangingPunct="1"/>
            <a:r>
              <a:rPr lang="zh-CN" altLang="en-US" b="0"/>
              <a:t>在内存中找到一个空闲块。如果没有，通过页面置换算法选择一页换出内存。</a:t>
            </a:r>
          </a:p>
          <a:p>
            <a:pPr lvl="1" eaLnBrk="1" hangingPunct="1"/>
            <a:r>
              <a:rPr lang="zh-CN" altLang="en-US" b="0"/>
              <a:t>从磁盘上找到要调入的页。</a:t>
            </a:r>
          </a:p>
          <a:p>
            <a:pPr lvl="1" eaLnBrk="1" hangingPunct="1"/>
            <a:r>
              <a:rPr lang="zh-CN" altLang="en-US" b="0"/>
              <a:t>读磁盘到内存。</a:t>
            </a:r>
          </a:p>
          <a:p>
            <a:pPr lvl="1" eaLnBrk="1" hangingPunct="1"/>
            <a:r>
              <a:rPr lang="zh-CN" altLang="en-US" b="0"/>
              <a:t>恢复现场。</a:t>
            </a:r>
          </a:p>
          <a:p>
            <a:pPr lvl="1" eaLnBrk="1" hangingPunct="1"/>
            <a:r>
              <a:rPr lang="zh-CN" altLang="en-US" b="0"/>
              <a:t>重新调度运行。</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20</a:t>
            </a:fld>
            <a:endParaRPr lang="zh-CN" altLang="en-US" sz="1400" b="0">
              <a:latin typeface="Tahoma" panose="020B0604030504040204" pitchFamily="34" charset="0"/>
              <a:ea typeface="宋体" panose="02010600030101010101" pitchFamily="2" charset="-122"/>
            </a:endParaRPr>
          </a:p>
        </p:txBody>
      </p:sp>
      <p:sp>
        <p:nvSpPr>
          <p:cNvPr id="36866" name="Rectangle 3"/>
          <p:cNvSpPr>
            <a:spLocks noGrp="1"/>
          </p:cNvSpPr>
          <p:nvPr>
            <p:ph idx="1"/>
          </p:nvPr>
        </p:nvSpPr>
        <p:spPr>
          <a:xfrm>
            <a:off x="684213" y="1736725"/>
            <a:ext cx="8231187" cy="4572000"/>
          </a:xfrm>
        </p:spPr>
        <p:txBody>
          <a:bodyPr vert="horz" wrap="square" lIns="91440" tIns="45720" rIns="91440" bIns="45720" anchor="t" anchorCtr="0"/>
          <a:lstStyle/>
          <a:p>
            <a:pPr marL="0" indent="0">
              <a:buFont typeface="Wingdings" panose="05000000000000000000" pitchFamily="2" charset="2"/>
              <a:buNone/>
            </a:pPr>
            <a:r>
              <a:rPr lang="en-US" altLang="zh-CN" sz="2400" b="0"/>
              <a:t>1.</a:t>
            </a:r>
            <a:r>
              <a:rPr lang="zh-CN" altLang="en-US" sz="2400" b="0"/>
              <a:t>在缺页处理过程中，操作系统执行的操作可能是（</a:t>
            </a:r>
            <a:r>
              <a:rPr lang="en-US" altLang="zh-CN" sz="2400" b="0"/>
              <a:t> </a:t>
            </a:r>
            <a:r>
              <a:rPr lang="zh-CN" altLang="en-US" sz="2400" b="0"/>
              <a:t>）。</a:t>
            </a:r>
          </a:p>
          <a:p>
            <a:pPr marL="0" indent="0">
              <a:buNone/>
            </a:pPr>
            <a:r>
              <a:rPr lang="en-US" altLang="zh-CN" sz="2400" b="0"/>
              <a:t>Ⅰ</a:t>
            </a:r>
            <a:r>
              <a:rPr lang="zh-CN" altLang="en-US" sz="2400" b="0"/>
              <a:t>．修改页表        </a:t>
            </a:r>
            <a:r>
              <a:rPr lang="en-US" altLang="zh-CN" sz="2400" b="0"/>
              <a:t>Ⅱ</a:t>
            </a:r>
            <a:r>
              <a:rPr lang="zh-CN" altLang="en-US" sz="2400" b="0"/>
              <a:t>．磁盘</a:t>
            </a:r>
            <a:r>
              <a:rPr lang="en-US" altLang="zh-CN" sz="2400" b="0"/>
              <a:t>I/O        Ⅲ</a:t>
            </a:r>
            <a:r>
              <a:rPr lang="zh-CN" altLang="en-US" sz="2400" b="0"/>
              <a:t>．分配空闲块</a:t>
            </a:r>
            <a:endParaRPr lang="en-US" altLang="zh-CN" sz="2400" b="0"/>
          </a:p>
          <a:p>
            <a:pPr marL="0" indent="0" eaLnBrk="1" hangingPunct="1">
              <a:buFont typeface="Wingdings" panose="05000000000000000000" pitchFamily="2" charset="2"/>
              <a:buNone/>
            </a:pPr>
            <a:r>
              <a:rPr lang="en-US" altLang="zh-CN" sz="2400" b="0"/>
              <a:t>A</a:t>
            </a:r>
            <a:r>
              <a:rPr lang="zh-CN" altLang="en-US" sz="2400" b="0"/>
              <a:t>仅</a:t>
            </a:r>
            <a:r>
              <a:rPr lang="en-US" altLang="zh-CN" sz="2400" b="0"/>
              <a:t>Ⅰ</a:t>
            </a:r>
            <a:r>
              <a:rPr lang="zh-CN" altLang="en-US" sz="2400" b="0"/>
              <a:t>、</a:t>
            </a:r>
            <a:r>
              <a:rPr lang="en-US" altLang="zh-CN" sz="2400" b="0"/>
              <a:t>Ⅱ</a:t>
            </a:r>
          </a:p>
          <a:p>
            <a:pPr marL="0" indent="0" eaLnBrk="1" hangingPunct="1">
              <a:buFont typeface="Wingdings" panose="05000000000000000000" pitchFamily="2" charset="2"/>
              <a:buNone/>
            </a:pPr>
            <a:r>
              <a:rPr lang="en-US" altLang="zh-CN" sz="2400" b="0"/>
              <a:t>B</a:t>
            </a:r>
            <a:r>
              <a:rPr lang="zh-CN" altLang="en-US" sz="2400" b="0"/>
              <a:t>仅</a:t>
            </a:r>
            <a:r>
              <a:rPr lang="en-US" altLang="zh-CN" sz="2400" b="0"/>
              <a:t>Ⅱ</a:t>
            </a:r>
          </a:p>
          <a:p>
            <a:pPr marL="0" indent="0" eaLnBrk="1" hangingPunct="1">
              <a:buFont typeface="Wingdings" panose="05000000000000000000" pitchFamily="2" charset="2"/>
              <a:buNone/>
            </a:pPr>
            <a:r>
              <a:rPr lang="en-US" altLang="zh-CN" sz="2400" b="0"/>
              <a:t>C</a:t>
            </a:r>
            <a:r>
              <a:rPr lang="zh-CN" altLang="en-US" sz="2400" b="0"/>
              <a:t>仅</a:t>
            </a:r>
            <a:r>
              <a:rPr lang="en-US" altLang="zh-CN" sz="2400" b="0"/>
              <a:t>Ⅲ</a:t>
            </a:r>
          </a:p>
          <a:p>
            <a:pPr marL="0" indent="0" eaLnBrk="1" hangingPunct="1">
              <a:buFont typeface="Wingdings" panose="05000000000000000000" pitchFamily="2" charset="2"/>
              <a:buNone/>
            </a:pPr>
            <a:r>
              <a:rPr lang="en-US" altLang="zh-CN" sz="2400" b="0"/>
              <a:t>DⅠ</a:t>
            </a:r>
            <a:r>
              <a:rPr lang="zh-CN" altLang="en-US" sz="2400" b="0"/>
              <a:t>、</a:t>
            </a:r>
            <a:r>
              <a:rPr lang="en-US" altLang="zh-CN" sz="2400" b="0"/>
              <a:t>Ⅱ</a:t>
            </a:r>
            <a:r>
              <a:rPr lang="zh-CN" altLang="en-US" sz="2400" b="0"/>
              <a:t>和</a:t>
            </a:r>
            <a:r>
              <a:rPr lang="en-US" altLang="zh-CN" sz="2400" b="0"/>
              <a:t>Ⅲ</a:t>
            </a:r>
            <a:endParaRPr lang="zh-CN" altLang="en-US" sz="2400" b="0"/>
          </a:p>
        </p:txBody>
      </p:sp>
      <p:sp>
        <p:nvSpPr>
          <p:cNvPr id="36867" name="Rectangle 2"/>
          <p:cNvSpPr>
            <a:spLocks noGrp="1"/>
          </p:cNvSpPr>
          <p:nvPr>
            <p:ph type="title"/>
          </p:nvPr>
        </p:nvSpPr>
        <p:spPr>
          <a:xfrm>
            <a:off x="406400" y="198438"/>
            <a:ext cx="8204200" cy="1143000"/>
          </a:xfrm>
        </p:spPr>
        <p:txBody>
          <a:bodyPr vert="horz" wrap="square" lIns="91440" tIns="45720" rIns="91440" bIns="45720" anchor="b" anchorCtr="0"/>
          <a:lstStyle/>
          <a:p>
            <a:pPr eaLnBrk="1" hangingPunct="1"/>
            <a:r>
              <a:rPr lang="nb-NO" altLang="zh-CN"/>
              <a:t>5.</a:t>
            </a:r>
            <a:r>
              <a:rPr lang="en-US" altLang="zh-CN"/>
              <a:t>8.1</a:t>
            </a:r>
            <a:r>
              <a:rPr lang="zh-CN" altLang="en-US"/>
              <a:t>虚拟页式存储过程</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文本框 4"/>
          <p:cNvSpPr txBox="1"/>
          <p:nvPr>
            <p:custDataLst>
              <p:tags r:id="rId2"/>
            </p:custDataLst>
          </p:nvPr>
        </p:nvSpPr>
        <p:spPr>
          <a:xfrm>
            <a:off x="684213" y="1055688"/>
            <a:ext cx="7991475" cy="1941512"/>
          </a:xfrm>
          <a:prstGeom prst="rect">
            <a:avLst/>
          </a:prstGeom>
          <a:noFill/>
          <a:ln w="9525">
            <a:noFill/>
          </a:ln>
        </p:spPr>
        <p:txBody>
          <a:bodyPr anchor="ctr" anchorCtr="0"/>
          <a:lstStyle/>
          <a:p>
            <a:pPr eaLnBrk="0" hangingPunct="0">
              <a:buClrTx/>
              <a:buFontTx/>
            </a:pPr>
            <a:r>
              <a:rPr lang="en-US" altLang="zh-CN" sz="2800" dirty="0">
                <a:latin typeface="Times New Roman" panose="02020603050405020304" pitchFamily="18" charset="0"/>
              </a:rPr>
              <a:t>1 </a:t>
            </a:r>
            <a:r>
              <a:rPr lang="zh-CN" altLang="en-US" sz="2800" dirty="0">
                <a:latin typeface="Times New Roman" panose="02020603050405020304" pitchFamily="18" charset="0"/>
              </a:rPr>
              <a:t>在缺页处理过程中，操作系统执行的操作可能是（</a:t>
            </a:r>
            <a:r>
              <a:rPr lang="en-US" altLang="zh-CN" sz="2800" dirty="0">
                <a:latin typeface="Times New Roman" panose="02020603050405020304" pitchFamily="18" charset="0"/>
              </a:rPr>
              <a:t> </a:t>
            </a:r>
            <a:r>
              <a:rPr lang="zh-CN" altLang="en-US" sz="2800" dirty="0">
                <a:latin typeface="Times New Roman" panose="02020603050405020304" pitchFamily="18" charset="0"/>
              </a:rPr>
              <a:t>）。</a:t>
            </a:r>
            <a:r>
              <a:rPr lang="en-US" altLang="zh-CN" sz="2800" dirty="0">
                <a:latin typeface="Times New Roman" panose="02020603050405020304" pitchFamily="18" charset="0"/>
              </a:rPr>
              <a:t>Ⅰ</a:t>
            </a:r>
            <a:r>
              <a:rPr lang="zh-CN" altLang="en-US" sz="2800" dirty="0">
                <a:latin typeface="Times New Roman" panose="02020603050405020304" pitchFamily="18" charset="0"/>
              </a:rPr>
              <a:t>．修改页表        </a:t>
            </a:r>
            <a:r>
              <a:rPr lang="en-US" altLang="zh-CN" sz="2800" dirty="0">
                <a:latin typeface="Times New Roman" panose="02020603050405020304" pitchFamily="18" charset="0"/>
              </a:rPr>
              <a:t>Ⅱ</a:t>
            </a:r>
            <a:r>
              <a:rPr lang="zh-CN" altLang="en-US" sz="2800" dirty="0">
                <a:latin typeface="Times New Roman" panose="02020603050405020304" pitchFamily="18" charset="0"/>
              </a:rPr>
              <a:t>．磁盘</a:t>
            </a:r>
            <a:r>
              <a:rPr lang="en-US" altLang="zh-CN" sz="2800" dirty="0">
                <a:latin typeface="Times New Roman" panose="02020603050405020304" pitchFamily="18" charset="0"/>
              </a:rPr>
              <a:t>I/O        Ⅲ</a:t>
            </a:r>
            <a:r>
              <a:rPr lang="zh-CN" altLang="en-US" sz="2800" dirty="0">
                <a:latin typeface="Times New Roman" panose="02020603050405020304" pitchFamily="18" charset="0"/>
              </a:rPr>
              <a:t>．分配空闲块</a:t>
            </a:r>
            <a:endParaRPr lang="en-US" altLang="zh-CN" sz="2800" dirty="0">
              <a:latin typeface="Times New Roman" panose="02020603050405020304" pitchFamily="18" charset="0"/>
            </a:endParaRPr>
          </a:p>
        </p:txBody>
      </p:sp>
      <p:sp>
        <p:nvSpPr>
          <p:cNvPr id="34818" name="文本框 5"/>
          <p:cNvSpPr txBox="1"/>
          <p:nvPr>
            <p:custDataLst>
              <p:tags r:id="rId3"/>
            </p:custDataLst>
          </p:nvPr>
        </p:nvSpPr>
        <p:spPr>
          <a:xfrm>
            <a:off x="1828800" y="2786063"/>
            <a:ext cx="6400800" cy="642937"/>
          </a:xfrm>
          <a:prstGeom prst="rect">
            <a:avLst/>
          </a:prstGeom>
          <a:noFill/>
          <a:ln w="9525">
            <a:noFill/>
          </a:ln>
        </p:spPr>
        <p:txBody>
          <a:bodyPr anchor="ctr" anchorCtr="0"/>
          <a:lstStyle/>
          <a:p>
            <a:pPr eaLnBrk="0" hangingPunct="0">
              <a:buClrTx/>
              <a:buFontTx/>
            </a:pPr>
            <a:r>
              <a:rPr lang="zh-CN" altLang="en-US" sz="2800" dirty="0">
                <a:latin typeface="Times New Roman" panose="02020603050405020304" pitchFamily="18" charset="0"/>
              </a:rPr>
              <a:t>仅</a:t>
            </a:r>
            <a:r>
              <a:rPr lang="en-US" altLang="zh-CN" sz="2800" dirty="0">
                <a:latin typeface="Times New Roman" panose="02020603050405020304" pitchFamily="18" charset="0"/>
              </a:rPr>
              <a:t>Ⅰ</a:t>
            </a:r>
            <a:r>
              <a:rPr lang="zh-CN" altLang="en-US" sz="2800" dirty="0">
                <a:latin typeface="Times New Roman" panose="02020603050405020304" pitchFamily="18" charset="0"/>
              </a:rPr>
              <a:t>、</a:t>
            </a:r>
            <a:r>
              <a:rPr lang="en-US" altLang="zh-CN" sz="2800" dirty="0">
                <a:latin typeface="Times New Roman" panose="02020603050405020304" pitchFamily="18" charset="0"/>
              </a:rPr>
              <a:t>Ⅱ</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34819" name="文本框 6"/>
          <p:cNvSpPr txBox="1"/>
          <p:nvPr>
            <p:custDataLst>
              <p:tags r:id="rId4"/>
            </p:custDataLst>
          </p:nvPr>
        </p:nvSpPr>
        <p:spPr>
          <a:xfrm>
            <a:off x="1828800" y="3643313"/>
            <a:ext cx="6400800" cy="642937"/>
          </a:xfrm>
          <a:prstGeom prst="rect">
            <a:avLst/>
          </a:prstGeom>
          <a:noFill/>
          <a:ln w="9525">
            <a:noFill/>
          </a:ln>
        </p:spPr>
        <p:txBody>
          <a:bodyPr anchor="ctr" anchorCtr="0"/>
          <a:lstStyle/>
          <a:p>
            <a:pPr eaLnBrk="0" hangingPunct="0">
              <a:buClrTx/>
              <a:buFontTx/>
            </a:pPr>
            <a:r>
              <a:rPr lang="zh-CN" altLang="en-US" sz="2800" dirty="0">
                <a:latin typeface="Times New Roman" panose="02020603050405020304" pitchFamily="18" charset="0"/>
              </a:rPr>
              <a:t>仅</a:t>
            </a:r>
            <a:r>
              <a:rPr lang="en-US" altLang="zh-CN" sz="2800" dirty="0">
                <a:latin typeface="Times New Roman" panose="02020603050405020304" pitchFamily="18" charset="0"/>
              </a:rPr>
              <a:t>Ⅱ</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34820" name="文本框 7"/>
          <p:cNvSpPr txBox="1"/>
          <p:nvPr>
            <p:custDataLst>
              <p:tags r:id="rId5"/>
            </p:custDataLst>
          </p:nvPr>
        </p:nvSpPr>
        <p:spPr>
          <a:xfrm>
            <a:off x="1828800" y="4500563"/>
            <a:ext cx="6400800" cy="642937"/>
          </a:xfrm>
          <a:prstGeom prst="rect">
            <a:avLst/>
          </a:prstGeom>
          <a:noFill/>
          <a:ln w="9525">
            <a:noFill/>
          </a:ln>
        </p:spPr>
        <p:txBody>
          <a:bodyPr anchor="ctr" anchorCtr="0"/>
          <a:lstStyle/>
          <a:p>
            <a:pPr eaLnBrk="0" hangingPunct="0">
              <a:buClrTx/>
              <a:buFontTx/>
            </a:pPr>
            <a:r>
              <a:rPr lang="zh-CN" altLang="en-US" sz="2800" dirty="0">
                <a:latin typeface="Times New Roman" panose="02020603050405020304" pitchFamily="18" charset="0"/>
              </a:rPr>
              <a:t>仅</a:t>
            </a:r>
            <a:r>
              <a:rPr lang="en-US" altLang="zh-CN" sz="2800" dirty="0">
                <a:latin typeface="Times New Roman" panose="02020603050405020304" pitchFamily="18" charset="0"/>
              </a:rPr>
              <a:t>Ⅲ</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34821" name="文本框 8"/>
          <p:cNvSpPr txBox="1"/>
          <p:nvPr>
            <p:custDataLst>
              <p:tags r:id="rId6"/>
            </p:custDataLst>
          </p:nvPr>
        </p:nvSpPr>
        <p:spPr>
          <a:xfrm>
            <a:off x="1828800" y="5357813"/>
            <a:ext cx="6400800" cy="642937"/>
          </a:xfrm>
          <a:prstGeom prst="rect">
            <a:avLst/>
          </a:prstGeom>
          <a:noFill/>
          <a:ln w="9525">
            <a:noFill/>
          </a:ln>
        </p:spPr>
        <p:txBody>
          <a:bodyPr anchor="ctr" anchorCtr="0"/>
          <a:lstStyle/>
          <a:p>
            <a:pPr>
              <a:buClrTx/>
              <a:buFont typeface="Wingdings" panose="05000000000000000000" pitchFamily="2" charset="2"/>
            </a:pPr>
            <a:r>
              <a:rPr lang="en-US" altLang="zh-CN" sz="2800" dirty="0">
                <a:latin typeface="Times New Roman" panose="02020603050405020304" pitchFamily="18" charset="0"/>
              </a:rPr>
              <a:t>Ⅰ</a:t>
            </a:r>
            <a:r>
              <a:rPr lang="zh-CN" altLang="en-US" sz="2800" dirty="0">
                <a:latin typeface="Times New Roman" panose="02020603050405020304" pitchFamily="18" charset="0"/>
              </a:rPr>
              <a:t>、</a:t>
            </a:r>
            <a:r>
              <a:rPr lang="en-US" altLang="zh-CN" sz="2800" dirty="0">
                <a:latin typeface="Times New Roman" panose="02020603050405020304" pitchFamily="18" charset="0"/>
              </a:rPr>
              <a:t>Ⅱ</a:t>
            </a:r>
            <a:r>
              <a:rPr lang="zh-CN" altLang="en-US" sz="2800" dirty="0">
                <a:latin typeface="Times New Roman" panose="02020603050405020304" pitchFamily="18" charset="0"/>
              </a:rPr>
              <a:t>和</a:t>
            </a:r>
            <a:r>
              <a:rPr lang="en-US" altLang="zh-CN" sz="2800" dirty="0">
                <a:latin typeface="Times New Roman" panose="02020603050405020304" pitchFamily="18" charset="0"/>
              </a:rPr>
              <a:t>Ⅲ</a:t>
            </a:r>
            <a:endParaRPr lang="zh-CN" altLang="en-US" sz="2800" dirty="0">
              <a:latin typeface="Times New Roman" panose="02020603050405020304" pitchFamily="18" charset="0"/>
            </a:endParaRPr>
          </a:p>
        </p:txBody>
      </p:sp>
      <p:sp>
        <p:nvSpPr>
          <p:cNvPr id="34822" name="椭圆 9"/>
          <p:cNvSpPr>
            <a:spLocks noChangeAspect="1"/>
          </p:cNvSpPr>
          <p:nvPr>
            <p:custDataLst>
              <p:tags r:id="rId7"/>
            </p:custDataLst>
          </p:nvPr>
        </p:nvSpPr>
        <p:spPr>
          <a:xfrm>
            <a:off x="1114425" y="284956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4823" name="椭圆 10"/>
          <p:cNvSpPr>
            <a:spLocks noChangeAspect="1"/>
          </p:cNvSpPr>
          <p:nvPr>
            <p:custDataLst>
              <p:tags r:id="rId8"/>
            </p:custDataLst>
          </p:nvPr>
        </p:nvSpPr>
        <p:spPr>
          <a:xfrm>
            <a:off x="1114425" y="370681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4824" name="椭圆 11"/>
          <p:cNvSpPr>
            <a:spLocks noChangeAspect="1"/>
          </p:cNvSpPr>
          <p:nvPr>
            <p:custDataLst>
              <p:tags r:id="rId9"/>
            </p:custDataLst>
          </p:nvPr>
        </p:nvSpPr>
        <p:spPr>
          <a:xfrm>
            <a:off x="1114425" y="456406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4825" name="椭圆 12"/>
          <p:cNvSpPr>
            <a:spLocks noChangeAspect="1"/>
          </p:cNvSpPr>
          <p:nvPr>
            <p:custDataLst>
              <p:tags r:id="rId10"/>
            </p:custDataLst>
          </p:nvPr>
        </p:nvSpPr>
        <p:spPr>
          <a:xfrm>
            <a:off x="1114425" y="5421313"/>
            <a:ext cx="514350" cy="514350"/>
          </a:xfrm>
          <a:prstGeom prst="ellipse">
            <a:avLst/>
          </a:prstGeom>
          <a:solidFill>
            <a:srgbClr val="00FF00"/>
          </a:solidFill>
          <a:ln w="254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4826" name="圆角矩形 13"/>
          <p:cNvSpPr/>
          <p:nvPr>
            <p:custDataLst>
              <p:tags r:id="rId11"/>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34827" name="组合 18"/>
          <p:cNvGrpSpPr/>
          <p:nvPr/>
        </p:nvGrpSpPr>
        <p:grpSpPr>
          <a:xfrm>
            <a:off x="0" y="0"/>
            <a:ext cx="9144000" cy="635000"/>
            <a:chOff x="0" y="0"/>
            <a:chExt cx="9144000" cy="635000"/>
          </a:xfrm>
        </p:grpSpPr>
        <p:sp>
          <p:nvSpPr>
            <p:cNvPr id="34828" name="TitleBackground"/>
            <p:cNvSpPr/>
            <p:nvPr>
              <p:custDataLst>
                <p:tags r:id="rId13"/>
              </p:custDataLst>
            </p:nvPr>
          </p:nvSpPr>
          <p:spPr>
            <a:xfrm>
              <a:off x="0" y="0"/>
              <a:ext cx="9144000" cy="635000"/>
            </a:xfrm>
            <a:prstGeom prst="rect">
              <a:avLst/>
            </a:prstGeom>
            <a:solidFill>
              <a:srgbClr val="F6F7F8"/>
            </a:solidFill>
            <a:ln w="9525">
              <a:noFill/>
            </a:ln>
          </p:spPr>
          <p:txBody>
            <a:bodyPr lIns="90000" tIns="46800" rIns="90000" bIns="46800" anchor="t" anchorCtr="0"/>
            <a:lstStyle/>
            <a:p>
              <a:pPr eaLnBrk="0" hangingPunct="0">
                <a:buClrTx/>
                <a:buFontTx/>
              </a:pPr>
              <a:endParaRPr lang="zh-CN" altLang="en-US" dirty="0">
                <a:latin typeface="Times New Roman" panose="02020603050405020304" pitchFamily="18" charset="0"/>
              </a:endParaRPr>
            </a:p>
          </p:txBody>
        </p:sp>
        <p:sp>
          <p:nvSpPr>
            <p:cNvPr id="34829" name="ColorBlock"/>
            <p:cNvSpPr/>
            <p:nvPr>
              <p:custDataLst>
                <p:tags r:id="rId14"/>
              </p:custDataLst>
            </p:nvPr>
          </p:nvSpPr>
          <p:spPr>
            <a:xfrm>
              <a:off x="0" y="0"/>
              <a:ext cx="190500" cy="635000"/>
            </a:xfrm>
            <a:prstGeom prst="rect">
              <a:avLst/>
            </a:prstGeom>
            <a:solidFill>
              <a:srgbClr val="639EF4"/>
            </a:solidFill>
            <a:ln w="9525">
              <a:noFill/>
            </a:ln>
          </p:spPr>
          <p:txBody>
            <a:bodyPr lIns="90000" tIns="46800" rIns="90000" bIns="46800" anchor="t" anchorCtr="0"/>
            <a:lstStyle/>
            <a:p>
              <a:pPr eaLnBrk="0" hangingPunct="0">
                <a:buClrTx/>
                <a:buFontTx/>
              </a:pPr>
              <a:endParaRPr lang="zh-CN" altLang="en-US" dirty="0">
                <a:latin typeface="Times New Roman" panose="02020603050405020304" pitchFamily="18" charset="0"/>
              </a:endParaRPr>
            </a:p>
          </p:txBody>
        </p:sp>
        <p:sp>
          <p:nvSpPr>
            <p:cNvPr id="34830" name="TypeText"/>
            <p:cNvSpPr txBox="1"/>
            <p:nvPr>
              <p:custDataLst>
                <p:tags r:id="rId15"/>
              </p:custDataLst>
            </p:nvPr>
          </p:nvSpPr>
          <p:spPr>
            <a:xfrm>
              <a:off x="254000" y="0"/>
              <a:ext cx="1905000" cy="635000"/>
            </a:xfrm>
            <a:prstGeom prst="rect">
              <a:avLst/>
            </a:prstGeom>
            <a:noFill/>
            <a:ln w="9525">
              <a:noFill/>
            </a:ln>
          </p:spPr>
          <p:txBody>
            <a:bodyPr wrap="none" anchor="ctr" anchorCtr="0"/>
            <a:lstStyle/>
            <a:p>
              <a:pPr eaLnBrk="0" hangingPunct="0">
                <a:buClrTx/>
                <a:buFontTx/>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34831" name="TipText"/>
            <p:cNvSpPr txBox="1"/>
            <p:nvPr>
              <p:custDataLst>
                <p:tags r:id="rId16"/>
              </p:custDataLst>
            </p:nvPr>
          </p:nvSpPr>
          <p:spPr>
            <a:xfrm>
              <a:off x="1525905" y="109220"/>
              <a:ext cx="2286000" cy="508000"/>
            </a:xfrm>
            <a:prstGeom prst="rect">
              <a:avLst/>
            </a:prstGeom>
            <a:noFill/>
            <a:ln w="9525">
              <a:noFill/>
            </a:ln>
          </p:spPr>
          <p:txBody>
            <a:bodyPr wrap="none" anchor="ctr" anchorCtr="0"/>
            <a:lstStyle/>
            <a:p>
              <a:pPr eaLnBrk="0" hangingPunct="0">
                <a:buClrTx/>
                <a:buFontTx/>
              </a:pPr>
              <a:r>
                <a:rPr lang="en-US" altLang="zh-CN" sz="2000" dirty="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dirty="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4832" name="图片 3"/>
          <p:cNvPicPr/>
          <p:nvPr>
            <p:custDataLst>
              <p:tags r:id="rId12"/>
            </p:custDataLst>
          </p:nvPr>
        </p:nvPicPr>
        <p:blipFill>
          <a:blip r:embed="rId18"/>
          <a:stretch>
            <a:fillRect/>
          </a:stretch>
        </p:blipFill>
        <p:spPr>
          <a:xfrm>
            <a:off x="7594600" y="63500"/>
            <a:ext cx="1422400" cy="508000"/>
          </a:xfrm>
          <a:prstGeom prst="rect">
            <a:avLst/>
          </a:prstGeom>
          <a:noFill/>
          <a:ln w="9525">
            <a:noFill/>
          </a:ln>
        </p:spPr>
      </p:pic>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3"/>
          <p:cNvSpPr>
            <a:spLocks noGrp="1"/>
          </p:cNvSpPr>
          <p:nvPr>
            <p:ph type="sldNum"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r">
              <a:buClrTx/>
              <a:buFontTx/>
            </a:pPr>
            <a:fld id="{9A0DB2DC-4C9A-4742-B13C-FB6460FD3503}" type="slidenum">
              <a:rPr lang="zh-CN" altLang="en-US" sz="1400" dirty="0">
                <a:solidFill>
                  <a:schemeClr val="bg2"/>
                </a:solidFill>
                <a:latin typeface="Tahoma" panose="020B0604030504040204" pitchFamily="34" charset="0"/>
                <a:ea typeface="宋体" panose="02010600030101010101" pitchFamily="2" charset="-122"/>
              </a:rPr>
              <a:t>22</a:t>
            </a:fld>
            <a:endParaRPr lang="zh-CN" altLang="en-US" sz="1400" dirty="0">
              <a:solidFill>
                <a:schemeClr val="bg2"/>
              </a:solidFill>
              <a:latin typeface="Tahoma" panose="020B0604030504040204" pitchFamily="34" charset="0"/>
              <a:ea typeface="宋体" panose="02010600030101010101" pitchFamily="2" charset="-122"/>
            </a:endParaRPr>
          </a:p>
        </p:txBody>
      </p:sp>
      <p:sp>
        <p:nvSpPr>
          <p:cNvPr id="61442" name="文本框 6"/>
          <p:cNvSpPr txBox="1"/>
          <p:nvPr>
            <p:custDataLst>
              <p:tags r:id="rId2"/>
            </p:custDataLst>
          </p:nvPr>
        </p:nvSpPr>
        <p:spPr>
          <a:xfrm>
            <a:off x="914400" y="2438400"/>
            <a:ext cx="7315200" cy="2143125"/>
          </a:xfrm>
          <a:prstGeom prst="rect">
            <a:avLst/>
          </a:prstGeom>
          <a:noFill/>
          <a:ln w="9525">
            <a:noFill/>
          </a:ln>
        </p:spPr>
        <p:txBody>
          <a:bodyPr anchor="ctr" anchorCtr="0"/>
          <a:lstStyle/>
          <a:p>
            <a:pPr eaLnBrk="0" hangingPunct="0">
              <a:buClrTx/>
              <a:buFontTx/>
            </a:pPr>
            <a:endParaRPr lang="zh-CN" altLang="en-US" sz="20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1443" name="矩形: 圆角 7"/>
          <p:cNvSpPr/>
          <p:nvPr>
            <p:custDataLst>
              <p:tags r:id="rId3"/>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miter/>
            <a:headEnd type="none" w="med" len="med"/>
            <a:tailEnd type="none" w="med" len="med"/>
          </a:ln>
        </p:spPr>
        <p:txBody>
          <a:bodyPr wrap="none" anchor="ctr" anchorCtr="1"/>
          <a:lstStyle/>
          <a:p>
            <a:pPr>
              <a:buClrTx/>
              <a:buFontTx/>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作答</a:t>
            </a:r>
          </a:p>
        </p:txBody>
      </p:sp>
      <p:sp>
        <p:nvSpPr>
          <p:cNvPr id="61444" name="矩形 13"/>
          <p:cNvSpPr/>
          <p:nvPr>
            <p:custDataLst>
              <p:tags r:id="rId4"/>
            </p:custDataLst>
          </p:nvPr>
        </p:nvSpPr>
        <p:spPr>
          <a:xfrm>
            <a:off x="0" y="5849938"/>
            <a:ext cx="9144000" cy="365125"/>
          </a:xfrm>
          <a:prstGeom prst="rect">
            <a:avLst/>
          </a:prstGeom>
          <a:solidFill>
            <a:srgbClr val="FBFAEF"/>
          </a:solidFill>
          <a:ln w="9525">
            <a:noFill/>
          </a:ln>
        </p:spPr>
        <p:txBody>
          <a:bodyPr wrap="none" anchor="ctr" anchorCtr="1"/>
          <a:lstStyle/>
          <a:p>
            <a:pPr>
              <a:buClrTx/>
              <a:buFontTx/>
            </a:pPr>
            <a:r>
              <a:rPr lang="zh-CN" altLang="en-US" sz="1200" dirty="0">
                <a:solidFill>
                  <a:srgbClr val="F84F41"/>
                </a:solidFill>
                <a:latin typeface="微软雅黑" panose="020B0503020204020204" charset="-122"/>
                <a:ea typeface="微软雅黑" panose="020B0503020204020204" charset="-122"/>
                <a:sym typeface="微软雅黑" panose="020B0503020204020204" charset="-122"/>
              </a:rPr>
              <a:t>正常使用主观题需</a:t>
            </a:r>
            <a:r>
              <a:rPr lang="en-US" altLang="zh-CN" sz="1200" dirty="0">
                <a:solidFill>
                  <a:srgbClr val="F84F41"/>
                </a:solidFill>
                <a:latin typeface="微软雅黑" panose="020B0503020204020204" charset="-122"/>
                <a:ea typeface="微软雅黑" panose="020B0503020204020204" charset="-122"/>
                <a:sym typeface="微软雅黑" panose="020B0503020204020204" charset="-122"/>
              </a:rPr>
              <a:t>2.0</a:t>
            </a:r>
            <a:r>
              <a:rPr lang="zh-CN" altLang="en-US" sz="1200" dirty="0">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61446" name="矩形 15"/>
          <p:cNvSpPr/>
          <p:nvPr>
            <p:custDataLst>
              <p:tags r:id="rId5"/>
            </p:custDataLst>
          </p:nvPr>
        </p:nvSpPr>
        <p:spPr>
          <a:xfrm>
            <a:off x="9525000" y="0"/>
            <a:ext cx="3840163" cy="6858000"/>
          </a:xfrm>
          <a:prstGeom prst="rect">
            <a:avLst/>
          </a:prstGeom>
          <a:solidFill>
            <a:srgbClr val="FFFFFF"/>
          </a:solidFill>
          <a:ln w="12700" cap="flat" cmpd="sng">
            <a:solidFill>
              <a:srgbClr val="9B9B9B"/>
            </a:solidFill>
            <a:prstDash val="solid"/>
            <a:miter/>
            <a:headEnd type="none" w="med" len="med"/>
            <a:tailEnd type="none" w="med" len="med"/>
          </a:ln>
        </p:spPr>
        <p:txBody>
          <a:bodyPr wrap="none" anchor="t" anchorCtr="0"/>
          <a:lstStyle/>
          <a:p>
            <a:pPr>
              <a:buClrTx/>
              <a:buFontTx/>
            </a:pPr>
            <a:endParaRPr lang="zh-CN" altLang="en-US" dirty="0">
              <a:solidFill>
                <a:srgbClr val="FFFFFF"/>
              </a:solidFill>
              <a:latin typeface="Times New Roman" panose="02020603050405020304" pitchFamily="18" charset="0"/>
              <a:ea typeface="宋体" panose="02010600030101010101" pitchFamily="2" charset="-122"/>
            </a:endParaRPr>
          </a:p>
        </p:txBody>
      </p:sp>
      <p:sp>
        <p:nvSpPr>
          <p:cNvPr id="61447" name="文本框 20"/>
          <p:cNvSpPr txBox="1"/>
          <p:nvPr>
            <p:custDataLst>
              <p:tags r:id="rId6"/>
            </p:custDataLst>
          </p:nvPr>
        </p:nvSpPr>
        <p:spPr>
          <a:xfrm>
            <a:off x="9613900" y="6650038"/>
            <a:ext cx="3662363" cy="461962"/>
          </a:xfrm>
          <a:prstGeom prst="rect">
            <a:avLst/>
          </a:prstGeom>
          <a:solidFill>
            <a:srgbClr val="FBFAEF"/>
          </a:solidFill>
          <a:ln w="12700">
            <a:noFill/>
          </a:ln>
        </p:spPr>
        <p:txBody>
          <a:bodyPr anchor="ctr" anchorCtr="0">
            <a:spAutoFit/>
          </a:bodyPr>
          <a:lstStyle/>
          <a:p>
            <a:pPr eaLnBrk="0" hangingPunct="0">
              <a:buClrTx/>
              <a:buFontTx/>
            </a:pPr>
            <a:r>
              <a:rPr lang="zh-CN" altLang="en-US" sz="1200" dirty="0">
                <a:solidFill>
                  <a:srgbClr val="F84F41"/>
                </a:solidFill>
                <a:latin typeface="微软雅黑" panose="020B0503020204020204" charset="-122"/>
                <a:ea typeface="微软雅黑" panose="020B0503020204020204" charset="-122"/>
                <a:sym typeface="微软雅黑" panose="020B0503020204020204" charset="-122"/>
              </a:rPr>
              <a:t>可为此题添加文本、图片、公式等解析，且需将内容全部放在本区域内。正常使用需</a:t>
            </a:r>
            <a:r>
              <a:rPr lang="en-US" altLang="zh-CN" sz="1200" dirty="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dirty="0">
                <a:solidFill>
                  <a:srgbClr val="F84F41"/>
                </a:solidFill>
                <a:latin typeface="微软雅黑" panose="020B0503020204020204" charset="-122"/>
                <a:ea typeface="微软雅黑" panose="020B0503020204020204" charset="-122"/>
                <a:sym typeface="微软雅黑" panose="020B0503020204020204" charset="-122"/>
              </a:rPr>
              <a:t>以上版本</a:t>
            </a:r>
          </a:p>
        </p:txBody>
      </p:sp>
      <p:sp>
        <p:nvSpPr>
          <p:cNvPr id="61448" name="文本框 21"/>
          <p:cNvSpPr txBox="1"/>
          <p:nvPr>
            <p:custDataLst>
              <p:tags r:id="rId7"/>
            </p:custDataLst>
          </p:nvPr>
        </p:nvSpPr>
        <p:spPr>
          <a:xfrm>
            <a:off x="9779000" y="635000"/>
            <a:ext cx="3332163" cy="398780"/>
          </a:xfrm>
          <a:prstGeom prst="rect">
            <a:avLst/>
          </a:prstGeom>
          <a:noFill/>
          <a:ln w="9525">
            <a:noFill/>
          </a:ln>
        </p:spPr>
        <p:txBody>
          <a:bodyPr anchor="t" anchorCtr="0">
            <a:spAutoFit/>
          </a:bodyPr>
          <a:lstStyle/>
          <a:p>
            <a:pPr>
              <a:buClrTx/>
              <a:buFontTx/>
            </a:pPr>
            <a:endParaRPr lang="zh-CN" altLang="en-US" sz="2000" dirty="0">
              <a:solidFill>
                <a:srgbClr val="000000"/>
              </a:solidFill>
              <a:latin typeface="微软雅黑" panose="020B0503020204020204" charset="-122"/>
              <a:ea typeface="微软雅黑" panose="020B0503020204020204" charset="-122"/>
              <a:sym typeface="微软雅黑" panose="020B0503020204020204" charset="-122"/>
            </a:endParaRPr>
          </a:p>
        </p:txBody>
      </p:sp>
      <p:grpSp>
        <p:nvGrpSpPr>
          <p:cNvPr id="61449" name="组合 19"/>
          <p:cNvGrpSpPr/>
          <p:nvPr/>
        </p:nvGrpSpPr>
        <p:grpSpPr>
          <a:xfrm>
            <a:off x="9537700" y="0"/>
            <a:ext cx="3814763" cy="647700"/>
            <a:chOff x="9537700" y="0"/>
            <a:chExt cx="3815080" cy="647700"/>
          </a:xfrm>
        </p:grpSpPr>
        <p:sp>
          <p:nvSpPr>
            <p:cNvPr id="61450" name="RemarkBack"/>
            <p:cNvSpPr/>
            <p:nvPr>
              <p:custDataLst>
                <p:tags r:id="rId17"/>
              </p:custDataLst>
            </p:nvPr>
          </p:nvSpPr>
          <p:spPr>
            <a:xfrm>
              <a:off x="9537700" y="12700"/>
              <a:ext cx="3815080" cy="635000"/>
            </a:xfrm>
            <a:prstGeom prst="rect">
              <a:avLst/>
            </a:prstGeom>
            <a:solidFill>
              <a:srgbClr val="F6F7F8"/>
            </a:solidFill>
            <a:ln w="9525">
              <a:noFill/>
            </a:ln>
          </p:spPr>
          <p:txBody>
            <a:bodyPr wrap="none" anchor="t" anchorCtr="0"/>
            <a:lstStyle/>
            <a:p>
              <a:pPr>
                <a:buClrTx/>
                <a:buFontTx/>
              </a:pPr>
              <a:endParaRPr lang="zh-CN" altLang="en-US" dirty="0">
                <a:latin typeface="Times New Roman" panose="02020603050405020304" pitchFamily="18" charset="0"/>
                <a:ea typeface="宋体" panose="02010600030101010101" pitchFamily="2" charset="-122"/>
              </a:endParaRPr>
            </a:p>
          </p:txBody>
        </p:sp>
        <p:sp>
          <p:nvSpPr>
            <p:cNvPr id="61451" name="RemarkBlock"/>
            <p:cNvSpPr/>
            <p:nvPr>
              <p:custDataLst>
                <p:tags r:id="rId18"/>
              </p:custDataLst>
            </p:nvPr>
          </p:nvSpPr>
          <p:spPr>
            <a:xfrm>
              <a:off x="9537700" y="12700"/>
              <a:ext cx="190500" cy="635000"/>
            </a:xfrm>
            <a:prstGeom prst="rect">
              <a:avLst/>
            </a:prstGeom>
            <a:solidFill>
              <a:srgbClr val="639EF4"/>
            </a:solidFill>
            <a:ln w="9525">
              <a:noFill/>
            </a:ln>
          </p:spPr>
          <p:txBody>
            <a:bodyPr wrap="none" anchor="t" anchorCtr="0"/>
            <a:lstStyle/>
            <a:p>
              <a:pPr>
                <a:buClrTx/>
                <a:buFontTx/>
              </a:pPr>
              <a:endParaRPr lang="zh-CN" altLang="en-US" dirty="0">
                <a:latin typeface="Times New Roman" panose="02020603050405020304" pitchFamily="18" charset="0"/>
                <a:ea typeface="宋体" panose="02010600030101010101" pitchFamily="2" charset="-122"/>
              </a:endParaRPr>
            </a:p>
          </p:txBody>
        </p:sp>
        <p:sp>
          <p:nvSpPr>
            <p:cNvPr id="61452" name="RemarkTitleText"/>
            <p:cNvSpPr txBox="1"/>
            <p:nvPr>
              <p:custDataLst>
                <p:tags r:id="rId19"/>
              </p:custDataLst>
            </p:nvPr>
          </p:nvSpPr>
          <p:spPr>
            <a:xfrm>
              <a:off x="9779000" y="0"/>
              <a:ext cx="1905000" cy="635000"/>
            </a:xfrm>
            <a:prstGeom prst="rect">
              <a:avLst/>
            </a:prstGeom>
            <a:noFill/>
            <a:ln w="9525">
              <a:noFill/>
            </a:ln>
          </p:spPr>
          <p:txBody>
            <a:bodyPr wrap="none" anchor="ctr" anchorCtr="0"/>
            <a:lstStyle/>
            <a:p>
              <a:pPr eaLnBrk="0" hangingPunct="0">
                <a:buClrTx/>
                <a:buFontTx/>
              </a:pPr>
              <a:r>
                <a:rPr lang="zh-CN" altLang="en-US" sz="1800" dirty="0">
                  <a:solidFill>
                    <a:srgbClr val="000000"/>
                  </a:solidFill>
                  <a:latin typeface="微软雅黑" panose="020B0503020204020204" charset="-122"/>
                  <a:ea typeface="微软雅黑" panose="020B0503020204020204" charset="-122"/>
                  <a:sym typeface="微软雅黑" panose="020B0503020204020204" charset="-122"/>
                </a:rPr>
                <a:t>答案解析</a:t>
              </a:r>
            </a:p>
          </p:txBody>
        </p:sp>
      </p:grpSp>
      <p:sp>
        <p:nvSpPr>
          <p:cNvPr id="61453" name="RemarkBack"/>
          <p:cNvSpPr/>
          <p:nvPr>
            <p:custDataLst>
              <p:tags r:id="rId8"/>
            </p:custDataLst>
          </p:nvPr>
        </p:nvSpPr>
        <p:spPr>
          <a:xfrm>
            <a:off x="9537700" y="12700"/>
            <a:ext cx="3814763" cy="635000"/>
          </a:xfrm>
          <a:prstGeom prst="rect">
            <a:avLst/>
          </a:prstGeom>
          <a:solidFill>
            <a:srgbClr val="F6F7F8"/>
          </a:solidFill>
          <a:ln w="9525">
            <a:noFill/>
          </a:ln>
        </p:spPr>
        <p:txBody>
          <a:bodyPr lIns="90000" tIns="46800" rIns="90000" bIns="46800" anchor="t" anchorCtr="0"/>
          <a:lstStyle/>
          <a:p>
            <a:pPr eaLnBrk="0" hangingPunct="0">
              <a:buClrTx/>
              <a:buFontTx/>
            </a:pPr>
            <a:endParaRPr lang="zh-CN" altLang="en-US" dirty="0">
              <a:latin typeface="Times New Roman" panose="02020603050405020304" pitchFamily="18" charset="0"/>
            </a:endParaRPr>
          </a:p>
        </p:txBody>
      </p:sp>
      <p:sp>
        <p:nvSpPr>
          <p:cNvPr id="61454" name="RemarkBlock"/>
          <p:cNvSpPr/>
          <p:nvPr>
            <p:custDataLst>
              <p:tags r:id="rId9"/>
            </p:custDataLst>
          </p:nvPr>
        </p:nvSpPr>
        <p:spPr>
          <a:xfrm>
            <a:off x="9537700" y="12700"/>
            <a:ext cx="190500" cy="635000"/>
          </a:xfrm>
          <a:prstGeom prst="rect">
            <a:avLst/>
          </a:prstGeom>
          <a:solidFill>
            <a:srgbClr val="639EF4"/>
          </a:solidFill>
          <a:ln w="9525">
            <a:noFill/>
          </a:ln>
        </p:spPr>
        <p:txBody>
          <a:bodyPr lIns="90000" tIns="46800" rIns="90000" bIns="46800" anchor="t" anchorCtr="0"/>
          <a:lstStyle/>
          <a:p>
            <a:pPr eaLnBrk="0" hangingPunct="0">
              <a:buClrTx/>
              <a:buFontTx/>
            </a:pPr>
            <a:endParaRPr lang="zh-CN" altLang="en-US" dirty="0">
              <a:latin typeface="Times New Roman" panose="02020603050405020304" pitchFamily="18" charset="0"/>
            </a:endParaRPr>
          </a:p>
        </p:txBody>
      </p:sp>
      <p:sp>
        <p:nvSpPr>
          <p:cNvPr id="61455" name="RemarkTitleText"/>
          <p:cNvSpPr txBox="1"/>
          <p:nvPr>
            <p:custDataLst>
              <p:tags r:id="rId10"/>
            </p:custDataLst>
          </p:nvPr>
        </p:nvSpPr>
        <p:spPr>
          <a:xfrm>
            <a:off x="9779000" y="0"/>
            <a:ext cx="1905000" cy="635000"/>
          </a:xfrm>
          <a:prstGeom prst="rect">
            <a:avLst/>
          </a:prstGeom>
          <a:noFill/>
          <a:ln w="9525">
            <a:noFill/>
          </a:ln>
        </p:spPr>
        <p:txBody>
          <a:bodyPr wrap="none" anchor="ctr" anchorCtr="0"/>
          <a:lstStyle/>
          <a:p>
            <a:pPr eaLnBrk="0" hangingPunct="0">
              <a:buClrTx/>
              <a:buFontTx/>
            </a:pPr>
            <a:r>
              <a:rPr lang="zh-CN" altLang="en-US" sz="1800" dirty="0">
                <a:solidFill>
                  <a:srgbClr val="000000"/>
                </a:solidFill>
                <a:latin typeface="微软雅黑" panose="020B0503020204020204" charset="-122"/>
                <a:ea typeface="微软雅黑" panose="020B0503020204020204" charset="-122"/>
                <a:sym typeface="微软雅黑" panose="020B0503020204020204" charset="-122"/>
              </a:rPr>
              <a:t>答案解析</a:t>
            </a:r>
          </a:p>
        </p:txBody>
      </p:sp>
      <p:grpSp>
        <p:nvGrpSpPr>
          <p:cNvPr id="61456" name="组合 12"/>
          <p:cNvGrpSpPr/>
          <p:nvPr/>
        </p:nvGrpSpPr>
        <p:grpSpPr>
          <a:xfrm>
            <a:off x="0" y="0"/>
            <a:ext cx="9144000" cy="635000"/>
            <a:chOff x="0" y="0"/>
            <a:chExt cx="9144000" cy="635000"/>
          </a:xfrm>
        </p:grpSpPr>
        <p:sp>
          <p:nvSpPr>
            <p:cNvPr id="61457" name="TitleBackground"/>
            <p:cNvSpPr/>
            <p:nvPr>
              <p:custDataLst>
                <p:tags r:id="rId13"/>
              </p:custDataLst>
            </p:nvPr>
          </p:nvSpPr>
          <p:spPr>
            <a:xfrm>
              <a:off x="0" y="0"/>
              <a:ext cx="9144000" cy="635000"/>
            </a:xfrm>
            <a:prstGeom prst="rect">
              <a:avLst/>
            </a:prstGeom>
            <a:solidFill>
              <a:srgbClr val="F6F7F8"/>
            </a:solidFill>
            <a:ln w="9525">
              <a:noFill/>
            </a:ln>
          </p:spPr>
          <p:txBody>
            <a:bodyPr wrap="none" anchor="t" anchorCtr="0"/>
            <a:lstStyle/>
            <a:p>
              <a:pPr>
                <a:buClrTx/>
                <a:buFontTx/>
              </a:pPr>
              <a:endParaRPr lang="zh-CN" altLang="en-US" dirty="0">
                <a:latin typeface="Times New Roman" panose="02020603050405020304" pitchFamily="18" charset="0"/>
                <a:ea typeface="宋体" panose="02010600030101010101" pitchFamily="2" charset="-122"/>
              </a:endParaRPr>
            </a:p>
          </p:txBody>
        </p:sp>
        <p:sp>
          <p:nvSpPr>
            <p:cNvPr id="61458" name="ColorBlock"/>
            <p:cNvSpPr/>
            <p:nvPr>
              <p:custDataLst>
                <p:tags r:id="rId14"/>
              </p:custDataLst>
            </p:nvPr>
          </p:nvSpPr>
          <p:spPr>
            <a:xfrm>
              <a:off x="0" y="0"/>
              <a:ext cx="190500" cy="635000"/>
            </a:xfrm>
            <a:prstGeom prst="rect">
              <a:avLst/>
            </a:prstGeom>
            <a:solidFill>
              <a:srgbClr val="639EF4"/>
            </a:solidFill>
            <a:ln w="9525">
              <a:noFill/>
            </a:ln>
          </p:spPr>
          <p:txBody>
            <a:bodyPr wrap="none" anchor="t" anchorCtr="0"/>
            <a:lstStyle/>
            <a:p>
              <a:pPr>
                <a:buClrTx/>
                <a:buFontTx/>
              </a:pPr>
              <a:endParaRPr lang="zh-CN" altLang="en-US" dirty="0">
                <a:latin typeface="Times New Roman" panose="02020603050405020304" pitchFamily="18" charset="0"/>
                <a:ea typeface="宋体" panose="02010600030101010101" pitchFamily="2" charset="-122"/>
              </a:endParaRPr>
            </a:p>
          </p:txBody>
        </p:sp>
        <p:sp>
          <p:nvSpPr>
            <p:cNvPr id="61459" name="TypeText"/>
            <p:cNvSpPr txBox="1"/>
            <p:nvPr>
              <p:custDataLst>
                <p:tags r:id="rId15"/>
              </p:custDataLst>
            </p:nvPr>
          </p:nvSpPr>
          <p:spPr>
            <a:xfrm>
              <a:off x="254000" y="0"/>
              <a:ext cx="1905000" cy="635000"/>
            </a:xfrm>
            <a:prstGeom prst="rect">
              <a:avLst/>
            </a:prstGeom>
            <a:noFill/>
            <a:ln w="9525">
              <a:noFill/>
            </a:ln>
          </p:spPr>
          <p:txBody>
            <a:bodyPr wrap="none" anchor="ctr" anchorCtr="0"/>
            <a:lstStyle/>
            <a:p>
              <a:pPr eaLnBrk="0" hangingPunct="0">
                <a:buClrTx/>
                <a:buFontTx/>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61460" name="TipText"/>
            <p:cNvSpPr txBox="1"/>
            <p:nvPr>
              <p:custDataLst>
                <p:tags r:id="rId16"/>
              </p:custDataLst>
            </p:nvPr>
          </p:nvSpPr>
          <p:spPr>
            <a:xfrm>
              <a:off x="1525905" y="109220"/>
              <a:ext cx="2286000" cy="508000"/>
            </a:xfrm>
            <a:prstGeom prst="rect">
              <a:avLst/>
            </a:prstGeom>
            <a:noFill/>
            <a:ln w="9525">
              <a:noFill/>
            </a:ln>
          </p:spPr>
          <p:txBody>
            <a:bodyPr wrap="none" anchor="ctr" anchorCtr="0"/>
            <a:lstStyle/>
            <a:p>
              <a:pPr eaLnBrk="0" hangingPunct="0">
                <a:buClrTx/>
                <a:buFontTx/>
              </a:pPr>
              <a:r>
                <a:rPr lang="en-US" altLang="zh-CN" sz="2000" dirty="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dirty="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61461" name="图片 5"/>
          <p:cNvPicPr/>
          <p:nvPr>
            <p:custDataLst>
              <p:tags r:id="rId11"/>
            </p:custDataLst>
          </p:nvPr>
        </p:nvPicPr>
        <p:blipFill>
          <a:blip r:embed="rId21"/>
          <a:stretch>
            <a:fillRect/>
          </a:stretch>
        </p:blipFill>
        <p:spPr>
          <a:xfrm>
            <a:off x="7594600" y="63500"/>
            <a:ext cx="1422400" cy="508000"/>
          </a:xfrm>
          <a:prstGeom prst="rect">
            <a:avLst/>
          </a:prstGeom>
          <a:noFill/>
          <a:ln w="9525">
            <a:noFill/>
          </a:ln>
        </p:spPr>
      </p:pic>
      <p:graphicFrame>
        <p:nvGraphicFramePr>
          <p:cNvPr id="38916" name="表格 38915"/>
          <p:cNvGraphicFramePr/>
          <p:nvPr>
            <p:custDataLst>
              <p:tags r:id="rId12"/>
            </p:custDataLst>
          </p:nvPr>
        </p:nvGraphicFramePr>
        <p:xfrm>
          <a:off x="1979613" y="2781300"/>
          <a:ext cx="4800600" cy="2014538"/>
        </p:xfrm>
        <a:graphic>
          <a:graphicData uri="http://schemas.openxmlformats.org/drawingml/2006/table">
            <a:tbl>
              <a:tblPr/>
              <a:tblGrid>
                <a:gridCol w="1562100">
                  <a:extLst>
                    <a:ext uri="{9D8B030D-6E8A-4147-A177-3AD203B41FA5}">
                      <a16:colId xmlns:a16="http://schemas.microsoft.com/office/drawing/2014/main" val="20000"/>
                    </a:ext>
                  </a:extLst>
                </a:gridCol>
                <a:gridCol w="1560513">
                  <a:extLst>
                    <a:ext uri="{9D8B030D-6E8A-4147-A177-3AD203B41FA5}">
                      <a16:colId xmlns:a16="http://schemas.microsoft.com/office/drawing/2014/main" val="20001"/>
                    </a:ext>
                  </a:extLst>
                </a:gridCol>
                <a:gridCol w="1677987">
                  <a:extLst>
                    <a:ext uri="{9D8B030D-6E8A-4147-A177-3AD203B41FA5}">
                      <a16:colId xmlns:a16="http://schemas.microsoft.com/office/drawing/2014/main" val="20002"/>
                    </a:ext>
                  </a:extLst>
                </a:gridCol>
              </a:tblGrid>
              <a:tr h="4222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zh-CN" altLang="en-US" sz="2000">
                          <a:latin typeface="Tahoma" panose="020B0604030504040204" pitchFamily="34" charset="0"/>
                          <a:ea typeface="宋体" panose="02010600030101010101" pitchFamily="2" charset="-122"/>
                        </a:rPr>
                        <a:t>页号</a:t>
                      </a: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zh-CN" altLang="en-US" sz="2000">
                          <a:latin typeface="Times New Roman" panose="02020603050405020304" pitchFamily="18" charset="0"/>
                          <a:ea typeface="宋体" panose="02010600030101010101" pitchFamily="2" charset="-122"/>
                        </a:rPr>
                        <a:t>块号</a:t>
                      </a:r>
                      <a:endParaRPr lang="zh-CN" altLang="en-US"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zh-CN" altLang="en-US" sz="2000">
                          <a:latin typeface="Times New Roman" panose="02020603050405020304" pitchFamily="18" charset="0"/>
                          <a:ea typeface="宋体" panose="02010600030101010101" pitchFamily="2" charset="-122"/>
                        </a:rPr>
                        <a:t>标志位</a:t>
                      </a:r>
                      <a:endParaRPr lang="zh-CN" altLang="en-US"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anose="02010600030101010101" pitchFamily="2" charset="-122"/>
                        </a:rPr>
                        <a:t>0</a:t>
                      </a: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24</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1</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163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anose="02010600030101010101" pitchFamily="2" charset="-122"/>
                        </a:rPr>
                        <a:t>1</a:t>
                      </a: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36</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1</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anose="02010600030101010101" pitchFamily="2" charset="-122"/>
                        </a:rPr>
                        <a:t>2</a:t>
                      </a: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32</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1</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anose="02010600030101010101" pitchFamily="2" charset="-122"/>
                        </a:rPr>
                        <a:t>3</a:t>
                      </a: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0</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文本框 1"/>
          <p:cNvSpPr txBox="1"/>
          <p:nvPr/>
        </p:nvSpPr>
        <p:spPr>
          <a:xfrm>
            <a:off x="622935" y="1640205"/>
            <a:ext cx="8176895" cy="829945"/>
          </a:xfrm>
          <a:prstGeom prst="rect">
            <a:avLst/>
          </a:prstGeom>
          <a:noFill/>
        </p:spPr>
        <p:txBody>
          <a:bodyPr wrap="square" rtlCol="0" anchor="t">
            <a:spAutoFit/>
          </a:bodyPr>
          <a:lstStyle/>
          <a:p>
            <a:pPr marL="0" lvl="0" indent="0" eaLnBrk="1" hangingPunct="1">
              <a:spcBef>
                <a:spcPct val="0"/>
              </a:spcBef>
              <a:buClrTx/>
              <a:buFontTx/>
              <a:buNone/>
            </a:pPr>
            <a:r>
              <a:rPr lang="zh-CN" altLang="en-US">
                <a:latin typeface="黑体" panose="02010609060101010101" pitchFamily="49" charset="-122"/>
                <a:cs typeface="Courier New" panose="02070309020205020404" pitchFamily="49" charset="0"/>
                <a:sym typeface="+mn-ea"/>
              </a:rPr>
              <a:t>在虚拟页式存储管理中，容量为</a:t>
            </a:r>
            <a:r>
              <a:rPr lang="en-US" altLang="zh-CN">
                <a:latin typeface="黑体" panose="02010609060101010101" pitchFamily="49" charset="-122"/>
                <a:cs typeface="Courier New" panose="02070309020205020404" pitchFamily="49" charset="0"/>
                <a:sym typeface="+mn-ea"/>
              </a:rPr>
              <a:t>1MB</a:t>
            </a:r>
            <a:r>
              <a:rPr lang="zh-CN" altLang="en-US">
                <a:latin typeface="黑体" panose="02010609060101010101" pitchFamily="49" charset="-122"/>
                <a:cs typeface="Courier New" panose="02070309020205020404" pitchFamily="49" charset="0"/>
                <a:sym typeface="+mn-ea"/>
              </a:rPr>
              <a:t>，页的大小为</a:t>
            </a:r>
            <a:r>
              <a:rPr lang="en-US" altLang="zh-CN">
                <a:latin typeface="黑体" panose="02010609060101010101" pitchFamily="49" charset="-122"/>
                <a:cs typeface="Courier New" panose="02070309020205020404" pitchFamily="49" charset="0"/>
                <a:sym typeface="+mn-ea"/>
              </a:rPr>
              <a:t>4KB</a:t>
            </a:r>
            <a:r>
              <a:rPr lang="zh-CN" altLang="en-US">
                <a:latin typeface="黑体" panose="02010609060101010101" pitchFamily="49" charset="-122"/>
                <a:cs typeface="Courier New" panose="02070309020205020404" pitchFamily="49" charset="0"/>
                <a:sym typeface="+mn-ea"/>
              </a:rPr>
              <a:t>。</a:t>
            </a:r>
            <a:endParaRPr lang="en-US" altLang="zh-CN" sz="2400" b="0">
              <a:latin typeface="黑体" panose="02010609060101010101" pitchFamily="49" charset="-122"/>
              <a:cs typeface="Courier New" panose="02070309020205020404" pitchFamily="49" charset="0"/>
            </a:endParaRPr>
          </a:p>
          <a:p>
            <a:pPr marL="0" lvl="0" indent="0" eaLnBrk="1" hangingPunct="1">
              <a:spcBef>
                <a:spcPct val="0"/>
              </a:spcBef>
              <a:buClrTx/>
              <a:buFontTx/>
              <a:buNone/>
            </a:pPr>
            <a:r>
              <a:rPr lang="zh-CN" altLang="en-US">
                <a:latin typeface="黑体" panose="02010609060101010101" pitchFamily="49" charset="-122"/>
                <a:cs typeface="Courier New" panose="02070309020205020404" pitchFamily="49" charset="0"/>
                <a:sym typeface="+mn-ea"/>
              </a:rPr>
              <a:t>求虚拟地址</a:t>
            </a:r>
            <a:r>
              <a:rPr lang="en-US" altLang="zh-CN">
                <a:latin typeface="黑体" panose="02010609060101010101" pitchFamily="49" charset="-122"/>
                <a:sym typeface="+mn-ea"/>
              </a:rPr>
              <a:t>9016</a:t>
            </a:r>
            <a:r>
              <a:rPr lang="zh-CN" altLang="en-US">
                <a:latin typeface="黑体" panose="02010609060101010101" pitchFamily="49" charset="-122"/>
                <a:sym typeface="+mn-ea"/>
              </a:rPr>
              <a:t>和</a:t>
            </a:r>
            <a:r>
              <a:rPr lang="en-US" altLang="zh-CN">
                <a:latin typeface="黑体" panose="02010609060101010101" pitchFamily="49" charset="-122"/>
                <a:cs typeface="Courier New" panose="02070309020205020404" pitchFamily="49" charset="0"/>
                <a:sym typeface="+mn-ea"/>
              </a:rPr>
              <a:t>12300</a:t>
            </a:r>
            <a:r>
              <a:rPr lang="zh-CN" altLang="en-US">
                <a:latin typeface="黑体" panose="02010609060101010101" pitchFamily="49" charset="-122"/>
                <a:cs typeface="Courier New" panose="02070309020205020404" pitchFamily="49" charset="0"/>
                <a:sym typeface="+mn-ea"/>
              </a:rPr>
              <a:t>的物理地址。</a:t>
            </a: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23</a:t>
            </a:fld>
            <a:endParaRPr lang="zh-CN" altLang="en-US" sz="1400" b="0">
              <a:latin typeface="Tahoma" panose="020B0604030504040204" pitchFamily="34" charset="0"/>
              <a:ea typeface="宋体" panose="02010600030101010101" pitchFamily="2" charset="-122"/>
            </a:endParaRPr>
          </a:p>
        </p:txBody>
      </p:sp>
      <p:sp>
        <p:nvSpPr>
          <p:cNvPr id="46082" name="TextBox 2"/>
          <p:cNvSpPr txBox="1"/>
          <p:nvPr/>
        </p:nvSpPr>
        <p:spPr>
          <a:xfrm>
            <a:off x="827088" y="5157788"/>
            <a:ext cx="8001000" cy="584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ea typeface="宋体" panose="02010600030101010101" pitchFamily="2" charset="-122"/>
              </a:rPr>
              <a:t>(1) 9016/4096=2; 9016%4096=824; </a:t>
            </a:r>
          </a:p>
          <a:p>
            <a:pPr marL="0" lvl="0" indent="0" eaLnBrk="1" hangingPunct="1">
              <a:spcBef>
                <a:spcPct val="0"/>
              </a:spcBef>
              <a:buClrTx/>
              <a:buFontTx/>
              <a:buNone/>
            </a:pPr>
            <a:r>
              <a:rPr lang="zh-CN" altLang="en-US" sz="1600" b="0">
                <a:ea typeface="宋体" panose="02010600030101010101" pitchFamily="2" charset="-122"/>
              </a:rPr>
              <a:t>最后的物理地址为：</a:t>
            </a:r>
            <a:r>
              <a:rPr lang="en-US" altLang="zh-CN" sz="1600" b="0">
                <a:ea typeface="宋体" panose="02010600030101010101" pitchFamily="2" charset="-122"/>
              </a:rPr>
              <a:t>32×4KB+824=128KB+824</a:t>
            </a:r>
            <a:r>
              <a:rPr lang="zh-CN" altLang="en-US" sz="1600" b="0">
                <a:ea typeface="宋体" panose="02010600030101010101" pitchFamily="2" charset="-122"/>
              </a:rPr>
              <a:t>。</a:t>
            </a:r>
            <a:endParaRPr lang="en-US" altLang="zh-CN" sz="1600" b="0">
              <a:ea typeface="宋体" panose="02010600030101010101" pitchFamily="2" charset="-122"/>
            </a:endParaRPr>
          </a:p>
        </p:txBody>
      </p:sp>
      <p:sp>
        <p:nvSpPr>
          <p:cNvPr id="129029" name="Rectangle 2"/>
          <p:cNvSpPr>
            <a:spLocks noChangeArrowheads="1"/>
          </p:cNvSpPr>
          <p:nvPr/>
        </p:nvSpPr>
        <p:spPr bwMode="auto">
          <a:xfrm>
            <a:off x="611188" y="1484313"/>
            <a:ext cx="821690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2400" b="0">
                <a:latin typeface="黑体" panose="02010609060101010101" pitchFamily="49" charset="-122"/>
                <a:cs typeface="Courier New" panose="02070309020205020404" pitchFamily="49" charset="0"/>
              </a:rPr>
              <a:t>在虚拟页式存储管理中，容量为</a:t>
            </a:r>
            <a:r>
              <a:rPr lang="en-US" altLang="zh-CN" sz="2400" b="0">
                <a:latin typeface="黑体" panose="02010609060101010101" pitchFamily="49" charset="-122"/>
                <a:cs typeface="Courier New" panose="02070309020205020404" pitchFamily="49" charset="0"/>
              </a:rPr>
              <a:t>1MB</a:t>
            </a:r>
            <a:r>
              <a:rPr lang="zh-CN" altLang="en-US" sz="2400" b="0">
                <a:latin typeface="黑体" panose="02010609060101010101" pitchFamily="49" charset="-122"/>
                <a:cs typeface="Courier New" panose="02070309020205020404" pitchFamily="49" charset="0"/>
              </a:rPr>
              <a:t>，页的大小为</a:t>
            </a:r>
            <a:r>
              <a:rPr lang="en-US" altLang="zh-CN" sz="2400" b="0">
                <a:latin typeface="黑体" panose="02010609060101010101" pitchFamily="49" charset="-122"/>
                <a:cs typeface="Courier New" panose="02070309020205020404" pitchFamily="49" charset="0"/>
              </a:rPr>
              <a:t>4KB</a:t>
            </a:r>
            <a:r>
              <a:rPr lang="zh-CN" altLang="en-US" sz="2400" b="0">
                <a:latin typeface="黑体" panose="02010609060101010101" pitchFamily="49" charset="-122"/>
                <a:cs typeface="Courier New" panose="02070309020205020404" pitchFamily="49" charset="0"/>
              </a:rPr>
              <a:t>。</a:t>
            </a:r>
            <a:endParaRPr lang="en-US" altLang="zh-CN" sz="2400" b="0">
              <a:latin typeface="黑体" panose="02010609060101010101" pitchFamily="49" charset="-122"/>
              <a:cs typeface="Courier New" panose="02070309020205020404" pitchFamily="49" charset="0"/>
            </a:endParaRPr>
          </a:p>
          <a:p>
            <a:pPr marL="0" lvl="0" indent="0" eaLnBrk="1" hangingPunct="1">
              <a:spcBef>
                <a:spcPct val="0"/>
              </a:spcBef>
              <a:buClrTx/>
              <a:buFontTx/>
              <a:buNone/>
            </a:pPr>
            <a:r>
              <a:rPr lang="zh-CN" altLang="en-US" sz="2400" b="0">
                <a:latin typeface="黑体" panose="02010609060101010101" pitchFamily="49" charset="-122"/>
                <a:cs typeface="Courier New" panose="02070309020205020404" pitchFamily="49" charset="0"/>
              </a:rPr>
              <a:t>求虚拟地址</a:t>
            </a:r>
            <a:r>
              <a:rPr lang="en-US" altLang="zh-CN" sz="2400" b="0">
                <a:latin typeface="黑体" panose="02010609060101010101" pitchFamily="49" charset="-122"/>
              </a:rPr>
              <a:t>9016</a:t>
            </a:r>
            <a:r>
              <a:rPr lang="zh-CN" altLang="en-US" sz="2400" b="0">
                <a:latin typeface="黑体" panose="02010609060101010101" pitchFamily="49" charset="-122"/>
              </a:rPr>
              <a:t>和</a:t>
            </a:r>
            <a:r>
              <a:rPr lang="en-US" altLang="zh-CN" sz="2400" b="0">
                <a:latin typeface="黑体" panose="02010609060101010101" pitchFamily="49" charset="-122"/>
                <a:cs typeface="Courier New" panose="02070309020205020404" pitchFamily="49" charset="0"/>
              </a:rPr>
              <a:t>12300</a:t>
            </a:r>
            <a:r>
              <a:rPr lang="zh-CN" altLang="en-US" sz="2400" b="0">
                <a:latin typeface="黑体" panose="02010609060101010101" pitchFamily="49" charset="-122"/>
                <a:cs typeface="Courier New" panose="02070309020205020404" pitchFamily="49" charset="0"/>
              </a:rPr>
              <a:t>的物理地址。</a:t>
            </a:r>
            <a:endParaRPr lang="zh-CN" altLang="en-US" sz="2400" b="0">
              <a:latin typeface="黑体" panose="02010609060101010101" pitchFamily="49" charset="-122"/>
              <a:ea typeface="Courier New" panose="02070309020205020404" pitchFamily="49" charset="0"/>
            </a:endParaRPr>
          </a:p>
        </p:txBody>
      </p:sp>
      <p:graphicFrame>
        <p:nvGraphicFramePr>
          <p:cNvPr id="38916" name="表格 38915"/>
          <p:cNvGraphicFramePr/>
          <p:nvPr>
            <p:custDataLst>
              <p:tags r:id="rId1"/>
            </p:custDataLst>
          </p:nvPr>
        </p:nvGraphicFramePr>
        <p:xfrm>
          <a:off x="1979613" y="2781300"/>
          <a:ext cx="4800600" cy="2014538"/>
        </p:xfrm>
        <a:graphic>
          <a:graphicData uri="http://schemas.openxmlformats.org/drawingml/2006/table">
            <a:tbl>
              <a:tblPr/>
              <a:tblGrid>
                <a:gridCol w="1562100">
                  <a:extLst>
                    <a:ext uri="{9D8B030D-6E8A-4147-A177-3AD203B41FA5}">
                      <a16:colId xmlns:a16="http://schemas.microsoft.com/office/drawing/2014/main" val="20000"/>
                    </a:ext>
                  </a:extLst>
                </a:gridCol>
                <a:gridCol w="1560513">
                  <a:extLst>
                    <a:ext uri="{9D8B030D-6E8A-4147-A177-3AD203B41FA5}">
                      <a16:colId xmlns:a16="http://schemas.microsoft.com/office/drawing/2014/main" val="20001"/>
                    </a:ext>
                  </a:extLst>
                </a:gridCol>
                <a:gridCol w="1677987">
                  <a:extLst>
                    <a:ext uri="{9D8B030D-6E8A-4147-A177-3AD203B41FA5}">
                      <a16:colId xmlns:a16="http://schemas.microsoft.com/office/drawing/2014/main" val="20002"/>
                    </a:ext>
                  </a:extLst>
                </a:gridCol>
              </a:tblGrid>
              <a:tr h="4222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zh-CN" altLang="en-US" sz="2000">
                          <a:latin typeface="Tahoma" panose="020B0604030504040204" pitchFamily="34" charset="0"/>
                          <a:ea typeface="宋体" panose="02010600030101010101" pitchFamily="2" charset="-122"/>
                        </a:rPr>
                        <a:t>页号</a:t>
                      </a: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zh-CN" altLang="en-US" sz="2000">
                          <a:latin typeface="Times New Roman" panose="02020603050405020304" pitchFamily="18" charset="0"/>
                          <a:ea typeface="宋体" panose="02010600030101010101" pitchFamily="2" charset="-122"/>
                        </a:rPr>
                        <a:t>块号</a:t>
                      </a:r>
                      <a:endParaRPr lang="zh-CN" altLang="en-US"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zh-CN" altLang="en-US" sz="2000">
                          <a:latin typeface="Times New Roman" panose="02020603050405020304" pitchFamily="18" charset="0"/>
                          <a:ea typeface="宋体" panose="02010600030101010101" pitchFamily="2" charset="-122"/>
                        </a:rPr>
                        <a:t>标志位</a:t>
                      </a:r>
                      <a:endParaRPr lang="zh-CN" altLang="en-US"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anose="02010600030101010101" pitchFamily="2" charset="-122"/>
                        </a:rPr>
                        <a:t>0</a:t>
                      </a: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24</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1</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163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anose="02010600030101010101" pitchFamily="2" charset="-122"/>
                        </a:rPr>
                        <a:t>1</a:t>
                      </a: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36</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1</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anose="02010600030101010101" pitchFamily="2" charset="-122"/>
                        </a:rPr>
                        <a:t>2</a:t>
                      </a: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32</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1</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anose="02010600030101010101" pitchFamily="2" charset="-122"/>
                        </a:rPr>
                        <a:t>3</a:t>
                      </a: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603050405020304" pitchFamily="18" charset="0"/>
                          <a:ea typeface="宋体" panose="02010600030101010101" pitchFamily="2" charset="-122"/>
                        </a:rPr>
                        <a:t>0</a:t>
                      </a:r>
                      <a:endParaRPr lang="en-US" altLang="zh-CN" sz="2000">
                        <a:latin typeface="Tahoma" panose="020B0604030504040204" pitchFamily="34" charset="0"/>
                        <a:ea typeface="宋体" panose="02010600030101010101"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8942"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8.1</a:t>
            </a:r>
            <a:r>
              <a:rPr lang="zh-CN" altLang="en-US"/>
              <a:t>虚拟页式存储过程</a:t>
            </a:r>
          </a:p>
        </p:txBody>
      </p:sp>
      <p:sp>
        <p:nvSpPr>
          <p:cNvPr id="2" name="矩形 1"/>
          <p:cNvSpPr/>
          <p:nvPr/>
        </p:nvSpPr>
        <p:spPr>
          <a:xfrm>
            <a:off x="827088" y="5746750"/>
            <a:ext cx="6985000"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ea typeface="宋体" panose="02010600030101010101" pitchFamily="2" charset="-122"/>
              </a:rPr>
              <a:t>(2)</a:t>
            </a:r>
            <a:r>
              <a:rPr lang="zh-CN" altLang="en-US" sz="1600" b="0">
                <a:ea typeface="宋体" panose="02010600030101010101" pitchFamily="2" charset="-122"/>
              </a:rPr>
              <a:t>若给定逻辑地址为</a:t>
            </a:r>
            <a:r>
              <a:rPr lang="en-US" altLang="zh-CN" sz="1600" b="0">
                <a:ea typeface="宋体" panose="02010600030101010101" pitchFamily="2" charset="-122"/>
              </a:rPr>
              <a:t>12300</a:t>
            </a:r>
            <a:r>
              <a:rPr lang="zh-CN" altLang="en-US" sz="1600" b="0">
                <a:ea typeface="宋体" panose="02010600030101010101" pitchFamily="2" charset="-122"/>
              </a:rPr>
              <a:t>，按与</a:t>
            </a:r>
            <a:r>
              <a:rPr lang="en-US" altLang="zh-CN" sz="1600" b="0">
                <a:ea typeface="宋体" panose="02010600030101010101" pitchFamily="2" charset="-122"/>
              </a:rPr>
              <a:t>(1)</a:t>
            </a:r>
            <a:r>
              <a:rPr lang="zh-CN" altLang="en-US" sz="1600" b="0">
                <a:ea typeface="宋体" panose="02010600030101010101" pitchFamily="2" charset="-122"/>
              </a:rPr>
              <a:t>中同样的方法处理可得其页号为</a:t>
            </a:r>
            <a:r>
              <a:rPr lang="en-US" altLang="zh-CN" sz="1600" b="0">
                <a:ea typeface="宋体" panose="02010600030101010101" pitchFamily="2" charset="-122"/>
              </a:rPr>
              <a:t>3</a:t>
            </a:r>
            <a:r>
              <a:rPr lang="zh-CN" altLang="en-US" sz="1600" b="0">
                <a:ea typeface="宋体" panose="02010600030101010101" pitchFamily="2" charset="-122"/>
              </a:rPr>
              <a:t>。从页表可知该页未装入主存，因而产生缺页中断。随后中断处理程序将该页装入主存，然后进行地址变换。</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82"/>
                                        </p:tgtEl>
                                        <p:attrNameLst>
                                          <p:attrName>style.visibility</p:attrName>
                                        </p:attrNameLst>
                                      </p:cBhvr>
                                      <p:to>
                                        <p:strVal val="visible"/>
                                      </p:to>
                                    </p:set>
                                    <p:anim calcmode="lin" valueType="num">
                                      <p:cBhvr additive="base">
                                        <p:cTn id="7" dur="500" fill="hold"/>
                                        <p:tgtEl>
                                          <p:spTgt spid="46082"/>
                                        </p:tgtEl>
                                        <p:attrNameLst>
                                          <p:attrName>ppt_x</p:attrName>
                                        </p:attrNameLst>
                                      </p:cBhvr>
                                      <p:tavLst>
                                        <p:tav tm="0">
                                          <p:val>
                                            <p:strVal val="#ppt_x"/>
                                          </p:val>
                                        </p:tav>
                                        <p:tav tm="100000">
                                          <p:val>
                                            <p:strVal val="#ppt_x"/>
                                          </p:val>
                                        </p:tav>
                                      </p:tavLst>
                                    </p:anim>
                                    <p:anim calcmode="lin" valueType="num">
                                      <p:cBhvr additive="base">
                                        <p:cTn id="8" dur="500" fill="hold"/>
                                        <p:tgtEl>
                                          <p:spTgt spid="460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24</a:t>
            </a:fld>
            <a:endParaRPr lang="zh-CN" altLang="en-US" sz="1400" b="0">
              <a:latin typeface="Tahoma" panose="020B0604030504040204" pitchFamily="34" charset="0"/>
              <a:ea typeface="宋体" panose="02010600030101010101" pitchFamily="2" charset="-122"/>
            </a:endParaRPr>
          </a:p>
        </p:txBody>
      </p:sp>
      <p:sp>
        <p:nvSpPr>
          <p:cNvPr id="40962"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8.2</a:t>
            </a:r>
            <a:r>
              <a:rPr lang="zh-CN" altLang="en-US"/>
              <a:t> 分多少块？</a:t>
            </a:r>
          </a:p>
        </p:txBody>
      </p:sp>
      <p:sp>
        <p:nvSpPr>
          <p:cNvPr id="26627" name="Rectangle 3"/>
          <p:cNvSpPr>
            <a:spLocks noGrp="1" noChangeArrowheads="1"/>
          </p:cNvSpPr>
          <p:nvPr>
            <p:ph idx="1"/>
          </p:nvPr>
        </p:nvSpPr>
        <p:spPr>
          <a:xfrm>
            <a:off x="0" y="1412875"/>
            <a:ext cx="9144000" cy="4968875"/>
          </a:xfrm>
        </p:spPr>
        <p:txBody>
          <a:bodyPr vert="horz" wrap="square" lIns="91440" tIns="45720" rIns="91440" bIns="45720" numCol="1" anchor="t" anchorCtr="0" compatLnSpc="1"/>
          <a:lstStyle/>
          <a:p>
            <a:pPr marL="0" indent="0" eaLnBrk="1" hangingPunct="1">
              <a:buNone/>
            </a:pPr>
            <a:r>
              <a:rPr lang="en-US" altLang="zh-CN" sz="2400" b="0">
                <a:latin typeface="黑体" panose="02010609060101010101" pitchFamily="49" charset="-122"/>
              </a:rPr>
              <a:t>  </a:t>
            </a:r>
            <a:r>
              <a:rPr lang="zh-CN" altLang="en-US" sz="2400" b="0">
                <a:latin typeface="黑体" panose="02010609060101010101" pitchFamily="49" charset="-122"/>
              </a:rPr>
              <a:t>工作集：一个进程当前正在使用的页框集合。</a:t>
            </a:r>
            <a:endParaRPr lang="en-US" altLang="zh-CN" sz="2400" b="0">
              <a:latin typeface="黑体" panose="02010609060101010101" pitchFamily="49" charset="-122"/>
            </a:endParaRPr>
          </a:p>
          <a:p>
            <a:pPr marL="0" indent="0" eaLnBrk="1" hangingPunct="1">
              <a:buNone/>
            </a:pPr>
            <a:r>
              <a:rPr lang="en-US" altLang="zh-CN" sz="2400" b="0">
                <a:latin typeface="黑体" panose="02010609060101010101" pitchFamily="49" charset="-122"/>
              </a:rPr>
              <a:t>  </a:t>
            </a:r>
            <a:r>
              <a:rPr lang="zh-CN" altLang="en-US" sz="2400" b="0">
                <a:latin typeface="黑体" panose="02010609060101010101" pitchFamily="49" charset="-122"/>
              </a:rPr>
              <a:t>工作集</a:t>
            </a:r>
            <a:r>
              <a:rPr lang="en-US" altLang="zh-CN" sz="2400" b="0" i="1">
                <a:latin typeface="黑体" panose="02010609060101010101" pitchFamily="49" charset="-122"/>
              </a:rPr>
              <a:t>W</a:t>
            </a:r>
            <a:r>
              <a:rPr lang="en-US" altLang="zh-CN" sz="2400" b="0">
                <a:latin typeface="黑体" panose="02010609060101010101" pitchFamily="49" charset="-122"/>
              </a:rPr>
              <a:t>(</a:t>
            </a:r>
            <a:r>
              <a:rPr lang="en-US" altLang="zh-CN" sz="2400" b="0" i="1">
                <a:latin typeface="黑体" panose="02010609060101010101" pitchFamily="49" charset="-122"/>
              </a:rPr>
              <a:t>t</a:t>
            </a:r>
            <a:r>
              <a:rPr lang="en-US" altLang="zh-CN" sz="2400" b="0">
                <a:latin typeface="黑体" panose="02010609060101010101" pitchFamily="49" charset="-122"/>
              </a:rPr>
              <a:t>,Δ)=</a:t>
            </a:r>
            <a:r>
              <a:rPr lang="zh-CN" altLang="en-US" sz="2400" b="0">
                <a:latin typeface="黑体" panose="02010609060101010101" pitchFamily="49" charset="-122"/>
              </a:rPr>
              <a:t>该进程在过去的</a:t>
            </a:r>
            <a:r>
              <a:rPr lang="en-US" altLang="zh-CN" sz="2400" b="0">
                <a:latin typeface="黑体" panose="02010609060101010101" pitchFamily="49" charset="-122"/>
              </a:rPr>
              <a:t>Δ</a:t>
            </a:r>
            <a:r>
              <a:rPr lang="zh-CN" altLang="en-US" sz="2400" b="0">
                <a:latin typeface="黑体" panose="02010609060101010101" pitchFamily="49" charset="-122"/>
              </a:rPr>
              <a:t>时间单位中访问到的页面集合 </a:t>
            </a:r>
            <a:endParaRPr lang="en-US" altLang="zh-CN" sz="2400" b="0">
              <a:latin typeface="黑体" panose="02010609060101010101" pitchFamily="49" charset="-122"/>
            </a:endParaRPr>
          </a:p>
          <a:p>
            <a:pPr marL="0" indent="0" eaLnBrk="1" hangingPunct="1"/>
            <a:endParaRPr lang="en-US" altLang="zh-CN" sz="2400" b="0">
              <a:latin typeface="黑体" panose="02010609060101010101" pitchFamily="49" charset="-122"/>
            </a:endParaRPr>
          </a:p>
          <a:p>
            <a:pPr marL="0" indent="0" eaLnBrk="1" hangingPunct="1"/>
            <a:endParaRPr lang="en-US" altLang="zh-CN" sz="2400" b="0">
              <a:latin typeface="黑体" panose="02010609060101010101" pitchFamily="49" charset="-122"/>
            </a:endParaRPr>
          </a:p>
          <a:p>
            <a:pPr marL="0" indent="0" eaLnBrk="1" hangingPunct="1">
              <a:buFont typeface="Wingdings" panose="05000000000000000000" pitchFamily="2" charset="2"/>
              <a:buNone/>
            </a:pPr>
            <a:endParaRPr lang="en-US" altLang="zh-CN" sz="2400" b="0">
              <a:latin typeface="黑体" panose="02010609060101010101" pitchFamily="49" charset="-122"/>
            </a:endParaRPr>
          </a:p>
          <a:p>
            <a:pPr marL="0" indent="0" eaLnBrk="1" hangingPunct="1">
              <a:buFont typeface="Wingdings" panose="05000000000000000000" pitchFamily="2" charset="2"/>
              <a:buNone/>
            </a:pPr>
            <a:r>
              <a:rPr lang="en-US" altLang="zh-CN" sz="2400" b="0">
                <a:latin typeface="黑体" panose="02010609060101010101" pitchFamily="49" charset="-122"/>
              </a:rPr>
              <a:t>  </a:t>
            </a:r>
            <a:r>
              <a:rPr lang="zh-CN" altLang="en-US" sz="2400" b="0">
                <a:latin typeface="黑体" panose="02010609060101010101" pitchFamily="49" charset="-122"/>
              </a:rPr>
              <a:t>根据程序的局部性原理， 进程在一段时间内总是集中访问一些页面，这些页面称为活跃页面。</a:t>
            </a:r>
            <a:endParaRPr lang="en-US" altLang="zh-CN" sz="2400" b="0">
              <a:latin typeface="黑体" panose="02010609060101010101" pitchFamily="49" charset="-122"/>
            </a:endParaRPr>
          </a:p>
          <a:p>
            <a:pPr marL="0" indent="0" eaLnBrk="1" hangingPunct="1">
              <a:buFont typeface="Wingdings" panose="05000000000000000000" pitchFamily="2" charset="2"/>
              <a:buNone/>
            </a:pPr>
            <a:r>
              <a:rPr lang="en-US" altLang="zh-CN" sz="2400" b="0">
                <a:latin typeface="黑体" panose="02010609060101010101" pitchFamily="49" charset="-122"/>
              </a:rPr>
              <a:t>  </a:t>
            </a:r>
            <a:r>
              <a:rPr lang="zh-CN" altLang="en-US" sz="2400" b="0">
                <a:latin typeface="黑体" panose="02010609060101010101" pitchFamily="49" charset="-122"/>
              </a:rPr>
              <a:t>如果分配给一个进程的物理页面数太少，使该进程所需的活跃页面不能全部装入内存，则进程在运行过程中将频繁发生中断。</a:t>
            </a:r>
            <a:endParaRPr lang="en-US" altLang="zh-CN" sz="2400" b="0">
              <a:latin typeface="黑体" panose="02010609060101010101" pitchFamily="49" charset="-122"/>
            </a:endParaRPr>
          </a:p>
          <a:p>
            <a:pPr marL="0" indent="0" eaLnBrk="1" hangingPunct="1">
              <a:buFont typeface="Wingdings" panose="05000000000000000000" pitchFamily="2" charset="2"/>
              <a:buNone/>
            </a:pPr>
            <a:r>
              <a:rPr lang="en-US" altLang="zh-CN" sz="2400" b="0">
                <a:latin typeface="黑体" panose="02010609060101010101" pitchFamily="49" charset="-122"/>
              </a:rPr>
              <a:t>  </a:t>
            </a:r>
            <a:r>
              <a:rPr lang="zh-CN" altLang="en-US" sz="2400" b="0">
                <a:latin typeface="黑体" panose="02010609060101010101" pitchFamily="49" charset="-122"/>
              </a:rPr>
              <a:t>如果能为进程提供与活跃页面数相等</a:t>
            </a:r>
            <a:r>
              <a:rPr lang="en-US" altLang="zh-CN" sz="2400" b="0">
                <a:latin typeface="黑体" panose="02010609060101010101" pitchFamily="49" charset="-122"/>
              </a:rPr>
              <a:t>(</a:t>
            </a:r>
            <a:r>
              <a:rPr lang="zh-CN" altLang="en-US" sz="2400" b="0">
                <a:latin typeface="黑体" panose="02010609060101010101" pitchFamily="49" charset="-122"/>
              </a:rPr>
              <a:t>或大于</a:t>
            </a:r>
            <a:r>
              <a:rPr lang="en-US" altLang="zh-CN" sz="2400" b="0">
                <a:latin typeface="黑体" panose="02010609060101010101" pitchFamily="49" charset="-122"/>
              </a:rPr>
              <a:t>)</a:t>
            </a:r>
            <a:r>
              <a:rPr lang="zh-CN" altLang="en-US" sz="2400" b="0">
                <a:latin typeface="黑体" panose="02010609060101010101" pitchFamily="49" charset="-122"/>
              </a:rPr>
              <a:t>的物理页面数，则可以减少缺页中断次数。</a:t>
            </a:r>
            <a:br>
              <a:rPr lang="zh-CN" altLang="en-US" sz="2400" b="0">
                <a:latin typeface="黑体" panose="02010609060101010101" pitchFamily="49" charset="-122"/>
              </a:rPr>
            </a:br>
            <a:r>
              <a:rPr lang="en-US" altLang="zh-CN" sz="2400" b="0">
                <a:latin typeface="黑体" panose="02010609060101010101" pitchFamily="49" charset="-122"/>
              </a:rPr>
              <a:t> </a:t>
            </a:r>
            <a:endParaRPr lang="zh-CN" altLang="en-US" sz="2400" b="0">
              <a:latin typeface="黑体" panose="02010609060101010101" pitchFamily="49" charset="-122"/>
            </a:endParaRPr>
          </a:p>
        </p:txBody>
      </p:sp>
      <p:pic>
        <p:nvPicPr>
          <p:cNvPr id="40964" name="图片 1"/>
          <p:cNvPicPr>
            <a:picLocks noChangeAspect="1"/>
          </p:cNvPicPr>
          <p:nvPr/>
        </p:nvPicPr>
        <p:blipFill>
          <a:blip r:embed="rId2"/>
          <a:stretch>
            <a:fillRect/>
          </a:stretch>
        </p:blipFill>
        <p:spPr>
          <a:xfrm>
            <a:off x="1562100" y="2319338"/>
            <a:ext cx="6019800" cy="1109662"/>
          </a:xfrm>
          <a:prstGeom prst="rect">
            <a:avLst/>
          </a:prstGeom>
          <a:noFill/>
          <a:ln w="9525">
            <a:noFill/>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25</a:t>
            </a:fld>
            <a:endParaRPr lang="zh-CN" altLang="en-US" sz="1400" b="0">
              <a:latin typeface="Tahoma" panose="020B0604030504040204" pitchFamily="34" charset="0"/>
              <a:ea typeface="宋体" panose="02010600030101010101" pitchFamily="2" charset="-122"/>
            </a:endParaRPr>
          </a:p>
        </p:txBody>
      </p:sp>
      <p:sp>
        <p:nvSpPr>
          <p:cNvPr id="41986"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8.2</a:t>
            </a:r>
            <a:r>
              <a:rPr lang="zh-CN" altLang="en-US"/>
              <a:t>分多少块？</a:t>
            </a:r>
          </a:p>
        </p:txBody>
      </p:sp>
      <p:pic>
        <p:nvPicPr>
          <p:cNvPr id="41987" name="图片 4"/>
          <p:cNvPicPr>
            <a:picLocks noChangeAspect="1"/>
          </p:cNvPicPr>
          <p:nvPr/>
        </p:nvPicPr>
        <p:blipFill>
          <a:blip r:embed="rId2"/>
          <a:stretch>
            <a:fillRect/>
          </a:stretch>
        </p:blipFill>
        <p:spPr>
          <a:xfrm>
            <a:off x="755650" y="1501775"/>
            <a:ext cx="6985000" cy="2476500"/>
          </a:xfrm>
          <a:prstGeom prst="rect">
            <a:avLst/>
          </a:prstGeom>
          <a:noFill/>
          <a:ln w="9525">
            <a:noFill/>
          </a:ln>
        </p:spPr>
      </p:pic>
      <p:sp>
        <p:nvSpPr>
          <p:cNvPr id="41988" name="矩形 1"/>
          <p:cNvSpPr/>
          <p:nvPr/>
        </p:nvSpPr>
        <p:spPr>
          <a:xfrm>
            <a:off x="1331913" y="4164013"/>
            <a:ext cx="4572000" cy="15684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400" b="0"/>
              <a:t>A{6, 0, 3, 2}</a:t>
            </a:r>
          </a:p>
          <a:p>
            <a:pPr marL="0" lvl="0" indent="0">
              <a:spcBef>
                <a:spcPct val="0"/>
              </a:spcBef>
              <a:buClrTx/>
              <a:buFontTx/>
              <a:buNone/>
            </a:pPr>
            <a:r>
              <a:rPr lang="en-US" altLang="zh-CN" sz="2400" b="0"/>
              <a:t>B{2, 3, 0, 4}</a:t>
            </a:r>
          </a:p>
          <a:p>
            <a:pPr marL="0" lvl="0" indent="0">
              <a:spcBef>
                <a:spcPct val="0"/>
              </a:spcBef>
              <a:buClrTx/>
              <a:buFontTx/>
              <a:buNone/>
            </a:pPr>
            <a:r>
              <a:rPr lang="en-US" altLang="zh-CN" sz="2400" b="0"/>
              <a:t>C{0, 4, 3, 2, 9}</a:t>
            </a:r>
          </a:p>
          <a:p>
            <a:pPr marL="0" lvl="0" indent="0">
              <a:spcBef>
                <a:spcPct val="0"/>
              </a:spcBef>
              <a:buClrTx/>
              <a:buFontTx/>
              <a:buNone/>
            </a:pPr>
            <a:r>
              <a:rPr lang="en-US" altLang="zh-CN" sz="2400" b="0"/>
              <a:t>D{4, 5, 6, 0, 3, 2}</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3"/>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26</a:t>
            </a:fld>
            <a:endParaRPr lang="zh-CN" altLang="en-US" sz="1400" b="0">
              <a:latin typeface="Tahoma" panose="020B0604030504040204" pitchFamily="34" charset="0"/>
              <a:ea typeface="宋体" panose="02010600030101010101" pitchFamily="2" charset="-122"/>
            </a:endParaRPr>
          </a:p>
        </p:txBody>
      </p:sp>
      <p:sp>
        <p:nvSpPr>
          <p:cNvPr id="43010" name="文本框 6"/>
          <p:cNvSpPr txBox="1"/>
          <p:nvPr>
            <p:custDataLst>
              <p:tags r:id="rId2"/>
            </p:custDataLst>
          </p:nvPr>
        </p:nvSpPr>
        <p:spPr>
          <a:xfrm>
            <a:off x="914400" y="635000"/>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panose="020B0503020204020204" charset="-122"/>
                <a:ea typeface="微软雅黑" panose="020B0503020204020204" charset="-122"/>
                <a:sym typeface="微软雅黑" panose="020B0503020204020204" charset="-122"/>
              </a:rPr>
              <a:t>此处添加题目描述</a:t>
            </a:r>
          </a:p>
        </p:txBody>
      </p:sp>
      <p:sp>
        <p:nvSpPr>
          <p:cNvPr id="43011" name="文本框 7"/>
          <p:cNvSpPr txBox="1"/>
          <p:nvPr>
            <p:custDataLst>
              <p:tags r:id="rId3"/>
            </p:custDataLst>
          </p:nvPr>
        </p:nvSpPr>
        <p:spPr>
          <a:xfrm>
            <a:off x="1828800" y="27860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b="0">
                <a:ea typeface="宋体" panose="02010600030101010101" pitchFamily="2" charset="-122"/>
              </a:rPr>
              <a:t>{6, 0, 3, 2}</a:t>
            </a:r>
          </a:p>
        </p:txBody>
      </p:sp>
      <p:sp>
        <p:nvSpPr>
          <p:cNvPr id="43012" name="文本框 8"/>
          <p:cNvSpPr txBox="1"/>
          <p:nvPr>
            <p:custDataLst>
              <p:tags r:id="rId4"/>
            </p:custDataLst>
          </p:nvPr>
        </p:nvSpPr>
        <p:spPr>
          <a:xfrm>
            <a:off x="1828800" y="36433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b="0">
                <a:ea typeface="宋体" panose="02010600030101010101" pitchFamily="2" charset="-122"/>
              </a:rPr>
              <a:t>{2, 3, 0, 4}</a:t>
            </a:r>
          </a:p>
        </p:txBody>
      </p:sp>
      <p:sp>
        <p:nvSpPr>
          <p:cNvPr id="43013" name="文本框 9"/>
          <p:cNvSpPr txBox="1"/>
          <p:nvPr>
            <p:custDataLst>
              <p:tags r:id="rId5"/>
            </p:custDataLst>
          </p:nvPr>
        </p:nvSpPr>
        <p:spPr>
          <a:xfrm>
            <a:off x="1828800" y="45005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b="0">
                <a:ea typeface="宋体" panose="02010600030101010101" pitchFamily="2" charset="-122"/>
              </a:rPr>
              <a:t>{0, 4, 3, 2, 9}</a:t>
            </a:r>
          </a:p>
        </p:txBody>
      </p:sp>
      <p:sp>
        <p:nvSpPr>
          <p:cNvPr id="43014" name="文本框 10"/>
          <p:cNvSpPr txBox="1"/>
          <p:nvPr>
            <p:custDataLst>
              <p:tags r:id="rId6"/>
            </p:custDataLst>
          </p:nvPr>
        </p:nvSpPr>
        <p:spPr>
          <a:xfrm>
            <a:off x="1828800" y="53578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b="0">
                <a:ea typeface="宋体" panose="02010600030101010101" pitchFamily="2" charset="-122"/>
              </a:rPr>
              <a:t>{4, 5, 6, 0, 3, 2}</a:t>
            </a:r>
          </a:p>
        </p:txBody>
      </p:sp>
      <p:sp>
        <p:nvSpPr>
          <p:cNvPr id="43015" name="椭圆 11"/>
          <p:cNvSpPr>
            <a:spLocks noChangeAspect="1"/>
          </p:cNvSpPr>
          <p:nvPr>
            <p:custDataLst>
              <p:tags r:id="rId7"/>
            </p:custDataLst>
          </p:nvPr>
        </p:nvSpPr>
        <p:spPr>
          <a:xfrm>
            <a:off x="1114425" y="2849563"/>
            <a:ext cx="514350" cy="514350"/>
          </a:xfrm>
          <a:prstGeom prst="ellipse">
            <a:avLst/>
          </a:prstGeom>
          <a:solidFill>
            <a:srgbClr val="00FF00"/>
          </a:solidFill>
          <a:ln w="254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3016" name="椭圆 12"/>
          <p:cNvSpPr>
            <a:spLocks noChangeAspect="1"/>
          </p:cNvSpPr>
          <p:nvPr>
            <p:custDataLst>
              <p:tags r:id="rId8"/>
            </p:custDataLst>
          </p:nvPr>
        </p:nvSpPr>
        <p:spPr>
          <a:xfrm>
            <a:off x="1114425" y="3706813"/>
            <a:ext cx="514350" cy="514350"/>
          </a:xfrm>
          <a:prstGeom prst="ellipse">
            <a:avLst/>
          </a:prstGeom>
          <a:solidFill>
            <a:srgbClr val="808080"/>
          </a:solidFill>
          <a:ln w="127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3017" name="椭圆 13"/>
          <p:cNvSpPr>
            <a:spLocks noChangeAspect="1"/>
          </p:cNvSpPr>
          <p:nvPr>
            <p:custDataLst>
              <p:tags r:id="rId9"/>
            </p:custDataLst>
          </p:nvPr>
        </p:nvSpPr>
        <p:spPr>
          <a:xfrm>
            <a:off x="1114425" y="4564063"/>
            <a:ext cx="514350" cy="514350"/>
          </a:xfrm>
          <a:prstGeom prst="ellipse">
            <a:avLst/>
          </a:prstGeom>
          <a:solidFill>
            <a:srgbClr val="808080"/>
          </a:solidFill>
          <a:ln w="127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3018" name="椭圆 14"/>
          <p:cNvSpPr>
            <a:spLocks noChangeAspect="1"/>
          </p:cNvSpPr>
          <p:nvPr>
            <p:custDataLst>
              <p:tags r:id="rId10"/>
            </p:custDataLst>
          </p:nvPr>
        </p:nvSpPr>
        <p:spPr>
          <a:xfrm>
            <a:off x="1114425" y="5421313"/>
            <a:ext cx="514350" cy="514350"/>
          </a:xfrm>
          <a:prstGeom prst="ellipse">
            <a:avLst/>
          </a:prstGeom>
          <a:solidFill>
            <a:srgbClr val="808080"/>
          </a:solidFill>
          <a:ln w="127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43019" name="矩形: 圆角 15"/>
          <p:cNvSpPr/>
          <p:nvPr>
            <p:custDataLst>
              <p:tags r:id="rId11"/>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solidFill>
                  <a:srgbClr val="FFFFFF"/>
                </a:solidFill>
                <a:latin typeface="微软雅黑" panose="020B0503020204020204" charset="-122"/>
                <a:ea typeface="微软雅黑" panose="020B0503020204020204" charset="-122"/>
                <a:sym typeface="微软雅黑" panose="020B0503020204020204" charset="-122"/>
              </a:rPr>
              <a:t>提交</a:t>
            </a:r>
          </a:p>
        </p:txBody>
      </p:sp>
      <p:pic>
        <p:nvPicPr>
          <p:cNvPr id="43020" name="图片 4"/>
          <p:cNvPicPr>
            <a:picLocks noChangeAspect="1"/>
          </p:cNvPicPr>
          <p:nvPr/>
        </p:nvPicPr>
        <p:blipFill>
          <a:blip r:embed="rId18"/>
          <a:stretch>
            <a:fillRect/>
          </a:stretch>
        </p:blipFill>
        <p:spPr>
          <a:xfrm>
            <a:off x="936625" y="727075"/>
            <a:ext cx="6313488" cy="2103438"/>
          </a:xfrm>
          <a:prstGeom prst="rect">
            <a:avLst/>
          </a:prstGeom>
          <a:noFill/>
          <a:ln w="9525">
            <a:noFill/>
          </a:ln>
        </p:spPr>
      </p:pic>
      <p:grpSp>
        <p:nvGrpSpPr>
          <p:cNvPr id="43021" name="组合 20"/>
          <p:cNvGrpSpPr/>
          <p:nvPr/>
        </p:nvGrpSpPr>
        <p:grpSpPr>
          <a:xfrm>
            <a:off x="0" y="0"/>
            <a:ext cx="9144000" cy="635000"/>
            <a:chOff x="0" y="0"/>
            <a:chExt cx="9144000" cy="635000"/>
          </a:xfrm>
        </p:grpSpPr>
        <p:sp>
          <p:nvSpPr>
            <p:cNvPr id="43023" name="TitleBackground"/>
            <p:cNvSpPr/>
            <p:nvPr>
              <p:custDataLst>
                <p:tags r:id="rId13"/>
              </p:custDataLst>
            </p:nvPr>
          </p:nvSpPr>
          <p:spPr>
            <a:xfrm>
              <a:off x="0" y="0"/>
              <a:ext cx="9144000" cy="635000"/>
            </a:xfrm>
            <a:prstGeom prst="rect">
              <a:avLst/>
            </a:prstGeom>
            <a:solidFill>
              <a:srgbClr val="F6F7F8"/>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43024" name="ColorBlock"/>
            <p:cNvSpPr/>
            <p:nvPr>
              <p:custDataLst>
                <p:tags r:id="rId14"/>
              </p:custDataLst>
            </p:nvPr>
          </p:nvSpPr>
          <p:spPr>
            <a:xfrm>
              <a:off x="0" y="0"/>
              <a:ext cx="190500" cy="635000"/>
            </a:xfrm>
            <a:prstGeom prst="rect">
              <a:avLst/>
            </a:prstGeom>
            <a:solidFill>
              <a:srgbClr val="639EF4"/>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43025" name="TypeText"/>
            <p:cNvSpPr txBox="1"/>
            <p:nvPr>
              <p:custDataLst>
                <p:tags r:id="rId15"/>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43026" name="TipText"/>
            <p:cNvSpPr txBox="1"/>
            <p:nvPr>
              <p:custDataLst>
                <p:tags r:id="rId16"/>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b="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43022" name="图片 5"/>
          <p:cNvPicPr/>
          <p:nvPr>
            <p:custDataLst>
              <p:tags r:id="rId12"/>
            </p:custDataLst>
          </p:nvPr>
        </p:nvPicPr>
        <p:blipFill>
          <a:blip r:embed="rId19"/>
          <a:stretch>
            <a:fillRect/>
          </a:stretch>
        </p:blipFill>
        <p:spPr>
          <a:xfrm>
            <a:off x="7594600" y="63500"/>
            <a:ext cx="1422400" cy="508000"/>
          </a:xfrm>
          <a:prstGeom prst="rect">
            <a:avLst/>
          </a:prstGeom>
          <a:noFill/>
          <a:ln w="9525">
            <a:noFill/>
          </a:ln>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27</a:t>
            </a:fld>
            <a:endParaRPr lang="zh-CN" altLang="en-US" sz="1400" b="0">
              <a:latin typeface="Tahoma" panose="020B0604030504040204" pitchFamily="34" charset="0"/>
              <a:ea typeface="宋体" panose="02010600030101010101" pitchFamily="2" charset="-122"/>
            </a:endParaRPr>
          </a:p>
        </p:txBody>
      </p:sp>
      <p:sp>
        <p:nvSpPr>
          <p:cNvPr id="44034"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8.2</a:t>
            </a:r>
            <a:r>
              <a:rPr lang="zh-CN" altLang="en-US"/>
              <a:t>分多少块？</a:t>
            </a:r>
          </a:p>
        </p:txBody>
      </p:sp>
      <p:sp>
        <p:nvSpPr>
          <p:cNvPr id="29699" name="内容占位符 1"/>
          <p:cNvSpPr>
            <a:spLocks noGrp="1" noChangeArrowheads="1"/>
          </p:cNvSpPr>
          <p:nvPr>
            <p:ph idx="1"/>
          </p:nvPr>
        </p:nvSpPr>
        <p:spPr>
          <a:xfrm>
            <a:off x="250825" y="1447800"/>
            <a:ext cx="8951913" cy="4572000"/>
          </a:xfrm>
        </p:spPr>
        <p:txBody>
          <a:bodyPr vert="horz" wrap="square" lIns="91440" tIns="45720" rIns="91440" bIns="45720" numCol="1" anchor="t" anchorCtr="0" compatLnSpc="1"/>
          <a:lstStyle/>
          <a:p>
            <a:pPr marL="0" indent="0">
              <a:buFont typeface="Wingdings" panose="05000000000000000000" pitchFamily="2" charset="2"/>
              <a:buNone/>
            </a:pPr>
            <a:r>
              <a:rPr lang="zh-CN" altLang="en-US" sz="2400" b="0">
                <a:latin typeface="黑体" panose="02010609060101010101" pitchFamily="49" charset="-122"/>
              </a:rPr>
              <a:t>常驻集</a:t>
            </a:r>
            <a:r>
              <a:rPr lang="en-US" altLang="zh-CN" sz="2400" b="0">
                <a:latin typeface="黑体" panose="02010609060101010101" pitchFamily="49" charset="-122"/>
              </a:rPr>
              <a:t>(resident set)</a:t>
            </a:r>
            <a:br>
              <a:rPr lang="en-US" altLang="zh-CN" sz="2400" b="0">
                <a:latin typeface="黑体" panose="02010609060101010101" pitchFamily="49" charset="-122"/>
              </a:rPr>
            </a:br>
            <a:r>
              <a:rPr lang="zh-CN" altLang="en-US" sz="2400" b="0">
                <a:latin typeface="黑体" panose="02010609060101010101" pitchFamily="49" charset="-122"/>
              </a:rPr>
              <a:t>常驻集指虚拟页式管理中给进程分配的物理页面数目。</a:t>
            </a:r>
            <a:br>
              <a:rPr lang="zh-CN" altLang="en-US" sz="2400" b="0">
                <a:latin typeface="黑体" panose="02010609060101010101" pitchFamily="49" charset="-122"/>
              </a:rPr>
            </a:br>
            <a:r>
              <a:rPr lang="zh-CN" altLang="en-US" sz="2400" b="0">
                <a:latin typeface="黑体" panose="02010609060101010101" pitchFamily="49" charset="-122"/>
              </a:rPr>
              <a:t>① 常驻集越小，内存中能够容纳的并发进程数目越多，但就单个进程来说，缺页中断率会上升，调页开销增大。</a:t>
            </a:r>
            <a:br>
              <a:rPr lang="zh-CN" altLang="en-US" sz="2400" b="0">
                <a:latin typeface="黑体" panose="02010609060101010101" pitchFamily="49" charset="-122"/>
              </a:rPr>
            </a:br>
            <a:r>
              <a:rPr lang="zh-CN" altLang="en-US" sz="2400" b="0">
                <a:latin typeface="黑体" panose="02010609060101010101" pitchFamily="49" charset="-122"/>
              </a:rPr>
              <a:t>② 常驻集达到一定数目后，再增加页面，缺页率不会明显下降。 </a:t>
            </a:r>
            <a:br>
              <a:rPr lang="zh-CN" altLang="en-US" sz="2400" b="0">
                <a:latin typeface="黑体" panose="02010609060101010101" pitchFamily="49" charset="-122"/>
              </a:rPr>
            </a:br>
            <a:endParaRPr lang="zh-CN" altLang="en-US" sz="2400" b="0">
              <a:latin typeface="黑体" panose="02010609060101010101" pitchFamily="49" charset="-122"/>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3687763"/>
            <a:ext cx="4854575"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28</a:t>
            </a:fld>
            <a:endParaRPr lang="zh-CN" altLang="en-US" sz="1400" b="0">
              <a:latin typeface="Tahoma" panose="020B0604030504040204" pitchFamily="34" charset="0"/>
              <a:ea typeface="宋体" panose="02010600030101010101" pitchFamily="2" charset="-122"/>
            </a:endParaRPr>
          </a:p>
        </p:txBody>
      </p:sp>
      <p:sp>
        <p:nvSpPr>
          <p:cNvPr id="45058"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8.2</a:t>
            </a:r>
            <a:r>
              <a:rPr lang="zh-CN" altLang="en-US"/>
              <a:t>分多少块？</a:t>
            </a:r>
          </a:p>
        </p:txBody>
      </p:sp>
      <p:sp>
        <p:nvSpPr>
          <p:cNvPr id="32771" name="矩形 3"/>
          <p:cNvSpPr>
            <a:spLocks noChangeArrowheads="1"/>
          </p:cNvSpPr>
          <p:nvPr/>
        </p:nvSpPr>
        <p:spPr bwMode="auto">
          <a:xfrm>
            <a:off x="406400" y="1341438"/>
            <a:ext cx="8342313" cy="5113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2400" b="0">
                <a:latin typeface="黑体" panose="02010609060101010101" pitchFamily="49" charset="-122"/>
              </a:rPr>
              <a:t>常驻集管理    </a:t>
            </a:r>
            <a:endParaRPr lang="en-US" altLang="zh-CN" sz="2400" b="0">
              <a:latin typeface="黑体" panose="02010609060101010101" pitchFamily="49" charset="-122"/>
            </a:endParaRPr>
          </a:p>
          <a:p>
            <a:pPr marL="0" lvl="0" indent="0" eaLnBrk="1" hangingPunct="1">
              <a:spcBef>
                <a:spcPct val="0"/>
              </a:spcBef>
              <a:buClrTx/>
              <a:buFontTx/>
              <a:buNone/>
            </a:pPr>
            <a:r>
              <a:rPr lang="en-US" altLang="zh-CN" sz="2400" b="0">
                <a:latin typeface="黑体" panose="02010609060101010101" pitchFamily="49" charset="-122"/>
              </a:rPr>
              <a:t>1</a:t>
            </a:r>
            <a:r>
              <a:rPr lang="zh-CN" altLang="en-US" sz="2400" b="0">
                <a:latin typeface="黑体" panose="02010609060101010101" pitchFamily="49" charset="-122"/>
              </a:rPr>
              <a:t> 固定分配：操作系统为每个进程分配一组固定数目的物理块，在进程运行期间不再改变。即，驻留集大小不变。</a:t>
            </a:r>
            <a:endParaRPr lang="en-US" altLang="zh-CN" sz="2400" b="0">
              <a:latin typeface="黑体" panose="02010609060101010101" pitchFamily="49" charset="-122"/>
            </a:endParaRPr>
          </a:p>
          <a:p>
            <a:pPr marL="0" lvl="0" indent="0" eaLnBrk="1" hangingPunct="1">
              <a:spcBef>
                <a:spcPct val="0"/>
              </a:spcBef>
              <a:buClrTx/>
              <a:buFontTx/>
              <a:buNone/>
            </a:pPr>
            <a:r>
              <a:rPr lang="en-US" altLang="zh-CN" sz="2400" b="0">
                <a:latin typeface="黑体" panose="02010609060101010101" pitchFamily="49" charset="-122"/>
              </a:rPr>
              <a:t>2</a:t>
            </a:r>
            <a:r>
              <a:rPr lang="zh-CN" altLang="en-US" sz="2400" b="0">
                <a:latin typeface="黑体" panose="02010609060101010101" pitchFamily="49" charset="-122"/>
              </a:rPr>
              <a:t> 可变分配：先为每个进程分配一定数目的物理块，在进程运行期问，可根据情况做适当的增加或减少。即，驻留集大小可变。</a:t>
            </a:r>
            <a:endParaRPr lang="en-US" altLang="zh-CN" sz="2400" b="0">
              <a:latin typeface="黑体" panose="02010609060101010101" pitchFamily="49" charset="-122"/>
            </a:endParaRPr>
          </a:p>
          <a:p>
            <a:pPr marL="0" lvl="0" indent="0" eaLnBrk="1" hangingPunct="1">
              <a:spcBef>
                <a:spcPct val="0"/>
              </a:spcBef>
              <a:buClrTx/>
              <a:buFontTx/>
              <a:buNone/>
            </a:pPr>
            <a:r>
              <a:rPr lang="en-US" altLang="zh-CN" sz="2400" b="0">
                <a:latin typeface="黑体" panose="02010609060101010101" pitchFamily="49" charset="-122"/>
              </a:rPr>
              <a:t>3</a:t>
            </a:r>
            <a:r>
              <a:rPr lang="zh-CN" altLang="en-US" sz="2400" b="0">
                <a:latin typeface="黑体" panose="02010609060101010101" pitchFamily="49" charset="-122"/>
              </a:rPr>
              <a:t> 局部置换：发生缺页时只能选进程自己的物理块进行置换。</a:t>
            </a:r>
            <a:r>
              <a:rPr lang="en-US" altLang="zh-CN" sz="2400" b="0">
                <a:latin typeface="黑体" panose="02010609060101010101" pitchFamily="49" charset="-122"/>
              </a:rPr>
              <a:t>4</a:t>
            </a:r>
            <a:r>
              <a:rPr lang="zh-CN" altLang="en-US" sz="2400" b="0">
                <a:latin typeface="黑体" panose="02010609060101010101" pitchFamily="49" charset="-122"/>
              </a:rPr>
              <a:t> 全局置换：可以将操作系统保留的空闲物理块分配给缺页进程，也可以将别的进程持有的块置换到外存，再分配给缺页进程。</a:t>
            </a:r>
          </a:p>
          <a:p>
            <a:pPr>
              <a:buClrTx/>
              <a:buFontTx/>
            </a:pPr>
            <a:r>
              <a:rPr lang="en-US" altLang="zh-CN" sz="2400" dirty="0">
                <a:latin typeface="黑体" panose="02010609060101010101" pitchFamily="49" charset="-122"/>
                <a:sym typeface="+mn-ea"/>
              </a:rPr>
              <a:t>1</a:t>
            </a:r>
            <a:r>
              <a:rPr lang="zh-CN" altLang="en-US" sz="2400" dirty="0">
                <a:latin typeface="黑体" panose="02010609060101010101" pitchFamily="49" charset="-122"/>
                <a:sym typeface="+mn-ea"/>
              </a:rPr>
              <a:t> 固定分配、局部置换       </a:t>
            </a:r>
            <a:endParaRPr lang="en-US" altLang="zh-CN" sz="2400" dirty="0">
              <a:latin typeface="黑体" panose="02010609060101010101" pitchFamily="49" charset="-122"/>
            </a:endParaRPr>
          </a:p>
          <a:p>
            <a:pPr>
              <a:buClrTx/>
              <a:buFontTx/>
            </a:pPr>
            <a:r>
              <a:rPr lang="en-US" altLang="zh-CN" sz="2400" dirty="0">
                <a:latin typeface="黑体" panose="02010609060101010101" pitchFamily="49" charset="-122"/>
                <a:sym typeface="+mn-ea"/>
              </a:rPr>
              <a:t>2</a:t>
            </a:r>
            <a:r>
              <a:rPr lang="zh-CN" altLang="en-US" sz="2400" dirty="0">
                <a:latin typeface="黑体" panose="02010609060101010101" pitchFamily="49" charset="-122"/>
                <a:sym typeface="+mn-ea"/>
              </a:rPr>
              <a:t> 可变分配、全局置换    </a:t>
            </a:r>
            <a:endParaRPr lang="en-US" altLang="zh-CN" sz="2400" dirty="0">
              <a:latin typeface="黑体" panose="02010609060101010101" pitchFamily="49" charset="-122"/>
            </a:endParaRPr>
          </a:p>
          <a:p>
            <a:pPr>
              <a:buClrTx/>
              <a:buFontTx/>
            </a:pPr>
            <a:r>
              <a:rPr lang="en-US" altLang="zh-CN" sz="2400" dirty="0">
                <a:latin typeface="黑体" panose="02010609060101010101" pitchFamily="49" charset="-122"/>
                <a:sym typeface="+mn-ea"/>
              </a:rPr>
              <a:t>3</a:t>
            </a:r>
            <a:r>
              <a:rPr lang="zh-CN" altLang="en-US" sz="2400" dirty="0">
                <a:latin typeface="黑体" panose="02010609060101010101" pitchFamily="49" charset="-122"/>
                <a:sym typeface="+mn-ea"/>
              </a:rPr>
              <a:t> 可变分配、局部置换</a:t>
            </a:r>
            <a:r>
              <a:rPr lang="zh-CN" altLang="en-US" sz="2400" b="0">
                <a:latin typeface="黑体" panose="02010609060101010101" pitchFamily="49" charset="-122"/>
              </a:rPr>
              <a:t>   </a:t>
            </a:r>
            <a:endParaRPr lang="en-US" altLang="zh-CN" sz="2400" b="0">
              <a:latin typeface="黑体" panose="02010609060101010101" pitchFamily="49"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29</a:t>
            </a:fld>
            <a:endParaRPr lang="zh-CN" altLang="en-US" sz="1400" b="0">
              <a:latin typeface="Tahoma" panose="020B0604030504040204" pitchFamily="34" charset="0"/>
              <a:ea typeface="宋体" panose="02010600030101010101" pitchFamily="2" charset="-122"/>
            </a:endParaRPr>
          </a:p>
        </p:txBody>
      </p:sp>
      <p:sp>
        <p:nvSpPr>
          <p:cNvPr id="46082"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8.2</a:t>
            </a:r>
            <a:r>
              <a:rPr lang="zh-CN" altLang="en-US"/>
              <a:t> 缺页率</a:t>
            </a:r>
          </a:p>
        </p:txBody>
      </p:sp>
      <p:sp>
        <p:nvSpPr>
          <p:cNvPr id="30723" name="Rectangle 3"/>
          <p:cNvSpPr>
            <a:spLocks noGrp="1" noChangeArrowheads="1"/>
          </p:cNvSpPr>
          <p:nvPr>
            <p:ph idx="1"/>
          </p:nvPr>
        </p:nvSpPr>
        <p:spPr>
          <a:xfrm>
            <a:off x="250825" y="1341438"/>
            <a:ext cx="8501063" cy="4572000"/>
          </a:xfrm>
        </p:spPr>
        <p:txBody>
          <a:bodyPr vert="horz" wrap="square" lIns="91440" tIns="45720" rIns="91440" bIns="45720" numCol="1" anchor="t" anchorCtr="0" compatLnSpc="1"/>
          <a:lstStyle/>
          <a:p>
            <a:pPr marL="0" indent="0" eaLnBrk="1" hangingPunct="1">
              <a:buFont typeface="Wingdings" panose="05000000000000000000" pitchFamily="2" charset="2"/>
              <a:buNone/>
            </a:pPr>
            <a:r>
              <a:rPr lang="zh-CN" altLang="en-US" sz="2400" b="0">
                <a:latin typeface="黑体" panose="02010609060101010101" pitchFamily="49" charset="-122"/>
              </a:rPr>
              <a:t>缺页率：缺页次数</a:t>
            </a:r>
            <a:r>
              <a:rPr lang="en-US" altLang="zh-CN" sz="2400" b="0">
                <a:latin typeface="黑体" panose="02010609060101010101" pitchFamily="49" charset="-122"/>
              </a:rPr>
              <a:t>/</a:t>
            </a:r>
            <a:r>
              <a:rPr lang="zh-CN" altLang="en-US" sz="2400" b="0">
                <a:latin typeface="黑体" panose="02010609060101010101" pitchFamily="49" charset="-122"/>
              </a:rPr>
              <a:t>内存访问次数。</a:t>
            </a:r>
            <a:endParaRPr lang="en-US" altLang="zh-CN" sz="2400" b="0">
              <a:latin typeface="黑体" panose="02010609060101010101" pitchFamily="49" charset="-122"/>
            </a:endParaRPr>
          </a:p>
          <a:p>
            <a:pPr marL="0" indent="0" eaLnBrk="1" hangingPunct="1">
              <a:buFont typeface="Monotype Sorts" pitchFamily="2" charset="2"/>
              <a:buChar char="•"/>
            </a:pPr>
            <a:r>
              <a:rPr lang="zh-CN" altLang="en-US" sz="2400" b="0">
                <a:latin typeface="黑体" panose="02010609060101010101" pitchFamily="49" charset="-122"/>
              </a:rPr>
              <a:t>页面数目：数目越多，缺页率越低。</a:t>
            </a:r>
            <a:endParaRPr lang="en-US" altLang="zh-CN" sz="2400" b="0">
              <a:latin typeface="黑体" panose="02010609060101010101" pitchFamily="49" charset="-122"/>
            </a:endParaRPr>
          </a:p>
          <a:p>
            <a:pPr marL="0" indent="0" eaLnBrk="1" hangingPunct="1">
              <a:buFont typeface="Monotype Sorts" pitchFamily="2" charset="2"/>
              <a:buChar char="•"/>
            </a:pPr>
            <a:r>
              <a:rPr lang="zh-CN" altLang="en-US" sz="2400" b="0">
                <a:latin typeface="黑体" panose="02010609060101010101" pitchFamily="49" charset="-122"/>
              </a:rPr>
              <a:t>页面大小：页面很小，进程的页数目较多，通过调页很快适应局部性原理的要求，缺页率低；页面很大，每个进程使用的大部分地址空间都在内存，缺页率低；页面中等大小，局部性区域只占每页的较小部分，缺页率高。</a:t>
            </a:r>
            <a:endParaRPr lang="en-US" altLang="zh-CN" sz="2400" b="0">
              <a:latin typeface="黑体" panose="02010609060101010101" pitchFamily="49" charset="-122"/>
            </a:endParaRPr>
          </a:p>
          <a:p>
            <a:pPr marL="0" indent="0" eaLnBrk="1" hangingPunct="1">
              <a:buFont typeface="Monotype Sorts" pitchFamily="2" charset="2"/>
              <a:buChar char="•"/>
            </a:pPr>
            <a:r>
              <a:rPr lang="zh-CN" altLang="en-US" sz="2400" b="0">
                <a:latin typeface="黑体" panose="02010609060101010101" pitchFamily="49" charset="-122"/>
              </a:rPr>
              <a:t>程序的编写方法：如果是结构化程序设计方法，程序数据局部性强，但面向对象技术和多线程破坏了局部性。</a:t>
            </a:r>
            <a:endParaRPr lang="en-US" altLang="zh-CN" sz="2400" b="0">
              <a:latin typeface="黑体" panose="02010609060101010101" pitchFamily="49" charset="-122"/>
            </a:endParaRPr>
          </a:p>
          <a:p>
            <a:pPr marL="0" indent="0" eaLnBrk="1" hangingPunct="1">
              <a:buFont typeface="Monotype Sorts" pitchFamily="2" charset="2"/>
              <a:buChar char="•"/>
            </a:pPr>
            <a:r>
              <a:rPr lang="zh-CN" altLang="en-US" sz="2400" b="0">
                <a:latin typeface="黑体" panose="02010609060101010101" pitchFamily="49" charset="-122"/>
              </a:rPr>
              <a:t>磁盘</a:t>
            </a:r>
            <a:r>
              <a:rPr lang="en-US" altLang="zh-CN" sz="2400" b="0">
                <a:latin typeface="黑体" panose="02010609060101010101" pitchFamily="49" charset="-122"/>
              </a:rPr>
              <a:t>I/O</a:t>
            </a:r>
            <a:r>
              <a:rPr lang="zh-CN" altLang="en-US" sz="2400" b="0">
                <a:latin typeface="黑体" panose="02010609060101010101" pitchFamily="49" charset="-122"/>
              </a:rPr>
              <a:t>访问时间与页面大小：磁盘</a:t>
            </a:r>
            <a:r>
              <a:rPr lang="en-US" altLang="zh-CN" sz="2400" b="0">
                <a:latin typeface="黑体" panose="02010609060101010101" pitchFamily="49" charset="-122"/>
              </a:rPr>
              <a:t>I/O</a:t>
            </a:r>
            <a:r>
              <a:rPr lang="zh-CN" altLang="en-US" sz="2400" b="0">
                <a:latin typeface="黑体" panose="02010609060101010101" pitchFamily="49" charset="-122"/>
              </a:rPr>
              <a:t>访问时间由旋转等待时间和读写时间组成，其中前者占</a:t>
            </a:r>
            <a:r>
              <a:rPr lang="en-US" altLang="zh-CN" sz="2400" b="0">
                <a:latin typeface="黑体" panose="02010609060101010101" pitchFamily="49" charset="-122"/>
              </a:rPr>
              <a:t>80~90%</a:t>
            </a:r>
            <a:r>
              <a:rPr lang="zh-CN" altLang="en-US" sz="2400" b="0">
                <a:latin typeface="黑体" panose="02010609060101010101" pitchFamily="49" charset="-122"/>
              </a:rPr>
              <a:t>。因此，采用较大的页面，可以提高从交换区调页的</a:t>
            </a:r>
            <a:r>
              <a:rPr lang="en-US" altLang="zh-CN" sz="2400" b="0">
                <a:latin typeface="黑体" panose="02010609060101010101" pitchFamily="49" charset="-122"/>
              </a:rPr>
              <a:t>I/O</a:t>
            </a:r>
            <a:r>
              <a:rPr lang="zh-CN" altLang="en-US" sz="2400" b="0">
                <a:latin typeface="黑体" panose="02010609060101010101" pitchFamily="49" charset="-122"/>
              </a:rPr>
              <a:t>效率。</a:t>
            </a:r>
            <a:endParaRPr lang="en-US" altLang="zh-CN" sz="2400" b="0">
              <a:latin typeface="黑体" panose="02010609060101010101" pitchFamily="49" charset="-122"/>
            </a:endParaRPr>
          </a:p>
          <a:p>
            <a:pPr marL="0" indent="0" eaLnBrk="1" hangingPunct="1">
              <a:buFont typeface="Monotype Sorts" pitchFamily="2" charset="2"/>
              <a:buChar char="•"/>
            </a:pPr>
            <a:r>
              <a:rPr lang="zh-CN" altLang="en-US" sz="2400" b="0">
                <a:latin typeface="黑体" panose="02010609060101010101" pitchFamily="49" charset="-122"/>
              </a:rPr>
              <a:t>页面置换算法</a:t>
            </a:r>
          </a:p>
          <a:p>
            <a:pPr marL="0" indent="0" eaLnBrk="1" hangingPunct="1">
              <a:buFont typeface="Wingdings" panose="05000000000000000000" pitchFamily="2" charset="2"/>
              <a:buNone/>
            </a:pPr>
            <a:endParaRPr lang="zh-CN" altLang="en-US" sz="2400" b="0">
              <a:latin typeface="黑体" panose="02010609060101010101" pitchFamily="49"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30</a:t>
            </a:fld>
            <a:endParaRPr lang="zh-CN" altLang="en-US" sz="1400" b="0">
              <a:latin typeface="Tahoma" panose="020B0604030504040204" pitchFamily="34" charset="0"/>
              <a:ea typeface="宋体" panose="02010600030101010101" pitchFamily="2" charset="-122"/>
            </a:endParaRPr>
          </a:p>
        </p:txBody>
      </p:sp>
      <p:sp>
        <p:nvSpPr>
          <p:cNvPr id="47106"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8.2</a:t>
            </a:r>
            <a:r>
              <a:rPr lang="zh-CN" altLang="en-US"/>
              <a:t> 缺页率</a:t>
            </a:r>
          </a:p>
        </p:txBody>
      </p:sp>
      <p:sp>
        <p:nvSpPr>
          <p:cNvPr id="47107" name="Rectangle 3"/>
          <p:cNvSpPr>
            <a:spLocks noGrp="1"/>
          </p:cNvSpPr>
          <p:nvPr>
            <p:ph idx="1"/>
          </p:nvPr>
        </p:nvSpPr>
        <p:spPr>
          <a:xfrm>
            <a:off x="468313" y="1447800"/>
            <a:ext cx="7772400" cy="1600200"/>
          </a:xfrm>
        </p:spPr>
        <p:txBody>
          <a:bodyPr vert="horz" wrap="square" lIns="91440" tIns="45720" rIns="91440" bIns="45720" anchor="t" anchorCtr="0"/>
          <a:lstStyle/>
          <a:p>
            <a:pPr eaLnBrk="1" hangingPunct="1">
              <a:buFont typeface="Wingdings" panose="05000000000000000000" pitchFamily="2" charset="2"/>
              <a:buNone/>
            </a:pPr>
            <a:r>
              <a:rPr lang="zh-CN" altLang="en-US" sz="2400" b="0"/>
              <a:t>例：请求分页系统，内存分成128字节的块，有两段程序如下，分页时数组中的元素每一行放在一页中，假定用户工作区只有一块（只能放数组的一行），问两段程序的缺页次数多少？</a:t>
            </a:r>
          </a:p>
        </p:txBody>
      </p:sp>
      <p:sp>
        <p:nvSpPr>
          <p:cNvPr id="47108" name="Rectangle 4"/>
          <p:cNvSpPr/>
          <p:nvPr/>
        </p:nvSpPr>
        <p:spPr>
          <a:xfrm>
            <a:off x="1600200" y="3048000"/>
            <a:ext cx="3276600" cy="1752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2400" b="0">
                <a:ea typeface="宋体" panose="02010600030101010101" pitchFamily="2" charset="-122"/>
              </a:rPr>
              <a:t>int array[128][128];</a:t>
            </a:r>
          </a:p>
          <a:p>
            <a:pPr marL="0" lvl="0" indent="0" eaLnBrk="1" hangingPunct="1">
              <a:spcBef>
                <a:spcPct val="0"/>
              </a:spcBef>
              <a:buClrTx/>
              <a:buFontTx/>
              <a:buNone/>
            </a:pPr>
            <a:r>
              <a:rPr lang="en-US" altLang="zh-CN" sz="2400" b="0">
                <a:ea typeface="宋体" panose="02010600030101010101" pitchFamily="2" charset="-122"/>
              </a:rPr>
              <a:t>for(j=0;j&lt;128;j++)</a:t>
            </a:r>
          </a:p>
          <a:p>
            <a:pPr marL="0" lvl="0" indent="0" eaLnBrk="1" hangingPunct="1">
              <a:spcBef>
                <a:spcPct val="0"/>
              </a:spcBef>
              <a:buClrTx/>
              <a:buFontTx/>
              <a:buNone/>
            </a:pPr>
            <a:r>
              <a:rPr lang="en-US" altLang="zh-CN" sz="2400" b="0">
                <a:ea typeface="宋体" panose="02010600030101010101" pitchFamily="2" charset="-122"/>
              </a:rPr>
              <a:t>  for(i=0;i&lt;128;i++)</a:t>
            </a:r>
          </a:p>
          <a:p>
            <a:pPr marL="0" lvl="0" indent="0" eaLnBrk="1" hangingPunct="1">
              <a:spcBef>
                <a:spcPct val="0"/>
              </a:spcBef>
              <a:buClrTx/>
              <a:buFontTx/>
              <a:buNone/>
            </a:pPr>
            <a:r>
              <a:rPr lang="en-US" altLang="zh-CN" sz="2400" b="0">
                <a:ea typeface="宋体" panose="02010600030101010101" pitchFamily="2" charset="-122"/>
              </a:rPr>
              <a:t>    array[i][j]=0;</a:t>
            </a:r>
          </a:p>
        </p:txBody>
      </p:sp>
      <p:sp>
        <p:nvSpPr>
          <p:cNvPr id="47109" name="Rectangle 5"/>
          <p:cNvSpPr/>
          <p:nvPr/>
        </p:nvSpPr>
        <p:spPr>
          <a:xfrm>
            <a:off x="5105400" y="3048000"/>
            <a:ext cx="3276600" cy="1752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2400" b="0">
                <a:ea typeface="宋体" panose="02010600030101010101" pitchFamily="2" charset="-122"/>
              </a:rPr>
              <a:t>int array[128][128];</a:t>
            </a:r>
          </a:p>
          <a:p>
            <a:pPr marL="0" lvl="0" indent="0" eaLnBrk="1" hangingPunct="1">
              <a:spcBef>
                <a:spcPct val="0"/>
              </a:spcBef>
              <a:buClrTx/>
              <a:buFontTx/>
              <a:buNone/>
            </a:pPr>
            <a:r>
              <a:rPr lang="en-US" altLang="zh-CN" sz="2400" b="0">
                <a:ea typeface="宋体" panose="02010600030101010101" pitchFamily="2" charset="-122"/>
              </a:rPr>
              <a:t>for(i=0;i&lt;128;i++)</a:t>
            </a:r>
          </a:p>
          <a:p>
            <a:pPr marL="0" lvl="0" indent="0" eaLnBrk="1" hangingPunct="1">
              <a:spcBef>
                <a:spcPct val="0"/>
              </a:spcBef>
              <a:buClrTx/>
              <a:buFontTx/>
              <a:buNone/>
            </a:pPr>
            <a:r>
              <a:rPr lang="en-US" altLang="zh-CN" sz="2400" b="0">
                <a:ea typeface="宋体" panose="02010600030101010101" pitchFamily="2" charset="-122"/>
              </a:rPr>
              <a:t>  for(j=0;j&lt;128;j++)</a:t>
            </a:r>
          </a:p>
          <a:p>
            <a:pPr marL="0" lvl="0" indent="0" eaLnBrk="1" hangingPunct="1">
              <a:spcBef>
                <a:spcPct val="0"/>
              </a:spcBef>
              <a:buClrTx/>
              <a:buFontTx/>
              <a:buNone/>
            </a:pPr>
            <a:r>
              <a:rPr lang="en-US" altLang="zh-CN" sz="2400" b="0">
                <a:ea typeface="宋体" panose="02010600030101010101" pitchFamily="2" charset="-122"/>
              </a:rPr>
              <a:t>    array[i][j]=0;</a:t>
            </a:r>
          </a:p>
        </p:txBody>
      </p:sp>
      <p:sp>
        <p:nvSpPr>
          <p:cNvPr id="366598" name="AutoShape 6"/>
          <p:cNvSpPr/>
          <p:nvPr/>
        </p:nvSpPr>
        <p:spPr>
          <a:xfrm>
            <a:off x="1676400" y="5257800"/>
            <a:ext cx="2362200" cy="533400"/>
          </a:xfrm>
          <a:prstGeom prst="wedgeRoundRectCallout">
            <a:avLst>
              <a:gd name="adj1" fmla="val 33671"/>
              <a:gd name="adj2" fmla="val -121727"/>
              <a:gd name="adj3" fmla="val 16667"/>
            </a:avLst>
          </a:prstGeom>
          <a:solidFill>
            <a:schemeClr val="accent2"/>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2400" b="0">
                <a:ea typeface="宋体" panose="02010600030101010101" pitchFamily="2" charset="-122"/>
              </a:rPr>
              <a:t>128×128次</a:t>
            </a:r>
          </a:p>
        </p:txBody>
      </p:sp>
      <p:sp>
        <p:nvSpPr>
          <p:cNvPr id="366599" name="AutoShape 7"/>
          <p:cNvSpPr/>
          <p:nvPr/>
        </p:nvSpPr>
        <p:spPr>
          <a:xfrm>
            <a:off x="5943600" y="5257800"/>
            <a:ext cx="2362200" cy="533400"/>
          </a:xfrm>
          <a:prstGeom prst="wedgeRoundRectCallout">
            <a:avLst>
              <a:gd name="adj1" fmla="val -35685"/>
              <a:gd name="adj2" fmla="val -121727"/>
              <a:gd name="adj3" fmla="val 16667"/>
            </a:avLst>
          </a:prstGeom>
          <a:solidFill>
            <a:schemeClr val="accent2"/>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2400" b="0">
                <a:ea typeface="宋体" panose="02010600030101010101" pitchFamily="2" charset="-122"/>
              </a:rPr>
              <a:t>128次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6598"/>
                                        </p:tgtEl>
                                        <p:attrNameLst>
                                          <p:attrName>style.visibility</p:attrName>
                                        </p:attrNameLst>
                                      </p:cBhvr>
                                      <p:to>
                                        <p:strVal val="visible"/>
                                      </p:to>
                                    </p:set>
                                    <p:animEffect transition="in" filter="blinds(horizontal)">
                                      <p:cBhvr>
                                        <p:cTn id="7" dur="500"/>
                                        <p:tgtEl>
                                          <p:spTgt spid="3665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6599"/>
                                        </p:tgtEl>
                                        <p:attrNameLst>
                                          <p:attrName>style.visibility</p:attrName>
                                        </p:attrNameLst>
                                      </p:cBhvr>
                                      <p:to>
                                        <p:strVal val="visible"/>
                                      </p:to>
                                    </p:set>
                                    <p:animEffect transition="in" filter="blinds(horizontal)">
                                      <p:cBhvr>
                                        <p:cTn id="12" dur="500"/>
                                        <p:tgtEl>
                                          <p:spTgt spid="366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8" grpId="0" animBg="1"/>
      <p:bldP spid="36659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31</a:t>
            </a:fld>
            <a:endParaRPr lang="zh-CN" altLang="en-US" sz="1400" b="0">
              <a:latin typeface="Tahoma" panose="020B0604030504040204" pitchFamily="34" charset="0"/>
              <a:ea typeface="宋体" panose="02010600030101010101" pitchFamily="2" charset="-122"/>
            </a:endParaRPr>
          </a:p>
        </p:txBody>
      </p:sp>
      <p:sp>
        <p:nvSpPr>
          <p:cNvPr id="48130"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.3</a:t>
            </a:r>
            <a:r>
              <a:rPr lang="zh-CN" altLang="en-US"/>
              <a:t>页面调入策略</a:t>
            </a:r>
          </a:p>
        </p:txBody>
      </p:sp>
      <p:sp>
        <p:nvSpPr>
          <p:cNvPr id="40963" name="Rectangle 3"/>
          <p:cNvSpPr>
            <a:spLocks noGrp="1" noChangeArrowheads="1"/>
          </p:cNvSpPr>
          <p:nvPr>
            <p:ph idx="1"/>
          </p:nvPr>
        </p:nvSpPr>
        <p:spPr>
          <a:xfrm>
            <a:off x="406400" y="1412875"/>
            <a:ext cx="8229600" cy="4968875"/>
          </a:xfrm>
        </p:spPr>
        <p:txBody>
          <a:bodyPr vert="horz" wrap="square" lIns="91440" tIns="45720" rIns="91440" bIns="45720" numCol="1" anchor="t" anchorCtr="0" compatLnSpc="1"/>
          <a:lstStyle/>
          <a:p>
            <a:pPr marL="0" indent="0" eaLnBrk="1" hangingPunct="1">
              <a:lnSpc>
                <a:spcPct val="90000"/>
              </a:lnSpc>
              <a:buNone/>
            </a:pPr>
            <a:r>
              <a:rPr lang="zh-CN" altLang="en-US" sz="2400" b="0">
                <a:latin typeface="黑体" panose="02010609060101010101" pitchFamily="49" charset="-122"/>
              </a:rPr>
              <a:t>页面调入策略：决定什么时候将一个页从外存调入物理内存。</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在虚拟页式管理中有两种常用策略：</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请求调页</a:t>
            </a:r>
            <a:r>
              <a:rPr lang="en-US" altLang="zh-CN" sz="2400" b="0">
                <a:latin typeface="黑体" panose="02010609060101010101" pitchFamily="49" charset="-122"/>
              </a:rPr>
              <a:t>(demand paging)</a:t>
            </a:r>
            <a:r>
              <a:rPr lang="zh-CN" altLang="en-US" sz="2400" b="0">
                <a:latin typeface="黑体" panose="02010609060101010101" pitchFamily="49" charset="-122"/>
              </a:rPr>
              <a:t>：只调入发生缺页时所需的页面。</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优点：容易实现。</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缺点：对外存</a:t>
            </a:r>
            <a:r>
              <a:rPr lang="en-US" altLang="zh-CN" sz="2400" b="0">
                <a:latin typeface="黑体" panose="02010609060101010101" pitchFamily="49" charset="-122"/>
              </a:rPr>
              <a:t>I/O</a:t>
            </a:r>
            <a:r>
              <a:rPr lang="zh-CN" altLang="en-US" sz="2400" b="0">
                <a:latin typeface="黑体" panose="02010609060101010101" pitchFamily="49" charset="-122"/>
              </a:rPr>
              <a:t>次数多，开销较大</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预调页</a:t>
            </a:r>
            <a:r>
              <a:rPr lang="en-US" altLang="zh-CN" sz="2400" b="0">
                <a:latin typeface="黑体" panose="02010609060101010101" pitchFamily="49" charset="-122"/>
              </a:rPr>
              <a:t>(prepaging)</a:t>
            </a:r>
            <a:r>
              <a:rPr lang="zh-CN" altLang="en-US" sz="2400" b="0">
                <a:latin typeface="黑体" panose="02010609060101010101" pitchFamily="49" charset="-122"/>
              </a:rPr>
              <a:t>：在发生缺页需要调入某页时，一次调入该页以及相邻的几个页。</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优点：提高调页的</a:t>
            </a:r>
            <a:r>
              <a:rPr lang="en-US" altLang="zh-CN" sz="2400" b="0">
                <a:latin typeface="黑体" panose="02010609060101010101" pitchFamily="49" charset="-122"/>
              </a:rPr>
              <a:t>I/O</a:t>
            </a:r>
            <a:r>
              <a:rPr lang="zh-CN" altLang="en-US" sz="2400" b="0">
                <a:latin typeface="黑体" panose="02010609060101010101" pitchFamily="49" charset="-122"/>
              </a:rPr>
              <a:t>效率。</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缺点：基于预测，若调入的页在以后很少被访问，则效率低。常用于程序装入时的调页。</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32</a:t>
            </a:fld>
            <a:endParaRPr lang="zh-CN" altLang="en-US" sz="1400" b="0">
              <a:latin typeface="Tahoma" panose="020B0604030504040204" pitchFamily="34" charset="0"/>
              <a:ea typeface="宋体" panose="02010600030101010101" pitchFamily="2" charset="-122"/>
            </a:endParaRPr>
          </a:p>
        </p:txBody>
      </p:sp>
      <p:sp>
        <p:nvSpPr>
          <p:cNvPr id="49154" name="Rectangle 2"/>
          <p:cNvSpPr>
            <a:spLocks noGrp="1"/>
          </p:cNvSpPr>
          <p:nvPr>
            <p:ph type="title"/>
          </p:nvPr>
        </p:nvSpPr>
        <p:spPr/>
        <p:txBody>
          <a:bodyPr vert="horz" wrap="square" lIns="91440" tIns="45720" rIns="91440" bIns="45720" anchor="b" anchorCtr="0"/>
          <a:lstStyle/>
          <a:p>
            <a:pPr eaLnBrk="1" hangingPunct="1"/>
            <a:r>
              <a:rPr lang="nb-NO" altLang="zh-CN" sz="4000"/>
              <a:t>5.</a:t>
            </a:r>
            <a:r>
              <a:rPr lang="en-US" altLang="zh-CN" sz="4000"/>
              <a:t>8</a:t>
            </a:r>
            <a:r>
              <a:rPr lang="nb-NO" altLang="zh-CN" sz="4000"/>
              <a:t>.</a:t>
            </a:r>
            <a:r>
              <a:rPr lang="en-US" altLang="zh-CN" sz="4000"/>
              <a:t>4</a:t>
            </a:r>
            <a:r>
              <a:rPr lang="zh-CN" altLang="en-US" sz="4000"/>
              <a:t>页面置换算法</a:t>
            </a:r>
          </a:p>
        </p:txBody>
      </p:sp>
      <p:sp>
        <p:nvSpPr>
          <p:cNvPr id="41987" name="Rectangle 3"/>
          <p:cNvSpPr>
            <a:spLocks noGrp="1" noChangeArrowheads="1"/>
          </p:cNvSpPr>
          <p:nvPr>
            <p:ph idx="1"/>
          </p:nvPr>
        </p:nvSpPr>
        <p:spPr/>
        <p:txBody>
          <a:bodyPr vert="horz" wrap="square" lIns="91440" tIns="45720" rIns="91440" bIns="45720" numCol="1" anchor="t" anchorCtr="0" compatLnSpc="1"/>
          <a:lstStyle/>
          <a:p>
            <a:pPr marL="0" indent="0" eaLnBrk="1" hangingPunct="1">
              <a:buNone/>
            </a:pPr>
            <a:r>
              <a:rPr lang="zh-CN" altLang="en-US" sz="2400" b="0">
                <a:latin typeface="黑体" panose="02010609060101010101" pitchFamily="49" charset="-122"/>
              </a:rPr>
              <a:t>页面置换（淘汰）算法</a:t>
            </a:r>
          </a:p>
          <a:p>
            <a:pPr marL="0" indent="0" eaLnBrk="1" hangingPunct="1">
              <a:spcAft>
                <a:spcPct val="20000"/>
              </a:spcAft>
              <a:buNone/>
            </a:pPr>
            <a:r>
              <a:rPr lang="zh-CN" altLang="en-US" sz="2400" b="0">
                <a:latin typeface="黑体" panose="02010609060101010101" pitchFamily="49" charset="-122"/>
              </a:rPr>
              <a:t>在调入内存时，若内存已满。从内存中选择一个页调出内存，为新调入的页让出空间。</a:t>
            </a:r>
          </a:p>
          <a:p>
            <a:pPr marL="0" indent="0" eaLnBrk="1" hangingPunct="1">
              <a:spcAft>
                <a:spcPct val="20000"/>
              </a:spcAft>
              <a:buNone/>
            </a:pPr>
            <a:r>
              <a:rPr lang="zh-CN" altLang="en-US" sz="2400" b="0">
                <a:latin typeface="黑体" panose="02010609060101010101" pitchFamily="49" charset="-122"/>
              </a:rPr>
              <a:t>问题：选择哪一个页换出？</a:t>
            </a:r>
          </a:p>
          <a:p>
            <a:pPr marL="0" indent="0" eaLnBrk="1" hangingPunct="1">
              <a:spcAft>
                <a:spcPct val="20000"/>
              </a:spcAft>
              <a:buNone/>
            </a:pPr>
            <a:r>
              <a:rPr lang="zh-CN" altLang="en-US" sz="2400" b="0">
                <a:latin typeface="黑体" panose="02010609060101010101" pitchFamily="49" charset="-122"/>
              </a:rPr>
              <a:t>如果替换的不合适，则发生“抖动”或“颠簸”现象：页在内外存之间频繁地调入调出，系统开销很大。</a:t>
            </a:r>
            <a:endParaRPr lang="en-US" altLang="zh-CN" sz="2400" b="0">
              <a:latin typeface="黑体" panose="02010609060101010101" pitchFamily="49" charset="-122"/>
            </a:endParaRPr>
          </a:p>
          <a:p>
            <a:pPr marL="0" indent="0" eaLnBrk="1" hangingPunct="1">
              <a:spcAft>
                <a:spcPct val="20000"/>
              </a:spcAft>
              <a:buNone/>
            </a:pPr>
            <a:r>
              <a:rPr lang="zh-CN" altLang="en-US" sz="2400" b="0">
                <a:latin typeface="黑体" panose="02010609060101010101" pitchFamily="49" charset="-122"/>
              </a:rPr>
              <a:t>在请求分页系统中，从内存中刚刚移走某个页面后，根据请求马上又调入该页．这种反复进行入页和出页的现象称为“</a:t>
            </a:r>
            <a:r>
              <a:rPr lang="zh-CN" altLang="en-US" sz="2400" b="0">
                <a:solidFill>
                  <a:schemeClr val="folHlink"/>
                </a:solidFill>
                <a:latin typeface="黑体" panose="02010609060101010101" pitchFamily="49" charset="-122"/>
              </a:rPr>
              <a:t>抖动</a:t>
            </a:r>
            <a:r>
              <a:rPr lang="zh-CN" altLang="en-US" sz="2400" b="0">
                <a:latin typeface="黑体" panose="02010609060101010101" pitchFamily="49" charset="-122"/>
              </a:rPr>
              <a:t>”，也叫做</a:t>
            </a:r>
            <a:r>
              <a:rPr lang="zh-CN" altLang="en-US" sz="2400" b="0">
                <a:solidFill>
                  <a:schemeClr val="folHlink"/>
                </a:solidFill>
                <a:latin typeface="黑体" panose="02010609060101010101" pitchFamily="49" charset="-122"/>
              </a:rPr>
              <a:t>系统颠簸</a:t>
            </a:r>
            <a:r>
              <a:rPr lang="zh-CN" altLang="en-US" sz="2400" b="0">
                <a:latin typeface="黑体" panose="02010609060101010101" pitchFamily="49" charset="-122"/>
              </a:rPr>
              <a:t>。它浪费了大量的处理机时间，所以应尽可能避免“抖动”的发生。</a:t>
            </a:r>
          </a:p>
          <a:p>
            <a:pPr marL="0" indent="0" eaLnBrk="1" hangingPunct="1">
              <a:spcAft>
                <a:spcPct val="20000"/>
              </a:spcAft>
              <a:buNone/>
            </a:pPr>
            <a:endParaRPr lang="zh-CN" altLang="en-US" sz="2400" b="0">
              <a:latin typeface="黑体" panose="02010609060101010101" pitchFamily="49"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33</a:t>
            </a:fld>
            <a:endParaRPr lang="zh-CN" altLang="en-US" sz="1400" b="0">
              <a:latin typeface="Tahoma" panose="020B0604030504040204" pitchFamily="34" charset="0"/>
              <a:ea typeface="宋体" panose="02010600030101010101" pitchFamily="2" charset="-122"/>
            </a:endParaRPr>
          </a:p>
        </p:txBody>
      </p:sp>
      <p:sp>
        <p:nvSpPr>
          <p:cNvPr id="50178" name="矩形 2"/>
          <p:cNvSpPr/>
          <p:nvPr/>
        </p:nvSpPr>
        <p:spPr>
          <a:xfrm>
            <a:off x="360363" y="2128838"/>
            <a:ext cx="8388350" cy="23082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400" b="0">
                <a:ea typeface="楷体_GB2312" pitchFamily="49" charset="-122"/>
              </a:rPr>
              <a:t>1 </a:t>
            </a:r>
            <a:r>
              <a:rPr lang="zh-CN" altLang="en-US" sz="2400" b="0">
                <a:ea typeface="楷体_GB2312" pitchFamily="49" charset="-122"/>
              </a:rPr>
              <a:t>当系统发生抖动（</a:t>
            </a:r>
            <a:r>
              <a:rPr lang="en-US" altLang="zh-CN" sz="2400" b="0">
                <a:ea typeface="楷体_GB2312" pitchFamily="49" charset="-122"/>
              </a:rPr>
              <a:t>thrashing</a:t>
            </a:r>
            <a:r>
              <a:rPr lang="zh-CN" altLang="en-US" sz="2400" b="0">
                <a:ea typeface="楷体_GB2312" pitchFamily="49" charset="-122"/>
              </a:rPr>
              <a:t>）时，可以采取的有效措施是。</a:t>
            </a:r>
          </a:p>
          <a:p>
            <a:pPr marL="0" lvl="0" indent="0">
              <a:spcBef>
                <a:spcPct val="0"/>
              </a:spcBef>
              <a:buClrTx/>
              <a:buFontTx/>
              <a:buNone/>
            </a:pPr>
            <a:r>
              <a:rPr lang="en-US" altLang="zh-CN" sz="2400" b="0">
                <a:ea typeface="楷体_GB2312" pitchFamily="49" charset="-122"/>
              </a:rPr>
              <a:t>Ⅰ</a:t>
            </a:r>
            <a:r>
              <a:rPr lang="zh-CN" altLang="en-US" sz="2400" b="0">
                <a:ea typeface="楷体_GB2312" pitchFamily="49" charset="-122"/>
              </a:rPr>
              <a:t>．撤销部分进程        </a:t>
            </a:r>
            <a:r>
              <a:rPr lang="en-US" altLang="zh-CN" sz="2400" b="0">
                <a:ea typeface="楷体_GB2312" pitchFamily="49" charset="-122"/>
              </a:rPr>
              <a:t>Ⅱ</a:t>
            </a:r>
            <a:r>
              <a:rPr lang="zh-CN" altLang="en-US" sz="2400" b="0">
                <a:ea typeface="楷体_GB2312" pitchFamily="49" charset="-122"/>
              </a:rPr>
              <a:t>．增加磁盘交换区的容量</a:t>
            </a:r>
          </a:p>
          <a:p>
            <a:pPr marL="0" lvl="0" indent="0">
              <a:spcBef>
                <a:spcPct val="0"/>
              </a:spcBef>
              <a:buClrTx/>
              <a:buFontTx/>
              <a:buNone/>
            </a:pPr>
            <a:r>
              <a:rPr lang="en-US" altLang="zh-CN" sz="2400" b="0">
                <a:ea typeface="楷体_GB2312" pitchFamily="49" charset="-122"/>
              </a:rPr>
              <a:t>Ⅲ</a:t>
            </a:r>
            <a:r>
              <a:rPr lang="zh-CN" altLang="en-US" sz="2400" b="0">
                <a:ea typeface="楷体_GB2312" pitchFamily="49" charset="-122"/>
              </a:rPr>
              <a:t>．提高用户进程的优先级</a:t>
            </a:r>
            <a:endParaRPr lang="en-US" altLang="zh-CN" sz="2400" b="0">
              <a:ea typeface="楷体_GB2312" pitchFamily="49" charset="-122"/>
            </a:endParaRPr>
          </a:p>
          <a:p>
            <a:pPr marL="0" lvl="0" indent="0">
              <a:spcBef>
                <a:spcPct val="0"/>
              </a:spcBef>
              <a:buClrTx/>
              <a:buFontTx/>
              <a:buNone/>
            </a:pPr>
            <a:r>
              <a:rPr lang="en-US" altLang="zh-CN" sz="2400" b="0">
                <a:ea typeface="楷体_GB2312" pitchFamily="49" charset="-122"/>
              </a:rPr>
              <a:t>A </a:t>
            </a:r>
            <a:r>
              <a:rPr lang="zh-CN" altLang="en-US" sz="2400" b="0">
                <a:ea typeface="楷体_GB2312" pitchFamily="49" charset="-122"/>
              </a:rPr>
              <a:t>仅</a:t>
            </a:r>
            <a:r>
              <a:rPr lang="en-US" altLang="zh-CN" sz="2400" b="0">
                <a:ea typeface="楷体_GB2312" pitchFamily="49" charset="-122"/>
              </a:rPr>
              <a:t>ⅠB </a:t>
            </a:r>
            <a:r>
              <a:rPr lang="zh-CN" altLang="en-US" sz="2400" b="0">
                <a:ea typeface="楷体_GB2312" pitchFamily="49" charset="-122"/>
              </a:rPr>
              <a:t>仅</a:t>
            </a:r>
            <a:r>
              <a:rPr lang="en-US" altLang="zh-CN" sz="2400" b="0">
                <a:ea typeface="楷体_GB2312" pitchFamily="49" charset="-122"/>
              </a:rPr>
              <a:t>ⅡC </a:t>
            </a:r>
            <a:r>
              <a:rPr lang="zh-CN" altLang="en-US" sz="2400" b="0">
                <a:ea typeface="楷体_GB2312" pitchFamily="49" charset="-122"/>
              </a:rPr>
              <a:t>仅</a:t>
            </a:r>
            <a:r>
              <a:rPr lang="en-US" altLang="zh-CN" sz="2400" b="0">
                <a:ea typeface="楷体_GB2312" pitchFamily="49" charset="-122"/>
              </a:rPr>
              <a:t>ⅢD Ⅰ</a:t>
            </a:r>
            <a:r>
              <a:rPr lang="zh-CN" altLang="en-US" sz="2400" b="0">
                <a:ea typeface="楷体_GB2312" pitchFamily="49" charset="-122"/>
              </a:rPr>
              <a:t>、</a:t>
            </a:r>
            <a:r>
              <a:rPr lang="en-US" altLang="zh-CN" sz="2400" b="0">
                <a:ea typeface="楷体_GB2312" pitchFamily="49" charset="-122"/>
              </a:rPr>
              <a:t>Ⅱ</a:t>
            </a:r>
          </a:p>
          <a:p>
            <a:pPr marL="0" lvl="0" indent="0">
              <a:spcBef>
                <a:spcPct val="0"/>
              </a:spcBef>
              <a:buClrTx/>
              <a:buFontTx/>
              <a:buNone/>
            </a:pPr>
            <a:endParaRPr lang="en-US" altLang="zh-CN" sz="2400" b="0">
              <a:ea typeface="楷体_GB2312" pitchFamily="49" charset="-122"/>
            </a:endParaRPr>
          </a:p>
          <a:p>
            <a:pPr marL="0" lvl="0" indent="0">
              <a:spcBef>
                <a:spcPct val="0"/>
              </a:spcBef>
              <a:buClrTx/>
              <a:buFontTx/>
              <a:buNone/>
            </a:pPr>
            <a:endParaRPr lang="zh-CN" altLang="en-US" sz="2400" b="0">
              <a:ea typeface="楷体_GB2312" pitchFamily="49" charset="-122"/>
            </a:endParaRPr>
          </a:p>
        </p:txBody>
      </p:sp>
      <p:sp>
        <p:nvSpPr>
          <p:cNvPr id="50179" name="Rectangle 2"/>
          <p:cNvSpPr>
            <a:spLocks noGrp="1"/>
          </p:cNvSpPr>
          <p:nvPr>
            <p:ph type="title"/>
          </p:nvPr>
        </p:nvSpPr>
        <p:spPr/>
        <p:txBody>
          <a:bodyPr vert="horz" wrap="square" lIns="91440" tIns="45720" rIns="91440" bIns="45720" anchor="b" anchorCtr="0"/>
          <a:lstStyle/>
          <a:p>
            <a:pPr eaLnBrk="1" hangingPunct="1"/>
            <a:r>
              <a:rPr lang="nb-NO" altLang="zh-CN" sz="4000"/>
              <a:t>5.</a:t>
            </a:r>
            <a:r>
              <a:rPr lang="en-US" altLang="zh-CN" sz="4000"/>
              <a:t>8</a:t>
            </a:r>
            <a:r>
              <a:rPr lang="nb-NO" altLang="zh-CN" sz="4000"/>
              <a:t>.</a:t>
            </a:r>
            <a:r>
              <a:rPr lang="en-US" altLang="zh-CN" sz="4000"/>
              <a:t>4</a:t>
            </a:r>
            <a:r>
              <a:rPr lang="zh-CN" altLang="en-US" sz="4000"/>
              <a:t>页面置换算法</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文本框 4"/>
          <p:cNvSpPr txBox="1"/>
          <p:nvPr>
            <p:custDataLst>
              <p:tags r:id="rId2"/>
            </p:custDataLst>
          </p:nvPr>
        </p:nvSpPr>
        <p:spPr>
          <a:xfrm>
            <a:off x="645795" y="1056005"/>
            <a:ext cx="8676005" cy="1941195"/>
          </a:xfrm>
          <a:prstGeom prst="rect">
            <a:avLst/>
          </a:prstGeom>
          <a:noFill/>
          <a:ln w="9525">
            <a:noFill/>
          </a:ln>
        </p:spPr>
        <p:txBody>
          <a:bodyPr anchor="ctr" anchorCtr="0"/>
          <a:lstStyle/>
          <a:p>
            <a:pPr marL="0" lvl="0" indent="0">
              <a:spcBef>
                <a:spcPct val="0"/>
              </a:spcBef>
              <a:buClrTx/>
              <a:buFontTx/>
              <a:buNone/>
            </a:pPr>
            <a:r>
              <a:rPr lang="en-US" altLang="zh-CN">
                <a:ea typeface="楷体_GB2312" pitchFamily="49" charset="-122"/>
                <a:sym typeface="+mn-ea"/>
              </a:rPr>
              <a:t>1 </a:t>
            </a:r>
            <a:r>
              <a:rPr lang="zh-CN" altLang="en-US">
                <a:ea typeface="楷体_GB2312" pitchFamily="49" charset="-122"/>
                <a:sym typeface="+mn-ea"/>
              </a:rPr>
              <a:t>当系统发生抖动（</a:t>
            </a:r>
            <a:r>
              <a:rPr lang="en-US" altLang="zh-CN">
                <a:ea typeface="楷体_GB2312" pitchFamily="49" charset="-122"/>
                <a:sym typeface="+mn-ea"/>
              </a:rPr>
              <a:t>thrashing</a:t>
            </a:r>
            <a:r>
              <a:rPr lang="zh-CN" altLang="en-US">
                <a:ea typeface="楷体_GB2312" pitchFamily="49" charset="-122"/>
                <a:sym typeface="+mn-ea"/>
              </a:rPr>
              <a:t>）时，可以采取的有效措施是。</a:t>
            </a:r>
            <a:endParaRPr lang="zh-CN" altLang="en-US" b="0">
              <a:ea typeface="楷体_GB2312" pitchFamily="49" charset="-122"/>
            </a:endParaRPr>
          </a:p>
          <a:p>
            <a:pPr marL="0" lvl="0" indent="0">
              <a:spcBef>
                <a:spcPct val="0"/>
              </a:spcBef>
              <a:buClrTx/>
              <a:buFontTx/>
              <a:buNone/>
            </a:pPr>
            <a:r>
              <a:rPr lang="en-US" altLang="zh-CN">
                <a:ea typeface="楷体_GB2312" pitchFamily="49" charset="-122"/>
                <a:sym typeface="+mn-ea"/>
              </a:rPr>
              <a:t>Ⅰ</a:t>
            </a:r>
            <a:r>
              <a:rPr lang="zh-CN" altLang="en-US">
                <a:ea typeface="楷体_GB2312" pitchFamily="49" charset="-122"/>
                <a:sym typeface="+mn-ea"/>
              </a:rPr>
              <a:t>．撤销部分进程        </a:t>
            </a:r>
            <a:r>
              <a:rPr lang="en-US" altLang="zh-CN">
                <a:ea typeface="楷体_GB2312" pitchFamily="49" charset="-122"/>
                <a:sym typeface="+mn-ea"/>
              </a:rPr>
              <a:t>Ⅱ</a:t>
            </a:r>
            <a:r>
              <a:rPr lang="zh-CN" altLang="en-US">
                <a:ea typeface="楷体_GB2312" pitchFamily="49" charset="-122"/>
                <a:sym typeface="+mn-ea"/>
              </a:rPr>
              <a:t>．增加磁盘交换区的容量</a:t>
            </a:r>
            <a:endParaRPr lang="zh-CN" altLang="en-US" b="0">
              <a:ea typeface="楷体_GB2312" pitchFamily="49" charset="-122"/>
            </a:endParaRPr>
          </a:p>
          <a:p>
            <a:pPr marL="0" lvl="0" indent="0">
              <a:spcBef>
                <a:spcPct val="0"/>
              </a:spcBef>
              <a:buClrTx/>
              <a:buFontTx/>
              <a:buNone/>
            </a:pPr>
            <a:r>
              <a:rPr lang="en-US" altLang="zh-CN">
                <a:ea typeface="楷体_GB2312" pitchFamily="49" charset="-122"/>
                <a:sym typeface="+mn-ea"/>
              </a:rPr>
              <a:t>Ⅲ</a:t>
            </a:r>
            <a:r>
              <a:rPr lang="zh-CN" altLang="en-US">
                <a:ea typeface="楷体_GB2312" pitchFamily="49" charset="-122"/>
                <a:sym typeface="+mn-ea"/>
              </a:rPr>
              <a:t>．提高用户进程的优先级</a:t>
            </a:r>
            <a:endParaRPr lang="zh-CN" altLang="en-US" dirty="0">
              <a:latin typeface="Times New Roman" panose="02020603050405020304" pitchFamily="18" charset="0"/>
              <a:ea typeface="楷体_GB2312" pitchFamily="49" charset="-122"/>
              <a:sym typeface="+mn-ea"/>
            </a:endParaRPr>
          </a:p>
        </p:txBody>
      </p:sp>
      <p:sp>
        <p:nvSpPr>
          <p:cNvPr id="34818" name="文本框 5"/>
          <p:cNvSpPr txBox="1"/>
          <p:nvPr>
            <p:custDataLst>
              <p:tags r:id="rId3"/>
            </p:custDataLst>
          </p:nvPr>
        </p:nvSpPr>
        <p:spPr>
          <a:xfrm>
            <a:off x="1828800" y="2786063"/>
            <a:ext cx="6400800" cy="642937"/>
          </a:xfrm>
          <a:prstGeom prst="rect">
            <a:avLst/>
          </a:prstGeom>
          <a:noFill/>
          <a:ln w="9525">
            <a:noFill/>
          </a:ln>
        </p:spPr>
        <p:txBody>
          <a:bodyPr anchor="ctr" anchorCtr="0"/>
          <a:lstStyle/>
          <a:p>
            <a:pPr eaLnBrk="0" hangingPunct="0">
              <a:buClrTx/>
              <a:buFontTx/>
            </a:pPr>
            <a:r>
              <a:rPr lang="en-US" altLang="zh-CN" sz="2800" dirty="0">
                <a:sym typeface="+mn-ea"/>
              </a:rPr>
              <a:t>Ⅰ</a:t>
            </a:r>
            <a:r>
              <a:rPr lang="zh-CN" altLang="en-US" sz="2800" dirty="0">
                <a:sym typeface="+mn-ea"/>
              </a:rPr>
              <a:t>、</a:t>
            </a:r>
            <a:r>
              <a:rPr lang="en-US" altLang="zh-CN" sz="2800" dirty="0">
                <a:sym typeface="+mn-ea"/>
              </a:rPr>
              <a:t>Ⅱ</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34819" name="文本框 6"/>
          <p:cNvSpPr txBox="1"/>
          <p:nvPr>
            <p:custDataLst>
              <p:tags r:id="rId4"/>
            </p:custDataLst>
          </p:nvPr>
        </p:nvSpPr>
        <p:spPr>
          <a:xfrm>
            <a:off x="1828800" y="3643313"/>
            <a:ext cx="6400800" cy="642937"/>
          </a:xfrm>
          <a:prstGeom prst="rect">
            <a:avLst/>
          </a:prstGeom>
          <a:noFill/>
          <a:ln w="9525">
            <a:noFill/>
          </a:ln>
        </p:spPr>
        <p:txBody>
          <a:bodyPr anchor="ctr" anchorCtr="0"/>
          <a:lstStyle/>
          <a:p>
            <a:pPr eaLnBrk="0" hangingPunct="0">
              <a:buClrTx/>
              <a:buFontTx/>
            </a:pPr>
            <a:r>
              <a:rPr lang="zh-CN" altLang="en-US" sz="2800" dirty="0">
                <a:latin typeface="Times New Roman" panose="02020603050405020304" pitchFamily="18" charset="0"/>
              </a:rPr>
              <a:t>仅</a:t>
            </a:r>
            <a:r>
              <a:rPr lang="en-US" altLang="zh-CN" sz="2800" dirty="0">
                <a:sym typeface="+mn-ea"/>
              </a:rPr>
              <a:t>Ⅲ</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34820" name="文本框 7"/>
          <p:cNvSpPr txBox="1"/>
          <p:nvPr>
            <p:custDataLst>
              <p:tags r:id="rId5"/>
            </p:custDataLst>
          </p:nvPr>
        </p:nvSpPr>
        <p:spPr>
          <a:xfrm>
            <a:off x="1828800" y="4500563"/>
            <a:ext cx="6400800" cy="642937"/>
          </a:xfrm>
          <a:prstGeom prst="rect">
            <a:avLst/>
          </a:prstGeom>
          <a:noFill/>
          <a:ln w="9525">
            <a:noFill/>
          </a:ln>
        </p:spPr>
        <p:txBody>
          <a:bodyPr anchor="ctr" anchorCtr="0"/>
          <a:lstStyle/>
          <a:p>
            <a:pPr eaLnBrk="0" hangingPunct="0">
              <a:buClrTx/>
              <a:buFontTx/>
            </a:pPr>
            <a:r>
              <a:rPr lang="zh-CN" altLang="en-US" sz="2800" dirty="0">
                <a:latin typeface="Times New Roman" panose="02020603050405020304" pitchFamily="18" charset="0"/>
              </a:rPr>
              <a:t>仅</a:t>
            </a:r>
            <a:r>
              <a:rPr lang="en-US" altLang="zh-CN" sz="2600" dirty="0">
                <a:sym typeface="+mn-ea"/>
              </a:rPr>
              <a:t>Ⅱ</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34821" name="文本框 8"/>
          <p:cNvSpPr txBox="1"/>
          <p:nvPr>
            <p:custDataLst>
              <p:tags r:id="rId6"/>
            </p:custDataLst>
          </p:nvPr>
        </p:nvSpPr>
        <p:spPr>
          <a:xfrm>
            <a:off x="1835785" y="5357813"/>
            <a:ext cx="6400800" cy="642937"/>
          </a:xfrm>
          <a:prstGeom prst="rect">
            <a:avLst/>
          </a:prstGeom>
          <a:noFill/>
          <a:ln w="9525">
            <a:noFill/>
          </a:ln>
        </p:spPr>
        <p:txBody>
          <a:bodyPr anchor="ctr" anchorCtr="0"/>
          <a:lstStyle/>
          <a:p>
            <a:pPr>
              <a:buClrTx/>
              <a:buFont typeface="Wingdings" panose="05000000000000000000" pitchFamily="2" charset="2"/>
            </a:pPr>
            <a:r>
              <a:rPr lang="zh-CN" altLang="en-US" sz="2800" dirty="0">
                <a:sym typeface="+mn-ea"/>
              </a:rPr>
              <a:t>仅</a:t>
            </a:r>
            <a:r>
              <a:rPr lang="en-US" altLang="zh-CN" sz="2800" dirty="0">
                <a:sym typeface="+mn-ea"/>
              </a:rPr>
              <a:t>Ⅰ</a:t>
            </a:r>
            <a:endParaRPr lang="zh-CN" altLang="en-US" sz="2800" dirty="0">
              <a:latin typeface="Times New Roman" panose="02020603050405020304" pitchFamily="18" charset="0"/>
            </a:endParaRPr>
          </a:p>
        </p:txBody>
      </p:sp>
      <p:sp>
        <p:nvSpPr>
          <p:cNvPr id="34822" name="椭圆 9"/>
          <p:cNvSpPr>
            <a:spLocks noChangeAspect="1"/>
          </p:cNvSpPr>
          <p:nvPr>
            <p:custDataLst>
              <p:tags r:id="rId7"/>
            </p:custDataLst>
          </p:nvPr>
        </p:nvSpPr>
        <p:spPr>
          <a:xfrm>
            <a:off x="1114425" y="284956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4823" name="椭圆 10"/>
          <p:cNvSpPr>
            <a:spLocks noChangeAspect="1"/>
          </p:cNvSpPr>
          <p:nvPr>
            <p:custDataLst>
              <p:tags r:id="rId8"/>
            </p:custDataLst>
          </p:nvPr>
        </p:nvSpPr>
        <p:spPr>
          <a:xfrm>
            <a:off x="1114425" y="370681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4824" name="椭圆 11"/>
          <p:cNvSpPr>
            <a:spLocks noChangeAspect="1"/>
          </p:cNvSpPr>
          <p:nvPr>
            <p:custDataLst>
              <p:tags r:id="rId9"/>
            </p:custDataLst>
          </p:nvPr>
        </p:nvSpPr>
        <p:spPr>
          <a:xfrm>
            <a:off x="1114425" y="456406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4825" name="椭圆 12"/>
          <p:cNvSpPr>
            <a:spLocks noChangeAspect="1"/>
          </p:cNvSpPr>
          <p:nvPr>
            <p:custDataLst>
              <p:tags r:id="rId10"/>
            </p:custDataLst>
          </p:nvPr>
        </p:nvSpPr>
        <p:spPr>
          <a:xfrm>
            <a:off x="1114425" y="5421313"/>
            <a:ext cx="514350" cy="514350"/>
          </a:xfrm>
          <a:prstGeom prst="ellipse">
            <a:avLst/>
          </a:prstGeom>
          <a:solidFill>
            <a:srgbClr val="00FF00"/>
          </a:solidFill>
          <a:ln w="254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4826" name="圆角矩形 13"/>
          <p:cNvSpPr/>
          <p:nvPr>
            <p:custDataLst>
              <p:tags r:id="rId11"/>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34827" name="组合 18"/>
          <p:cNvGrpSpPr/>
          <p:nvPr/>
        </p:nvGrpSpPr>
        <p:grpSpPr>
          <a:xfrm>
            <a:off x="0" y="0"/>
            <a:ext cx="9144000" cy="635000"/>
            <a:chOff x="0" y="0"/>
            <a:chExt cx="9144000" cy="635000"/>
          </a:xfrm>
        </p:grpSpPr>
        <p:sp>
          <p:nvSpPr>
            <p:cNvPr id="34828" name="TitleBackground"/>
            <p:cNvSpPr/>
            <p:nvPr>
              <p:custDataLst>
                <p:tags r:id="rId13"/>
              </p:custDataLst>
            </p:nvPr>
          </p:nvSpPr>
          <p:spPr>
            <a:xfrm>
              <a:off x="0" y="0"/>
              <a:ext cx="9144000" cy="635000"/>
            </a:xfrm>
            <a:prstGeom prst="rect">
              <a:avLst/>
            </a:prstGeom>
            <a:solidFill>
              <a:srgbClr val="F6F7F8"/>
            </a:solidFill>
            <a:ln w="9525">
              <a:noFill/>
            </a:ln>
          </p:spPr>
          <p:txBody>
            <a:bodyPr lIns="90000" tIns="46800" rIns="90000" bIns="46800" anchor="t" anchorCtr="0"/>
            <a:lstStyle/>
            <a:p>
              <a:pPr eaLnBrk="0" hangingPunct="0">
                <a:buClrTx/>
                <a:buFontTx/>
              </a:pPr>
              <a:endParaRPr lang="zh-CN" altLang="en-US" dirty="0">
                <a:latin typeface="Times New Roman" panose="02020603050405020304" pitchFamily="18" charset="0"/>
              </a:endParaRPr>
            </a:p>
          </p:txBody>
        </p:sp>
        <p:sp>
          <p:nvSpPr>
            <p:cNvPr id="34829" name="ColorBlock"/>
            <p:cNvSpPr/>
            <p:nvPr>
              <p:custDataLst>
                <p:tags r:id="rId14"/>
              </p:custDataLst>
            </p:nvPr>
          </p:nvSpPr>
          <p:spPr>
            <a:xfrm>
              <a:off x="0" y="0"/>
              <a:ext cx="190500" cy="635000"/>
            </a:xfrm>
            <a:prstGeom prst="rect">
              <a:avLst/>
            </a:prstGeom>
            <a:solidFill>
              <a:srgbClr val="639EF4"/>
            </a:solidFill>
            <a:ln w="9525">
              <a:noFill/>
            </a:ln>
          </p:spPr>
          <p:txBody>
            <a:bodyPr lIns="90000" tIns="46800" rIns="90000" bIns="46800" anchor="t" anchorCtr="0"/>
            <a:lstStyle/>
            <a:p>
              <a:pPr eaLnBrk="0" hangingPunct="0">
                <a:buClrTx/>
                <a:buFontTx/>
              </a:pPr>
              <a:endParaRPr lang="zh-CN" altLang="en-US" dirty="0">
                <a:latin typeface="Times New Roman" panose="02020603050405020304" pitchFamily="18" charset="0"/>
              </a:endParaRPr>
            </a:p>
          </p:txBody>
        </p:sp>
        <p:sp>
          <p:nvSpPr>
            <p:cNvPr id="34830" name="TypeText"/>
            <p:cNvSpPr txBox="1"/>
            <p:nvPr>
              <p:custDataLst>
                <p:tags r:id="rId15"/>
              </p:custDataLst>
            </p:nvPr>
          </p:nvSpPr>
          <p:spPr>
            <a:xfrm>
              <a:off x="254000" y="0"/>
              <a:ext cx="1905000" cy="635000"/>
            </a:xfrm>
            <a:prstGeom prst="rect">
              <a:avLst/>
            </a:prstGeom>
            <a:noFill/>
            <a:ln w="9525">
              <a:noFill/>
            </a:ln>
          </p:spPr>
          <p:txBody>
            <a:bodyPr wrap="none" anchor="ctr" anchorCtr="0"/>
            <a:lstStyle/>
            <a:p>
              <a:pPr eaLnBrk="0" hangingPunct="0">
                <a:buClrTx/>
                <a:buFontTx/>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34831" name="TipText"/>
            <p:cNvSpPr txBox="1"/>
            <p:nvPr>
              <p:custDataLst>
                <p:tags r:id="rId16"/>
              </p:custDataLst>
            </p:nvPr>
          </p:nvSpPr>
          <p:spPr>
            <a:xfrm>
              <a:off x="1525905" y="109220"/>
              <a:ext cx="2286000" cy="508000"/>
            </a:xfrm>
            <a:prstGeom prst="rect">
              <a:avLst/>
            </a:prstGeom>
            <a:noFill/>
            <a:ln w="9525">
              <a:noFill/>
            </a:ln>
          </p:spPr>
          <p:txBody>
            <a:bodyPr wrap="none" anchor="ctr" anchorCtr="0"/>
            <a:lstStyle/>
            <a:p>
              <a:pPr eaLnBrk="0" hangingPunct="0">
                <a:buClrTx/>
                <a:buFontTx/>
              </a:pPr>
              <a:r>
                <a:rPr lang="en-US" altLang="zh-CN" sz="2000" dirty="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dirty="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4832" name="图片 3"/>
          <p:cNvPicPr/>
          <p:nvPr>
            <p:custDataLst>
              <p:tags r:id="rId12"/>
            </p:custDataLst>
          </p:nvPr>
        </p:nvPicPr>
        <p:blipFill>
          <a:blip r:embed="rId18"/>
          <a:stretch>
            <a:fillRect/>
          </a:stretch>
        </p:blipFill>
        <p:spPr>
          <a:xfrm>
            <a:off x="7594600" y="63500"/>
            <a:ext cx="1422400" cy="508000"/>
          </a:xfrm>
          <a:prstGeom prst="rect">
            <a:avLst/>
          </a:prstGeom>
          <a:noFill/>
          <a:ln w="9525">
            <a:noFill/>
          </a:ln>
        </p:spPr>
      </p:pic>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35</a:t>
            </a:fld>
            <a:endParaRPr lang="zh-CN" altLang="en-US" sz="1400" b="0">
              <a:latin typeface="Tahoma" panose="020B0604030504040204" pitchFamily="34" charset="0"/>
              <a:ea typeface="宋体" panose="02010600030101010101" pitchFamily="2" charset="-122"/>
            </a:endParaRPr>
          </a:p>
        </p:txBody>
      </p:sp>
      <p:sp>
        <p:nvSpPr>
          <p:cNvPr id="52226"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45059" name="Rectangle 3"/>
          <p:cNvSpPr>
            <a:spLocks noGrp="1" noChangeArrowheads="1"/>
          </p:cNvSpPr>
          <p:nvPr>
            <p:ph idx="1"/>
          </p:nvPr>
        </p:nvSpPr>
        <p:spPr>
          <a:xfrm>
            <a:off x="395288" y="1412875"/>
            <a:ext cx="8396288" cy="4968875"/>
          </a:xfrm>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a:latin typeface="黑体" panose="02010609060101010101" pitchFamily="49" charset="-122"/>
              </a:rPr>
              <a:t>1. </a:t>
            </a:r>
            <a:r>
              <a:rPr lang="zh-CN" altLang="en-US" sz="2400" b="0">
                <a:latin typeface="黑体" panose="02010609060101010101" pitchFamily="49" charset="-122"/>
              </a:rPr>
              <a:t>最佳算法</a:t>
            </a:r>
            <a:r>
              <a:rPr lang="en-US" altLang="zh-CN" sz="2400" b="0">
                <a:latin typeface="黑体" panose="02010609060101010101" pitchFamily="49" charset="-122"/>
              </a:rPr>
              <a:t>(OPT, optimal)</a:t>
            </a:r>
          </a:p>
          <a:p>
            <a:pPr lvl="1" eaLnBrk="1" hangingPunct="1"/>
            <a:r>
              <a:rPr lang="zh-CN" altLang="en-US" b="0">
                <a:latin typeface="黑体" panose="02010609060101010101" pitchFamily="49" charset="-122"/>
              </a:rPr>
              <a:t>描述容易，但却不可能实现。</a:t>
            </a:r>
          </a:p>
          <a:p>
            <a:pPr lvl="1" eaLnBrk="1" hangingPunct="1"/>
            <a:r>
              <a:rPr lang="zh-CN" altLang="en-US" b="0">
                <a:latin typeface="黑体" panose="02010609060101010101" pitchFamily="49" charset="-122"/>
              </a:rPr>
              <a:t>发生缺页时，有些页在内存中，其中的一个页将被紧接着的下一条指令访问，其它的页可能要到100、1000条指令后才会被访问。如果有一个页在8000条指令内不会被访问，而另一个页在5000条指令内不会被访问，则显然应该淘汰前者。</a:t>
            </a:r>
          </a:p>
          <a:p>
            <a:pPr lvl="1" eaLnBrk="1" hangingPunct="1"/>
            <a:r>
              <a:rPr lang="zh-CN" altLang="en-US" b="0">
                <a:latin typeface="黑体" panose="02010609060101010101" pitchFamily="49" charset="-122"/>
              </a:rPr>
              <a:t>选择“</a:t>
            </a:r>
            <a:r>
              <a:rPr lang="zh-CN" altLang="en-US" b="0">
                <a:solidFill>
                  <a:schemeClr val="hlink"/>
                </a:solidFill>
                <a:latin typeface="黑体" panose="02010609060101010101" pitchFamily="49" charset="-122"/>
              </a:rPr>
              <a:t>未来不再使用的</a:t>
            </a:r>
            <a:r>
              <a:rPr lang="zh-CN" altLang="en-US" b="0">
                <a:latin typeface="黑体" panose="02010609060101010101" pitchFamily="49" charset="-122"/>
              </a:rPr>
              <a:t>”或“</a:t>
            </a:r>
            <a:r>
              <a:rPr lang="zh-CN" altLang="en-US" b="0">
                <a:solidFill>
                  <a:schemeClr val="hlink"/>
                </a:solidFill>
                <a:latin typeface="黑体" panose="02010609060101010101" pitchFamily="49" charset="-122"/>
              </a:rPr>
              <a:t>在离当前最远位置上出现的</a:t>
            </a:r>
            <a:r>
              <a:rPr lang="zh-CN" altLang="en-US" b="0">
                <a:latin typeface="黑体" panose="02010609060101010101" pitchFamily="49" charset="-122"/>
              </a:rPr>
              <a:t>”页面被置换。这是一种理想情况，是实际执行中无法预知的，因而不能实现。</a:t>
            </a:r>
          </a:p>
          <a:p>
            <a:pPr lvl="1" eaLnBrk="1" hangingPunct="1"/>
            <a:r>
              <a:rPr lang="zh-CN" altLang="en-US" b="0">
                <a:latin typeface="黑体" panose="02010609060101010101" pitchFamily="49" charset="-122"/>
              </a:rPr>
              <a:t>可用作性能评价的依据。</a:t>
            </a:r>
            <a:endParaRPr lang="en-US" altLang="zh-CN" b="0">
              <a:latin typeface="黑体" panose="02010609060101010101" pitchFamily="49"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36</a:t>
            </a:fld>
            <a:endParaRPr lang="zh-CN" altLang="en-US" sz="1400" b="0">
              <a:latin typeface="Tahoma" panose="020B0604030504040204" pitchFamily="34" charset="0"/>
              <a:ea typeface="宋体" panose="02010600030101010101" pitchFamily="2" charset="-122"/>
            </a:endParaRPr>
          </a:p>
        </p:txBody>
      </p:sp>
      <p:sp>
        <p:nvSpPr>
          <p:cNvPr id="53250"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46083" name="Rectangle 3"/>
          <p:cNvSpPr>
            <a:spLocks noGrp="1" noChangeArrowheads="1"/>
          </p:cNvSpPr>
          <p:nvPr>
            <p:ph idx="1"/>
          </p:nvPr>
        </p:nvSpPr>
        <p:spPr>
          <a:xfrm>
            <a:off x="406400" y="1412875"/>
            <a:ext cx="8240713" cy="4968875"/>
          </a:xfrm>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a:latin typeface="黑体" panose="02010609060101010101" pitchFamily="49" charset="-122"/>
              </a:rPr>
              <a:t>2. </a:t>
            </a:r>
            <a:r>
              <a:rPr lang="zh-CN" altLang="en-US" sz="2400" b="0">
                <a:latin typeface="黑体" panose="02010609060101010101" pitchFamily="49" charset="-122"/>
              </a:rPr>
              <a:t>先进先出算法</a:t>
            </a:r>
            <a:r>
              <a:rPr lang="en-US" altLang="zh-CN" sz="2400" b="0">
                <a:latin typeface="黑体" panose="02010609060101010101" pitchFamily="49" charset="-122"/>
              </a:rPr>
              <a:t>(FIFO)</a:t>
            </a:r>
          </a:p>
          <a:p>
            <a:pPr lvl="1" eaLnBrk="1" hangingPunct="1"/>
            <a:r>
              <a:rPr lang="zh-CN" altLang="en-US" b="0">
                <a:latin typeface="黑体" panose="02010609060101010101" pitchFamily="49" charset="-122"/>
              </a:rPr>
              <a:t>开销很低，选择</a:t>
            </a:r>
            <a:r>
              <a:rPr lang="zh-CN" altLang="en-US" b="0">
                <a:solidFill>
                  <a:schemeClr val="hlink"/>
                </a:solidFill>
                <a:latin typeface="黑体" panose="02010609060101010101" pitchFamily="49" charset="-122"/>
              </a:rPr>
              <a:t>建立最早的页面被置换</a:t>
            </a:r>
            <a:r>
              <a:rPr lang="zh-CN" altLang="en-US" b="0">
                <a:latin typeface="黑体" panose="02010609060101010101" pitchFamily="49" charset="-122"/>
              </a:rPr>
              <a:t>。可以通过链表来表示各页建立时间的先后。性能较差。较早调入的页往往是经常被访问的页，这些页在</a:t>
            </a:r>
            <a:r>
              <a:rPr lang="en-US" altLang="zh-CN" b="0">
                <a:latin typeface="黑体" panose="02010609060101010101" pitchFamily="49" charset="-122"/>
              </a:rPr>
              <a:t>FIFO</a:t>
            </a:r>
            <a:r>
              <a:rPr lang="zh-CN" altLang="en-US" b="0">
                <a:latin typeface="黑体" panose="02010609060101010101" pitchFamily="49" charset="-122"/>
              </a:rPr>
              <a:t>算法下被反复调入和调出，产生</a:t>
            </a:r>
            <a:r>
              <a:rPr lang="en-US" altLang="zh-CN" b="0">
                <a:latin typeface="黑体" panose="02010609060101010101" pitchFamily="49" charset="-122"/>
              </a:rPr>
              <a:t>Belady</a:t>
            </a:r>
            <a:r>
              <a:rPr lang="zh-CN" altLang="en-US" b="0">
                <a:latin typeface="黑体" panose="02010609060101010101" pitchFamily="49" charset="-122"/>
              </a:rPr>
              <a:t>现象。</a:t>
            </a:r>
            <a:endParaRPr lang="en-US" altLang="zh-CN" b="0">
              <a:latin typeface="黑体" panose="02010609060101010101" pitchFamily="49" charset="-122"/>
            </a:endParaRPr>
          </a:p>
          <a:p>
            <a:pPr lvl="1" eaLnBrk="1" hangingPunct="1"/>
            <a:r>
              <a:rPr lang="en-US" altLang="zh-CN" b="0">
                <a:latin typeface="黑体" panose="02010609060101010101" pitchFamily="49" charset="-122"/>
              </a:rPr>
              <a:t>Belady</a:t>
            </a:r>
            <a:r>
              <a:rPr lang="zh-CN" altLang="en-US" b="0">
                <a:latin typeface="黑体" panose="02010609060101010101" pitchFamily="49" charset="-122"/>
              </a:rPr>
              <a:t>现象：采用</a:t>
            </a:r>
            <a:r>
              <a:rPr lang="en-US" altLang="zh-CN" b="0">
                <a:latin typeface="黑体" panose="02010609060101010101" pitchFamily="49" charset="-122"/>
              </a:rPr>
              <a:t>FIFO</a:t>
            </a:r>
            <a:r>
              <a:rPr lang="zh-CN" altLang="en-US" b="0">
                <a:latin typeface="黑体" panose="02010609060101010101" pitchFamily="49" charset="-122"/>
              </a:rPr>
              <a:t>算法时，如果对一个进程未分配它所要求的全部页面，有时就会出现分配的页面数增多，缺页率反而提高的异常现象。</a:t>
            </a:r>
          </a:p>
          <a:p>
            <a:pPr lvl="1" eaLnBrk="1" hangingPunct="1"/>
            <a:r>
              <a:rPr lang="en-US" altLang="zh-CN" b="0">
                <a:latin typeface="黑体" panose="02010609060101010101" pitchFamily="49" charset="-122"/>
              </a:rPr>
              <a:t>Belady</a:t>
            </a:r>
            <a:r>
              <a:rPr lang="zh-CN" altLang="en-US" b="0">
                <a:latin typeface="黑体" panose="02010609060101010101" pitchFamily="49" charset="-122"/>
              </a:rPr>
              <a:t>现象的原因：</a:t>
            </a:r>
            <a:r>
              <a:rPr lang="en-US" altLang="zh-CN" b="0">
                <a:latin typeface="黑体" panose="02010609060101010101" pitchFamily="49" charset="-122"/>
              </a:rPr>
              <a:t>FIFO</a:t>
            </a:r>
            <a:r>
              <a:rPr lang="zh-CN" altLang="en-US" b="0">
                <a:latin typeface="黑体" panose="02010609060101010101" pitchFamily="49" charset="-122"/>
              </a:rPr>
              <a:t>算法的置换特征与进程访问内存的动态特征是矛盾的，即被置换的页面并不是进程不会访问的。</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3"/>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37</a:t>
            </a:fld>
            <a:endParaRPr lang="zh-CN" altLang="en-US" sz="1400" b="0">
              <a:latin typeface="Tahoma" panose="020B0604030504040204" pitchFamily="34" charset="0"/>
              <a:ea typeface="宋体" panose="02010600030101010101" pitchFamily="2" charset="-122"/>
            </a:endParaRPr>
          </a:p>
        </p:txBody>
      </p:sp>
      <p:grpSp>
        <p:nvGrpSpPr>
          <p:cNvPr id="54274" name="Group 3"/>
          <p:cNvGrpSpPr/>
          <p:nvPr/>
        </p:nvGrpSpPr>
        <p:grpSpPr>
          <a:xfrm>
            <a:off x="228600" y="2362200"/>
            <a:ext cx="8610600" cy="2895600"/>
            <a:chOff x="96" y="1488"/>
            <a:chExt cx="5424" cy="1824"/>
          </a:xfrm>
        </p:grpSpPr>
        <p:sp>
          <p:nvSpPr>
            <p:cNvPr id="54422" name="Rectangle 4"/>
            <p:cNvSpPr/>
            <p:nvPr/>
          </p:nvSpPr>
          <p:spPr>
            <a:xfrm>
              <a:off x="511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p>
          </p:txBody>
        </p:sp>
        <p:sp>
          <p:nvSpPr>
            <p:cNvPr id="54423" name="Rectangle 5"/>
            <p:cNvSpPr/>
            <p:nvPr/>
          </p:nvSpPr>
          <p:spPr>
            <a:xfrm>
              <a:off x="4715"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p>
          </p:txBody>
        </p:sp>
        <p:sp>
          <p:nvSpPr>
            <p:cNvPr id="54424" name="Rectangle 6"/>
            <p:cNvSpPr/>
            <p:nvPr/>
          </p:nvSpPr>
          <p:spPr>
            <a:xfrm>
              <a:off x="4313"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p>
          </p:txBody>
        </p:sp>
        <p:sp>
          <p:nvSpPr>
            <p:cNvPr id="54425" name="Rectangle 7"/>
            <p:cNvSpPr/>
            <p:nvPr/>
          </p:nvSpPr>
          <p:spPr>
            <a:xfrm>
              <a:off x="3910"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54426" name="Rectangle 8"/>
            <p:cNvSpPr/>
            <p:nvPr/>
          </p:nvSpPr>
          <p:spPr>
            <a:xfrm>
              <a:off x="350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54427" name="Rectangle 9"/>
            <p:cNvSpPr/>
            <p:nvPr/>
          </p:nvSpPr>
          <p:spPr>
            <a:xfrm>
              <a:off x="310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p>
          </p:txBody>
        </p:sp>
        <p:sp>
          <p:nvSpPr>
            <p:cNvPr id="54428" name="Rectangle 10"/>
            <p:cNvSpPr/>
            <p:nvPr/>
          </p:nvSpPr>
          <p:spPr>
            <a:xfrm>
              <a:off x="2702" y="1814"/>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54429" name="Rectangle 11"/>
            <p:cNvSpPr/>
            <p:nvPr/>
          </p:nvSpPr>
          <p:spPr>
            <a:xfrm>
              <a:off x="2300"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54430" name="Rectangle 12"/>
            <p:cNvSpPr/>
            <p:nvPr/>
          </p:nvSpPr>
          <p:spPr>
            <a:xfrm>
              <a:off x="189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p>
          </p:txBody>
        </p:sp>
        <p:sp>
          <p:nvSpPr>
            <p:cNvPr id="54431" name="Rectangle 13"/>
            <p:cNvSpPr/>
            <p:nvPr/>
          </p:nvSpPr>
          <p:spPr>
            <a:xfrm>
              <a:off x="1495"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p>
          </p:txBody>
        </p:sp>
        <p:sp>
          <p:nvSpPr>
            <p:cNvPr id="54432" name="Rectangle 14"/>
            <p:cNvSpPr/>
            <p:nvPr/>
          </p:nvSpPr>
          <p:spPr>
            <a:xfrm>
              <a:off x="1093"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54433" name="Rectangle 15"/>
            <p:cNvSpPr/>
            <p:nvPr/>
          </p:nvSpPr>
          <p:spPr>
            <a:xfrm>
              <a:off x="672" y="1814"/>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54434" name="Rectangle 16"/>
            <p:cNvSpPr/>
            <p:nvPr/>
          </p:nvSpPr>
          <p:spPr>
            <a:xfrm>
              <a:off x="96" y="1814"/>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P</a:t>
              </a:r>
            </a:p>
          </p:txBody>
        </p:sp>
        <p:sp>
          <p:nvSpPr>
            <p:cNvPr id="54435" name="Rectangle 17"/>
            <p:cNvSpPr/>
            <p:nvPr/>
          </p:nvSpPr>
          <p:spPr>
            <a:xfrm>
              <a:off x="511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12</a:t>
              </a:r>
            </a:p>
          </p:txBody>
        </p:sp>
        <p:sp>
          <p:nvSpPr>
            <p:cNvPr id="54436" name="Rectangle 18"/>
            <p:cNvSpPr/>
            <p:nvPr/>
          </p:nvSpPr>
          <p:spPr>
            <a:xfrm>
              <a:off x="4715"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11</a:t>
              </a:r>
            </a:p>
          </p:txBody>
        </p:sp>
        <p:sp>
          <p:nvSpPr>
            <p:cNvPr id="54437" name="Rectangle 19"/>
            <p:cNvSpPr/>
            <p:nvPr/>
          </p:nvSpPr>
          <p:spPr>
            <a:xfrm>
              <a:off x="4313"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10</a:t>
              </a:r>
            </a:p>
          </p:txBody>
        </p:sp>
        <p:sp>
          <p:nvSpPr>
            <p:cNvPr id="54438" name="Rectangle 20"/>
            <p:cNvSpPr/>
            <p:nvPr/>
          </p:nvSpPr>
          <p:spPr>
            <a:xfrm>
              <a:off x="3910"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9</a:t>
              </a:r>
            </a:p>
          </p:txBody>
        </p:sp>
        <p:sp>
          <p:nvSpPr>
            <p:cNvPr id="54439" name="Rectangle 21"/>
            <p:cNvSpPr/>
            <p:nvPr/>
          </p:nvSpPr>
          <p:spPr>
            <a:xfrm>
              <a:off x="350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8</a:t>
              </a:r>
            </a:p>
          </p:txBody>
        </p:sp>
        <p:sp>
          <p:nvSpPr>
            <p:cNvPr id="54440" name="Rectangle 22"/>
            <p:cNvSpPr/>
            <p:nvPr/>
          </p:nvSpPr>
          <p:spPr>
            <a:xfrm>
              <a:off x="310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7</a:t>
              </a:r>
            </a:p>
          </p:txBody>
        </p:sp>
        <p:sp>
          <p:nvSpPr>
            <p:cNvPr id="54441" name="Rectangle 23"/>
            <p:cNvSpPr/>
            <p:nvPr/>
          </p:nvSpPr>
          <p:spPr>
            <a:xfrm>
              <a:off x="2702" y="1488"/>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6</a:t>
              </a:r>
            </a:p>
          </p:txBody>
        </p:sp>
        <p:sp>
          <p:nvSpPr>
            <p:cNvPr id="54442" name="Rectangle 24"/>
            <p:cNvSpPr/>
            <p:nvPr/>
          </p:nvSpPr>
          <p:spPr>
            <a:xfrm>
              <a:off x="2300"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p>
          </p:txBody>
        </p:sp>
        <p:sp>
          <p:nvSpPr>
            <p:cNvPr id="54443" name="Rectangle 25"/>
            <p:cNvSpPr/>
            <p:nvPr/>
          </p:nvSpPr>
          <p:spPr>
            <a:xfrm>
              <a:off x="189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54444" name="Rectangle 26"/>
            <p:cNvSpPr/>
            <p:nvPr/>
          </p:nvSpPr>
          <p:spPr>
            <a:xfrm>
              <a:off x="1495"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54445" name="Rectangle 27"/>
            <p:cNvSpPr/>
            <p:nvPr/>
          </p:nvSpPr>
          <p:spPr>
            <a:xfrm>
              <a:off x="1093"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p>
          </p:txBody>
        </p:sp>
        <p:sp>
          <p:nvSpPr>
            <p:cNvPr id="54446" name="Rectangle 28"/>
            <p:cNvSpPr/>
            <p:nvPr/>
          </p:nvSpPr>
          <p:spPr>
            <a:xfrm>
              <a:off x="672" y="1488"/>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p>
          </p:txBody>
        </p:sp>
        <p:sp>
          <p:nvSpPr>
            <p:cNvPr id="54447" name="Rectangle 29"/>
            <p:cNvSpPr/>
            <p:nvPr/>
          </p:nvSpPr>
          <p:spPr>
            <a:xfrm>
              <a:off x="96" y="1488"/>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sz="2400" b="0">
                  <a:ea typeface="楷体_GB2312" pitchFamily="49" charset="-122"/>
                </a:rPr>
                <a:t>时刻</a:t>
              </a:r>
            </a:p>
          </p:txBody>
        </p:sp>
        <p:sp>
          <p:nvSpPr>
            <p:cNvPr id="54448" name="Line 30"/>
            <p:cNvSpPr/>
            <p:nvPr/>
          </p:nvSpPr>
          <p:spPr>
            <a:xfrm>
              <a:off x="96" y="1488"/>
              <a:ext cx="5424" cy="0"/>
            </a:xfrm>
            <a:prstGeom prst="line">
              <a:avLst/>
            </a:prstGeom>
            <a:ln w="28575" cap="sq" cmpd="sng">
              <a:solidFill>
                <a:schemeClr val="tx1"/>
              </a:solidFill>
              <a:prstDash val="solid"/>
              <a:miter/>
              <a:headEnd type="none" w="med" len="med"/>
              <a:tailEnd type="none" w="med" len="med"/>
            </a:ln>
          </p:spPr>
        </p:sp>
        <p:sp>
          <p:nvSpPr>
            <p:cNvPr id="54449" name="Line 31"/>
            <p:cNvSpPr/>
            <p:nvPr/>
          </p:nvSpPr>
          <p:spPr>
            <a:xfrm>
              <a:off x="96" y="1814"/>
              <a:ext cx="5424" cy="0"/>
            </a:xfrm>
            <a:prstGeom prst="line">
              <a:avLst/>
            </a:prstGeom>
            <a:ln w="12700" cap="flat" cmpd="sng">
              <a:solidFill>
                <a:schemeClr val="tx1"/>
              </a:solidFill>
              <a:prstDash val="solid"/>
              <a:miter/>
              <a:headEnd type="none" w="med" len="med"/>
              <a:tailEnd type="none" w="med" len="med"/>
            </a:ln>
          </p:spPr>
        </p:sp>
        <p:sp>
          <p:nvSpPr>
            <p:cNvPr id="54450" name="Line 32"/>
            <p:cNvSpPr/>
            <p:nvPr/>
          </p:nvSpPr>
          <p:spPr>
            <a:xfrm>
              <a:off x="96" y="2140"/>
              <a:ext cx="5424" cy="0"/>
            </a:xfrm>
            <a:prstGeom prst="line">
              <a:avLst/>
            </a:prstGeom>
            <a:ln w="28575" cap="sq" cmpd="sng">
              <a:solidFill>
                <a:schemeClr val="tx1"/>
              </a:solidFill>
              <a:prstDash val="solid"/>
              <a:miter/>
              <a:headEnd type="none" w="med" len="med"/>
              <a:tailEnd type="none" w="med" len="med"/>
            </a:ln>
          </p:spPr>
        </p:sp>
        <p:sp>
          <p:nvSpPr>
            <p:cNvPr id="54451" name="Line 33"/>
            <p:cNvSpPr/>
            <p:nvPr/>
          </p:nvSpPr>
          <p:spPr>
            <a:xfrm>
              <a:off x="96" y="1488"/>
              <a:ext cx="0" cy="652"/>
            </a:xfrm>
            <a:prstGeom prst="line">
              <a:avLst/>
            </a:prstGeom>
            <a:ln w="28575" cap="sq" cmpd="sng">
              <a:solidFill>
                <a:schemeClr val="tx1"/>
              </a:solidFill>
              <a:prstDash val="solid"/>
              <a:miter/>
              <a:headEnd type="none" w="med" len="med"/>
              <a:tailEnd type="none" w="med" len="med"/>
            </a:ln>
          </p:spPr>
        </p:sp>
        <p:sp>
          <p:nvSpPr>
            <p:cNvPr id="54452" name="Line 34"/>
            <p:cNvSpPr/>
            <p:nvPr/>
          </p:nvSpPr>
          <p:spPr>
            <a:xfrm>
              <a:off x="672" y="1488"/>
              <a:ext cx="0" cy="652"/>
            </a:xfrm>
            <a:prstGeom prst="line">
              <a:avLst/>
            </a:prstGeom>
            <a:ln w="12700" cap="flat" cmpd="sng">
              <a:solidFill>
                <a:schemeClr val="tx1"/>
              </a:solidFill>
              <a:prstDash val="solid"/>
              <a:miter/>
              <a:headEnd type="none" w="med" len="med"/>
              <a:tailEnd type="none" w="med" len="med"/>
            </a:ln>
          </p:spPr>
        </p:sp>
        <p:sp>
          <p:nvSpPr>
            <p:cNvPr id="54453" name="Line 35"/>
            <p:cNvSpPr/>
            <p:nvPr/>
          </p:nvSpPr>
          <p:spPr>
            <a:xfrm>
              <a:off x="1093" y="1488"/>
              <a:ext cx="0" cy="652"/>
            </a:xfrm>
            <a:prstGeom prst="line">
              <a:avLst/>
            </a:prstGeom>
            <a:ln w="12700" cap="flat" cmpd="sng">
              <a:solidFill>
                <a:schemeClr val="tx1"/>
              </a:solidFill>
              <a:prstDash val="solid"/>
              <a:miter/>
              <a:headEnd type="none" w="med" len="med"/>
              <a:tailEnd type="none" w="med" len="med"/>
            </a:ln>
          </p:spPr>
        </p:sp>
        <p:sp>
          <p:nvSpPr>
            <p:cNvPr id="54454" name="Line 36"/>
            <p:cNvSpPr/>
            <p:nvPr/>
          </p:nvSpPr>
          <p:spPr>
            <a:xfrm>
              <a:off x="1495" y="1488"/>
              <a:ext cx="0" cy="652"/>
            </a:xfrm>
            <a:prstGeom prst="line">
              <a:avLst/>
            </a:prstGeom>
            <a:ln w="12700" cap="flat" cmpd="sng">
              <a:solidFill>
                <a:schemeClr val="tx1"/>
              </a:solidFill>
              <a:prstDash val="solid"/>
              <a:miter/>
              <a:headEnd type="none" w="med" len="med"/>
              <a:tailEnd type="none" w="med" len="med"/>
            </a:ln>
          </p:spPr>
        </p:sp>
        <p:sp>
          <p:nvSpPr>
            <p:cNvPr id="54455" name="Line 37"/>
            <p:cNvSpPr/>
            <p:nvPr/>
          </p:nvSpPr>
          <p:spPr>
            <a:xfrm>
              <a:off x="1898" y="1488"/>
              <a:ext cx="0" cy="652"/>
            </a:xfrm>
            <a:prstGeom prst="line">
              <a:avLst/>
            </a:prstGeom>
            <a:ln w="12700" cap="flat" cmpd="sng">
              <a:solidFill>
                <a:schemeClr val="tx1"/>
              </a:solidFill>
              <a:prstDash val="solid"/>
              <a:miter/>
              <a:headEnd type="none" w="med" len="med"/>
              <a:tailEnd type="none" w="med" len="med"/>
            </a:ln>
          </p:spPr>
        </p:sp>
        <p:sp>
          <p:nvSpPr>
            <p:cNvPr id="54456" name="Line 38"/>
            <p:cNvSpPr/>
            <p:nvPr/>
          </p:nvSpPr>
          <p:spPr>
            <a:xfrm>
              <a:off x="2300" y="1488"/>
              <a:ext cx="0" cy="652"/>
            </a:xfrm>
            <a:prstGeom prst="line">
              <a:avLst/>
            </a:prstGeom>
            <a:ln w="12700" cap="flat" cmpd="sng">
              <a:solidFill>
                <a:schemeClr val="tx1"/>
              </a:solidFill>
              <a:prstDash val="solid"/>
              <a:miter/>
              <a:headEnd type="none" w="med" len="med"/>
              <a:tailEnd type="none" w="med" len="med"/>
            </a:ln>
          </p:spPr>
        </p:sp>
        <p:sp>
          <p:nvSpPr>
            <p:cNvPr id="54457" name="Line 39"/>
            <p:cNvSpPr/>
            <p:nvPr/>
          </p:nvSpPr>
          <p:spPr>
            <a:xfrm>
              <a:off x="2702" y="1488"/>
              <a:ext cx="0" cy="652"/>
            </a:xfrm>
            <a:prstGeom prst="line">
              <a:avLst/>
            </a:prstGeom>
            <a:ln w="12700" cap="flat" cmpd="sng">
              <a:solidFill>
                <a:schemeClr val="tx1"/>
              </a:solidFill>
              <a:prstDash val="solid"/>
              <a:miter/>
              <a:headEnd type="none" w="med" len="med"/>
              <a:tailEnd type="none" w="med" len="med"/>
            </a:ln>
          </p:spPr>
        </p:sp>
        <p:sp>
          <p:nvSpPr>
            <p:cNvPr id="54458" name="Line 40"/>
            <p:cNvSpPr/>
            <p:nvPr/>
          </p:nvSpPr>
          <p:spPr>
            <a:xfrm>
              <a:off x="3106" y="1488"/>
              <a:ext cx="0" cy="652"/>
            </a:xfrm>
            <a:prstGeom prst="line">
              <a:avLst/>
            </a:prstGeom>
            <a:ln w="12700" cap="flat" cmpd="sng">
              <a:solidFill>
                <a:schemeClr val="tx1"/>
              </a:solidFill>
              <a:prstDash val="solid"/>
              <a:miter/>
              <a:headEnd type="none" w="med" len="med"/>
              <a:tailEnd type="none" w="med" len="med"/>
            </a:ln>
          </p:spPr>
        </p:sp>
        <p:sp>
          <p:nvSpPr>
            <p:cNvPr id="54459" name="Line 41"/>
            <p:cNvSpPr/>
            <p:nvPr/>
          </p:nvSpPr>
          <p:spPr>
            <a:xfrm>
              <a:off x="3508" y="1488"/>
              <a:ext cx="0" cy="652"/>
            </a:xfrm>
            <a:prstGeom prst="line">
              <a:avLst/>
            </a:prstGeom>
            <a:ln w="12700" cap="flat" cmpd="sng">
              <a:solidFill>
                <a:schemeClr val="tx1"/>
              </a:solidFill>
              <a:prstDash val="solid"/>
              <a:miter/>
              <a:headEnd type="none" w="med" len="med"/>
              <a:tailEnd type="none" w="med" len="med"/>
            </a:ln>
          </p:spPr>
        </p:sp>
        <p:sp>
          <p:nvSpPr>
            <p:cNvPr id="54460" name="Line 42"/>
            <p:cNvSpPr/>
            <p:nvPr/>
          </p:nvSpPr>
          <p:spPr>
            <a:xfrm>
              <a:off x="3910" y="1488"/>
              <a:ext cx="0" cy="652"/>
            </a:xfrm>
            <a:prstGeom prst="line">
              <a:avLst/>
            </a:prstGeom>
            <a:ln w="12700" cap="flat" cmpd="sng">
              <a:solidFill>
                <a:schemeClr val="tx1"/>
              </a:solidFill>
              <a:prstDash val="solid"/>
              <a:miter/>
              <a:headEnd type="none" w="med" len="med"/>
              <a:tailEnd type="none" w="med" len="med"/>
            </a:ln>
          </p:spPr>
        </p:sp>
        <p:sp>
          <p:nvSpPr>
            <p:cNvPr id="54461" name="Line 43"/>
            <p:cNvSpPr/>
            <p:nvPr/>
          </p:nvSpPr>
          <p:spPr>
            <a:xfrm>
              <a:off x="4313" y="1488"/>
              <a:ext cx="0" cy="652"/>
            </a:xfrm>
            <a:prstGeom prst="line">
              <a:avLst/>
            </a:prstGeom>
            <a:ln w="12700" cap="flat" cmpd="sng">
              <a:solidFill>
                <a:schemeClr val="tx1"/>
              </a:solidFill>
              <a:prstDash val="solid"/>
              <a:miter/>
              <a:headEnd type="none" w="med" len="med"/>
              <a:tailEnd type="none" w="med" len="med"/>
            </a:ln>
          </p:spPr>
        </p:sp>
        <p:sp>
          <p:nvSpPr>
            <p:cNvPr id="54462" name="Line 44"/>
            <p:cNvSpPr/>
            <p:nvPr/>
          </p:nvSpPr>
          <p:spPr>
            <a:xfrm>
              <a:off x="4715" y="1488"/>
              <a:ext cx="0" cy="652"/>
            </a:xfrm>
            <a:prstGeom prst="line">
              <a:avLst/>
            </a:prstGeom>
            <a:ln w="12700" cap="flat" cmpd="sng">
              <a:solidFill>
                <a:schemeClr val="tx1"/>
              </a:solidFill>
              <a:prstDash val="solid"/>
              <a:miter/>
              <a:headEnd type="none" w="med" len="med"/>
              <a:tailEnd type="none" w="med" len="med"/>
            </a:ln>
          </p:spPr>
        </p:sp>
        <p:sp>
          <p:nvSpPr>
            <p:cNvPr id="54463" name="Line 45"/>
            <p:cNvSpPr/>
            <p:nvPr/>
          </p:nvSpPr>
          <p:spPr>
            <a:xfrm>
              <a:off x="5118" y="1488"/>
              <a:ext cx="0" cy="652"/>
            </a:xfrm>
            <a:prstGeom prst="line">
              <a:avLst/>
            </a:prstGeom>
            <a:ln w="12700" cap="flat" cmpd="sng">
              <a:solidFill>
                <a:schemeClr val="tx1"/>
              </a:solidFill>
              <a:prstDash val="solid"/>
              <a:miter/>
              <a:headEnd type="none" w="med" len="med"/>
              <a:tailEnd type="none" w="med" len="med"/>
            </a:ln>
          </p:spPr>
        </p:sp>
        <p:sp>
          <p:nvSpPr>
            <p:cNvPr id="54464" name="Line 46"/>
            <p:cNvSpPr/>
            <p:nvPr/>
          </p:nvSpPr>
          <p:spPr>
            <a:xfrm>
              <a:off x="5520" y="1488"/>
              <a:ext cx="0" cy="652"/>
            </a:xfrm>
            <a:prstGeom prst="line">
              <a:avLst/>
            </a:prstGeom>
            <a:ln w="28575" cap="sq" cmpd="sng">
              <a:solidFill>
                <a:schemeClr val="tx1"/>
              </a:solidFill>
              <a:prstDash val="solid"/>
              <a:miter/>
              <a:headEnd type="none" w="med" len="med"/>
              <a:tailEnd type="none" w="med" len="med"/>
            </a:ln>
          </p:spPr>
        </p:sp>
        <p:sp>
          <p:nvSpPr>
            <p:cNvPr id="54465" name="Rectangle 47"/>
            <p:cNvSpPr/>
            <p:nvPr/>
          </p:nvSpPr>
          <p:spPr>
            <a:xfrm>
              <a:off x="96" y="2968"/>
              <a:ext cx="576" cy="34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F</a:t>
              </a:r>
            </a:p>
          </p:txBody>
        </p:sp>
        <p:sp>
          <p:nvSpPr>
            <p:cNvPr id="54466" name="Rectangle 48"/>
            <p:cNvSpPr/>
            <p:nvPr/>
          </p:nvSpPr>
          <p:spPr>
            <a:xfrm>
              <a:off x="96" y="2152"/>
              <a:ext cx="576" cy="81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M</a:t>
              </a:r>
            </a:p>
          </p:txBody>
        </p:sp>
        <p:sp>
          <p:nvSpPr>
            <p:cNvPr id="54467" name="Line 49"/>
            <p:cNvSpPr/>
            <p:nvPr/>
          </p:nvSpPr>
          <p:spPr>
            <a:xfrm>
              <a:off x="96" y="2152"/>
              <a:ext cx="576" cy="0"/>
            </a:xfrm>
            <a:prstGeom prst="line">
              <a:avLst/>
            </a:prstGeom>
            <a:ln w="28575" cap="sq" cmpd="sng">
              <a:solidFill>
                <a:schemeClr val="tx1"/>
              </a:solidFill>
              <a:prstDash val="solid"/>
              <a:miter/>
              <a:headEnd type="none" w="med" len="med"/>
              <a:tailEnd type="none" w="med" len="med"/>
            </a:ln>
          </p:spPr>
        </p:sp>
        <p:sp>
          <p:nvSpPr>
            <p:cNvPr id="54468" name="Line 50"/>
            <p:cNvSpPr/>
            <p:nvPr/>
          </p:nvSpPr>
          <p:spPr>
            <a:xfrm>
              <a:off x="96" y="2968"/>
              <a:ext cx="576" cy="0"/>
            </a:xfrm>
            <a:prstGeom prst="line">
              <a:avLst/>
            </a:prstGeom>
            <a:ln w="12700" cap="flat" cmpd="sng">
              <a:solidFill>
                <a:schemeClr val="tx1"/>
              </a:solidFill>
              <a:prstDash val="solid"/>
              <a:miter/>
              <a:headEnd type="none" w="med" len="med"/>
              <a:tailEnd type="none" w="med" len="med"/>
            </a:ln>
          </p:spPr>
        </p:sp>
        <p:sp>
          <p:nvSpPr>
            <p:cNvPr id="54469" name="Line 51"/>
            <p:cNvSpPr/>
            <p:nvPr/>
          </p:nvSpPr>
          <p:spPr>
            <a:xfrm>
              <a:off x="96" y="3312"/>
              <a:ext cx="576" cy="0"/>
            </a:xfrm>
            <a:prstGeom prst="line">
              <a:avLst/>
            </a:prstGeom>
            <a:ln w="28575" cap="sq" cmpd="sng">
              <a:solidFill>
                <a:schemeClr val="tx1"/>
              </a:solidFill>
              <a:prstDash val="solid"/>
              <a:miter/>
              <a:headEnd type="none" w="med" len="med"/>
              <a:tailEnd type="none" w="med" len="med"/>
            </a:ln>
          </p:spPr>
        </p:sp>
        <p:sp>
          <p:nvSpPr>
            <p:cNvPr id="54470" name="Line 52"/>
            <p:cNvSpPr/>
            <p:nvPr/>
          </p:nvSpPr>
          <p:spPr>
            <a:xfrm>
              <a:off x="96" y="2152"/>
              <a:ext cx="0" cy="1160"/>
            </a:xfrm>
            <a:prstGeom prst="line">
              <a:avLst/>
            </a:prstGeom>
            <a:ln w="28575" cap="sq" cmpd="sng">
              <a:solidFill>
                <a:schemeClr val="tx1"/>
              </a:solidFill>
              <a:prstDash val="solid"/>
              <a:miter/>
              <a:headEnd type="none" w="med" len="med"/>
              <a:tailEnd type="none" w="med" len="med"/>
            </a:ln>
          </p:spPr>
        </p:sp>
        <p:sp>
          <p:nvSpPr>
            <p:cNvPr id="54471" name="Line 53"/>
            <p:cNvSpPr/>
            <p:nvPr/>
          </p:nvSpPr>
          <p:spPr>
            <a:xfrm>
              <a:off x="672" y="2152"/>
              <a:ext cx="0" cy="1160"/>
            </a:xfrm>
            <a:prstGeom prst="line">
              <a:avLst/>
            </a:prstGeom>
            <a:ln w="28575" cap="sq" cmpd="sng">
              <a:solidFill>
                <a:schemeClr val="tx1"/>
              </a:solidFill>
              <a:prstDash val="solid"/>
              <a:miter/>
              <a:headEnd type="none" w="med" len="med"/>
              <a:tailEnd type="none" w="med" len="med"/>
            </a:ln>
          </p:spPr>
        </p:sp>
      </p:grpSp>
      <p:graphicFrame>
        <p:nvGraphicFramePr>
          <p:cNvPr id="54275" name="表格 54274"/>
          <p:cNvGraphicFramePr/>
          <p:nvPr/>
        </p:nvGraphicFramePr>
        <p:xfrm>
          <a:off x="1143000" y="3416300"/>
          <a:ext cx="685800" cy="1843088"/>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287" name="表格 54286"/>
          <p:cNvGraphicFramePr/>
          <p:nvPr/>
        </p:nvGraphicFramePr>
        <p:xfrm>
          <a:off x="1828800" y="3416300"/>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299" name="表格 54298"/>
          <p:cNvGraphicFramePr/>
          <p:nvPr/>
        </p:nvGraphicFramePr>
        <p:xfrm>
          <a:off x="2438400" y="3416300"/>
          <a:ext cx="685800" cy="1843088"/>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311" name="表格 54310"/>
          <p:cNvGraphicFramePr/>
          <p:nvPr/>
        </p:nvGraphicFramePr>
        <p:xfrm>
          <a:off x="3124200" y="3416300"/>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323" name="表格 54322"/>
          <p:cNvGraphicFramePr/>
          <p:nvPr/>
        </p:nvGraphicFramePr>
        <p:xfrm>
          <a:off x="3733800" y="3416300"/>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335" name="表格 54334"/>
          <p:cNvGraphicFramePr/>
          <p:nvPr/>
        </p:nvGraphicFramePr>
        <p:xfrm>
          <a:off x="4343400" y="3416300"/>
          <a:ext cx="685800" cy="1843088"/>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347" name="表格 54346"/>
          <p:cNvGraphicFramePr/>
          <p:nvPr/>
        </p:nvGraphicFramePr>
        <p:xfrm>
          <a:off x="5029200" y="3414713"/>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359" name="表格 54358"/>
          <p:cNvGraphicFramePr/>
          <p:nvPr/>
        </p:nvGraphicFramePr>
        <p:xfrm>
          <a:off x="5638800" y="3414713"/>
          <a:ext cx="685800" cy="1843088"/>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371" name="表格 54370"/>
          <p:cNvGraphicFramePr/>
          <p:nvPr/>
        </p:nvGraphicFramePr>
        <p:xfrm>
          <a:off x="6324600" y="3414713"/>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383" name="表格 54382"/>
          <p:cNvGraphicFramePr/>
          <p:nvPr/>
        </p:nvGraphicFramePr>
        <p:xfrm>
          <a:off x="6934200" y="3414713"/>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395" name="表格 54394"/>
          <p:cNvGraphicFramePr/>
          <p:nvPr/>
        </p:nvGraphicFramePr>
        <p:xfrm>
          <a:off x="7543800" y="3414713"/>
          <a:ext cx="685800" cy="1843088"/>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407" name="表格 54406"/>
          <p:cNvGraphicFramePr/>
          <p:nvPr/>
        </p:nvGraphicFramePr>
        <p:xfrm>
          <a:off x="8229600" y="3416300"/>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92390" name="Text Box 198"/>
          <p:cNvSpPr txBox="1"/>
          <p:nvPr/>
        </p:nvSpPr>
        <p:spPr>
          <a:xfrm>
            <a:off x="228600" y="5410200"/>
            <a:ext cx="8229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2400" b="0">
                <a:ea typeface="楷体_GB2312" pitchFamily="49" charset="-122"/>
              </a:rPr>
              <a:t>由表可以算出缺页中断次数</a:t>
            </a:r>
            <a:r>
              <a:rPr lang="en-US" altLang="zh-CN" sz="2400" b="0">
                <a:ea typeface="楷体_GB2312" pitchFamily="49" charset="-122"/>
              </a:rPr>
              <a:t>F=9</a:t>
            </a:r>
            <a:r>
              <a:rPr lang="zh-CN" altLang="en-US" sz="2400" b="0">
                <a:ea typeface="楷体_GB2312" pitchFamily="49" charset="-122"/>
              </a:rPr>
              <a:t>，而缺页率：</a:t>
            </a:r>
            <a:r>
              <a:rPr lang="en-US" altLang="zh-CN" sz="2400" b="0">
                <a:ea typeface="楷体_GB2312" pitchFamily="49" charset="-122"/>
              </a:rPr>
              <a:t>9</a:t>
            </a:r>
            <a:r>
              <a:rPr lang="zh-CN" altLang="en-US" sz="2400" b="0">
                <a:ea typeface="楷体_GB2312" pitchFamily="49" charset="-122"/>
              </a:rPr>
              <a:t>／</a:t>
            </a:r>
            <a:r>
              <a:rPr lang="en-US" altLang="zh-CN" sz="2400" b="0">
                <a:ea typeface="楷体_GB2312" pitchFamily="49" charset="-122"/>
              </a:rPr>
              <a:t>12=75%</a:t>
            </a:r>
            <a:r>
              <a:rPr lang="zh-CN" altLang="en-US" sz="2400" b="0">
                <a:ea typeface="楷体_GB2312" pitchFamily="49" charset="-122"/>
              </a:rPr>
              <a:t>。</a:t>
            </a:r>
          </a:p>
        </p:txBody>
      </p:sp>
      <p:sp>
        <p:nvSpPr>
          <p:cNvPr id="69" name="Rectangle 2"/>
          <p:cNvSpPr txBox="1">
            <a:spLocks noChangeArrowheads="1"/>
          </p:cNvSpPr>
          <p:nvPr/>
        </p:nvSpPr>
        <p:spPr>
          <a:xfrm>
            <a:off x="406400" y="557213"/>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nb-NO" altLang="zh-CN" sz="3600" b="0">
                <a:solidFill>
                  <a:schemeClr val="tx2"/>
                </a:solidFill>
                <a:latin typeface="Arial Black" panose="020B0A04020102020204" pitchFamily="34" charset="0"/>
              </a:rPr>
              <a:t>5.</a:t>
            </a:r>
            <a:r>
              <a:rPr lang="en-US" altLang="zh-CN" sz="3600" b="0">
                <a:solidFill>
                  <a:schemeClr val="tx2"/>
                </a:solidFill>
                <a:latin typeface="Arial Black" panose="020B0A04020102020204" pitchFamily="34" charset="0"/>
              </a:rPr>
              <a:t>8</a:t>
            </a:r>
            <a:r>
              <a:rPr lang="nb-NO" altLang="zh-CN" sz="3600" b="0">
                <a:solidFill>
                  <a:schemeClr val="tx2"/>
                </a:solidFill>
                <a:latin typeface="Arial Black" panose="020B0A04020102020204" pitchFamily="34" charset="0"/>
              </a:rPr>
              <a:t>.</a:t>
            </a:r>
            <a:r>
              <a:rPr lang="en-US" altLang="zh-CN" sz="3600" b="0">
                <a:solidFill>
                  <a:schemeClr val="tx2"/>
                </a:solidFill>
                <a:latin typeface="Arial Black" panose="020B0A04020102020204" pitchFamily="34" charset="0"/>
              </a:rPr>
              <a:t>4</a:t>
            </a:r>
            <a:r>
              <a:rPr lang="zh-CN" altLang="en-US" sz="3600" b="0">
                <a:solidFill>
                  <a:schemeClr val="tx2"/>
                </a:solidFill>
                <a:latin typeface="Arial Black" panose="020B0A04020102020204" pitchFamily="34" charset="0"/>
              </a:rPr>
              <a:t>页面置换算法</a:t>
            </a:r>
          </a:p>
        </p:txBody>
      </p:sp>
      <p:sp>
        <p:nvSpPr>
          <p:cNvPr id="54421" name="矩形 3"/>
          <p:cNvSpPr/>
          <p:nvPr/>
        </p:nvSpPr>
        <p:spPr>
          <a:xfrm>
            <a:off x="377825" y="1484313"/>
            <a:ext cx="8586788" cy="7572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lnSpc>
                <a:spcPct val="90000"/>
              </a:lnSpc>
              <a:spcBef>
                <a:spcPct val="0"/>
              </a:spcBef>
              <a:buClrTx/>
              <a:buFont typeface="Wingdings" panose="05000000000000000000" pitchFamily="2" charset="2"/>
              <a:buNone/>
            </a:pPr>
            <a:r>
              <a:rPr lang="zh-CN" altLang="en-US" sz="2400" b="0"/>
              <a:t>例</a:t>
            </a:r>
            <a:r>
              <a:rPr lang="en-US" altLang="zh-CN" sz="2400" b="0"/>
              <a:t>1.  </a:t>
            </a:r>
            <a:r>
              <a:rPr lang="zh-CN" altLang="en-US" sz="2400" b="0"/>
              <a:t>设</a:t>
            </a:r>
            <a:r>
              <a:rPr lang="en-US" altLang="zh-CN" sz="2400" b="0"/>
              <a:t>M=3</a:t>
            </a:r>
            <a:r>
              <a:rPr lang="zh-CN" altLang="en-US" sz="2400" b="0"/>
              <a:t>，采用</a:t>
            </a:r>
            <a:r>
              <a:rPr lang="en-US" altLang="zh-CN" sz="2400" b="0"/>
              <a:t>FIFO</a:t>
            </a:r>
            <a:r>
              <a:rPr lang="zh-CN" altLang="en-US" sz="2400" b="0"/>
              <a:t>置换算法，页面走向如下。缺页中断次数和缺页率如表所示。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4275"/>
                                        </p:tgtEl>
                                        <p:attrNameLst>
                                          <p:attrName>style.visibility</p:attrName>
                                        </p:attrNameLst>
                                      </p:cBhvr>
                                      <p:to>
                                        <p:strVal val="visible"/>
                                      </p:to>
                                    </p:set>
                                    <p:anim calcmode="lin" valueType="num">
                                      <p:cBhvr additive="base">
                                        <p:cTn id="7" dur="500" fill="hold"/>
                                        <p:tgtEl>
                                          <p:spTgt spid="54275"/>
                                        </p:tgtEl>
                                        <p:attrNameLst>
                                          <p:attrName>ppt_x</p:attrName>
                                        </p:attrNameLst>
                                      </p:cBhvr>
                                      <p:tavLst>
                                        <p:tav tm="0">
                                          <p:val>
                                            <p:strVal val="1+#ppt_w/2"/>
                                          </p:val>
                                        </p:tav>
                                        <p:tav tm="100000">
                                          <p:val>
                                            <p:strVal val="#ppt_x"/>
                                          </p:val>
                                        </p:tav>
                                      </p:tavLst>
                                    </p:anim>
                                    <p:anim calcmode="lin" valueType="num">
                                      <p:cBhvr additive="base">
                                        <p:cTn id="8" dur="500" fill="hold"/>
                                        <p:tgtEl>
                                          <p:spTgt spid="542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54287"/>
                                        </p:tgtEl>
                                        <p:attrNameLst>
                                          <p:attrName>style.visibility</p:attrName>
                                        </p:attrNameLst>
                                      </p:cBhvr>
                                      <p:to>
                                        <p:strVal val="visible"/>
                                      </p:to>
                                    </p:set>
                                    <p:anim calcmode="lin" valueType="num">
                                      <p:cBhvr additive="base">
                                        <p:cTn id="13" dur="500" fill="hold"/>
                                        <p:tgtEl>
                                          <p:spTgt spid="54287"/>
                                        </p:tgtEl>
                                        <p:attrNameLst>
                                          <p:attrName>ppt_x</p:attrName>
                                        </p:attrNameLst>
                                      </p:cBhvr>
                                      <p:tavLst>
                                        <p:tav tm="0">
                                          <p:val>
                                            <p:strVal val="1+#ppt_w/2"/>
                                          </p:val>
                                        </p:tav>
                                        <p:tav tm="100000">
                                          <p:val>
                                            <p:strVal val="#ppt_x"/>
                                          </p:val>
                                        </p:tav>
                                      </p:tavLst>
                                    </p:anim>
                                    <p:anim calcmode="lin" valueType="num">
                                      <p:cBhvr additive="base">
                                        <p:cTn id="14" dur="500" fill="hold"/>
                                        <p:tgtEl>
                                          <p:spTgt spid="5428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54299"/>
                                        </p:tgtEl>
                                        <p:attrNameLst>
                                          <p:attrName>style.visibility</p:attrName>
                                        </p:attrNameLst>
                                      </p:cBhvr>
                                      <p:to>
                                        <p:strVal val="visible"/>
                                      </p:to>
                                    </p:set>
                                    <p:anim calcmode="lin" valueType="num">
                                      <p:cBhvr additive="base">
                                        <p:cTn id="19" dur="500" fill="hold"/>
                                        <p:tgtEl>
                                          <p:spTgt spid="54299"/>
                                        </p:tgtEl>
                                        <p:attrNameLst>
                                          <p:attrName>ppt_x</p:attrName>
                                        </p:attrNameLst>
                                      </p:cBhvr>
                                      <p:tavLst>
                                        <p:tav tm="0">
                                          <p:val>
                                            <p:strVal val="1+#ppt_w/2"/>
                                          </p:val>
                                        </p:tav>
                                        <p:tav tm="100000">
                                          <p:val>
                                            <p:strVal val="#ppt_x"/>
                                          </p:val>
                                        </p:tav>
                                      </p:tavLst>
                                    </p:anim>
                                    <p:anim calcmode="lin" valueType="num">
                                      <p:cBhvr additive="base">
                                        <p:cTn id="20" dur="500" fill="hold"/>
                                        <p:tgtEl>
                                          <p:spTgt spid="5429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54311"/>
                                        </p:tgtEl>
                                        <p:attrNameLst>
                                          <p:attrName>style.visibility</p:attrName>
                                        </p:attrNameLst>
                                      </p:cBhvr>
                                      <p:to>
                                        <p:strVal val="visible"/>
                                      </p:to>
                                    </p:set>
                                    <p:anim calcmode="lin" valueType="num">
                                      <p:cBhvr additive="base">
                                        <p:cTn id="25" dur="500" fill="hold"/>
                                        <p:tgtEl>
                                          <p:spTgt spid="54311"/>
                                        </p:tgtEl>
                                        <p:attrNameLst>
                                          <p:attrName>ppt_x</p:attrName>
                                        </p:attrNameLst>
                                      </p:cBhvr>
                                      <p:tavLst>
                                        <p:tav tm="0">
                                          <p:val>
                                            <p:strVal val="1+#ppt_w/2"/>
                                          </p:val>
                                        </p:tav>
                                        <p:tav tm="100000">
                                          <p:val>
                                            <p:strVal val="#ppt_x"/>
                                          </p:val>
                                        </p:tav>
                                      </p:tavLst>
                                    </p:anim>
                                    <p:anim calcmode="lin" valueType="num">
                                      <p:cBhvr additive="base">
                                        <p:cTn id="26" dur="500" fill="hold"/>
                                        <p:tgtEl>
                                          <p:spTgt spid="5431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54323"/>
                                        </p:tgtEl>
                                        <p:attrNameLst>
                                          <p:attrName>style.visibility</p:attrName>
                                        </p:attrNameLst>
                                      </p:cBhvr>
                                      <p:to>
                                        <p:strVal val="visible"/>
                                      </p:to>
                                    </p:set>
                                    <p:anim calcmode="lin" valueType="num">
                                      <p:cBhvr additive="base">
                                        <p:cTn id="31" dur="500" fill="hold"/>
                                        <p:tgtEl>
                                          <p:spTgt spid="54323"/>
                                        </p:tgtEl>
                                        <p:attrNameLst>
                                          <p:attrName>ppt_x</p:attrName>
                                        </p:attrNameLst>
                                      </p:cBhvr>
                                      <p:tavLst>
                                        <p:tav tm="0">
                                          <p:val>
                                            <p:strVal val="1+#ppt_w/2"/>
                                          </p:val>
                                        </p:tav>
                                        <p:tav tm="100000">
                                          <p:val>
                                            <p:strVal val="#ppt_x"/>
                                          </p:val>
                                        </p:tav>
                                      </p:tavLst>
                                    </p:anim>
                                    <p:anim calcmode="lin" valueType="num">
                                      <p:cBhvr additive="base">
                                        <p:cTn id="32" dur="500" fill="hold"/>
                                        <p:tgtEl>
                                          <p:spTgt spid="5432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54335"/>
                                        </p:tgtEl>
                                        <p:attrNameLst>
                                          <p:attrName>style.visibility</p:attrName>
                                        </p:attrNameLst>
                                      </p:cBhvr>
                                      <p:to>
                                        <p:strVal val="visible"/>
                                      </p:to>
                                    </p:set>
                                    <p:anim calcmode="lin" valueType="num">
                                      <p:cBhvr additive="base">
                                        <p:cTn id="37" dur="500" fill="hold"/>
                                        <p:tgtEl>
                                          <p:spTgt spid="54335"/>
                                        </p:tgtEl>
                                        <p:attrNameLst>
                                          <p:attrName>ppt_x</p:attrName>
                                        </p:attrNameLst>
                                      </p:cBhvr>
                                      <p:tavLst>
                                        <p:tav tm="0">
                                          <p:val>
                                            <p:strVal val="1+#ppt_w/2"/>
                                          </p:val>
                                        </p:tav>
                                        <p:tav tm="100000">
                                          <p:val>
                                            <p:strVal val="#ppt_x"/>
                                          </p:val>
                                        </p:tav>
                                      </p:tavLst>
                                    </p:anim>
                                    <p:anim calcmode="lin" valueType="num">
                                      <p:cBhvr additive="base">
                                        <p:cTn id="38" dur="500" fill="hold"/>
                                        <p:tgtEl>
                                          <p:spTgt spid="5433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54347"/>
                                        </p:tgtEl>
                                        <p:attrNameLst>
                                          <p:attrName>style.visibility</p:attrName>
                                        </p:attrNameLst>
                                      </p:cBhvr>
                                      <p:to>
                                        <p:strVal val="visible"/>
                                      </p:to>
                                    </p:set>
                                    <p:anim calcmode="lin" valueType="num">
                                      <p:cBhvr additive="base">
                                        <p:cTn id="43" dur="500" fill="hold"/>
                                        <p:tgtEl>
                                          <p:spTgt spid="54347"/>
                                        </p:tgtEl>
                                        <p:attrNameLst>
                                          <p:attrName>ppt_x</p:attrName>
                                        </p:attrNameLst>
                                      </p:cBhvr>
                                      <p:tavLst>
                                        <p:tav tm="0">
                                          <p:val>
                                            <p:strVal val="1+#ppt_w/2"/>
                                          </p:val>
                                        </p:tav>
                                        <p:tav tm="100000">
                                          <p:val>
                                            <p:strVal val="#ppt_x"/>
                                          </p:val>
                                        </p:tav>
                                      </p:tavLst>
                                    </p:anim>
                                    <p:anim calcmode="lin" valueType="num">
                                      <p:cBhvr additive="base">
                                        <p:cTn id="44" dur="500" fill="hold"/>
                                        <p:tgtEl>
                                          <p:spTgt spid="5434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54359"/>
                                        </p:tgtEl>
                                        <p:attrNameLst>
                                          <p:attrName>style.visibility</p:attrName>
                                        </p:attrNameLst>
                                      </p:cBhvr>
                                      <p:to>
                                        <p:strVal val="visible"/>
                                      </p:to>
                                    </p:set>
                                    <p:anim calcmode="lin" valueType="num">
                                      <p:cBhvr additive="base">
                                        <p:cTn id="49" dur="500" fill="hold"/>
                                        <p:tgtEl>
                                          <p:spTgt spid="54359"/>
                                        </p:tgtEl>
                                        <p:attrNameLst>
                                          <p:attrName>ppt_x</p:attrName>
                                        </p:attrNameLst>
                                      </p:cBhvr>
                                      <p:tavLst>
                                        <p:tav tm="0">
                                          <p:val>
                                            <p:strVal val="1+#ppt_w/2"/>
                                          </p:val>
                                        </p:tav>
                                        <p:tav tm="100000">
                                          <p:val>
                                            <p:strVal val="#ppt_x"/>
                                          </p:val>
                                        </p:tav>
                                      </p:tavLst>
                                    </p:anim>
                                    <p:anim calcmode="lin" valueType="num">
                                      <p:cBhvr additive="base">
                                        <p:cTn id="50" dur="500" fill="hold"/>
                                        <p:tgtEl>
                                          <p:spTgt spid="5435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54371"/>
                                        </p:tgtEl>
                                        <p:attrNameLst>
                                          <p:attrName>style.visibility</p:attrName>
                                        </p:attrNameLst>
                                      </p:cBhvr>
                                      <p:to>
                                        <p:strVal val="visible"/>
                                      </p:to>
                                    </p:set>
                                    <p:anim calcmode="lin" valueType="num">
                                      <p:cBhvr additive="base">
                                        <p:cTn id="55" dur="500" fill="hold"/>
                                        <p:tgtEl>
                                          <p:spTgt spid="54371"/>
                                        </p:tgtEl>
                                        <p:attrNameLst>
                                          <p:attrName>ppt_x</p:attrName>
                                        </p:attrNameLst>
                                      </p:cBhvr>
                                      <p:tavLst>
                                        <p:tav tm="0">
                                          <p:val>
                                            <p:strVal val="1+#ppt_w/2"/>
                                          </p:val>
                                        </p:tav>
                                        <p:tav tm="100000">
                                          <p:val>
                                            <p:strVal val="#ppt_x"/>
                                          </p:val>
                                        </p:tav>
                                      </p:tavLst>
                                    </p:anim>
                                    <p:anim calcmode="lin" valueType="num">
                                      <p:cBhvr additive="base">
                                        <p:cTn id="56" dur="500" fill="hold"/>
                                        <p:tgtEl>
                                          <p:spTgt spid="54371"/>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54383"/>
                                        </p:tgtEl>
                                        <p:attrNameLst>
                                          <p:attrName>style.visibility</p:attrName>
                                        </p:attrNameLst>
                                      </p:cBhvr>
                                      <p:to>
                                        <p:strVal val="visible"/>
                                      </p:to>
                                    </p:set>
                                    <p:anim calcmode="lin" valueType="num">
                                      <p:cBhvr additive="base">
                                        <p:cTn id="61" dur="500" fill="hold"/>
                                        <p:tgtEl>
                                          <p:spTgt spid="54383"/>
                                        </p:tgtEl>
                                        <p:attrNameLst>
                                          <p:attrName>ppt_x</p:attrName>
                                        </p:attrNameLst>
                                      </p:cBhvr>
                                      <p:tavLst>
                                        <p:tav tm="0">
                                          <p:val>
                                            <p:strVal val="1+#ppt_w/2"/>
                                          </p:val>
                                        </p:tav>
                                        <p:tav tm="100000">
                                          <p:val>
                                            <p:strVal val="#ppt_x"/>
                                          </p:val>
                                        </p:tav>
                                      </p:tavLst>
                                    </p:anim>
                                    <p:anim calcmode="lin" valueType="num">
                                      <p:cBhvr additive="base">
                                        <p:cTn id="62" dur="500" fill="hold"/>
                                        <p:tgtEl>
                                          <p:spTgt spid="54383"/>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nodeType="clickEffect">
                                  <p:stCondLst>
                                    <p:cond delay="0"/>
                                  </p:stCondLst>
                                  <p:childTnLst>
                                    <p:set>
                                      <p:cBhvr>
                                        <p:cTn id="66" dur="1" fill="hold">
                                          <p:stCondLst>
                                            <p:cond delay="0"/>
                                          </p:stCondLst>
                                        </p:cTn>
                                        <p:tgtEl>
                                          <p:spTgt spid="54395"/>
                                        </p:tgtEl>
                                        <p:attrNameLst>
                                          <p:attrName>style.visibility</p:attrName>
                                        </p:attrNameLst>
                                      </p:cBhvr>
                                      <p:to>
                                        <p:strVal val="visible"/>
                                      </p:to>
                                    </p:set>
                                    <p:anim calcmode="lin" valueType="num">
                                      <p:cBhvr additive="base">
                                        <p:cTn id="67" dur="500" fill="hold"/>
                                        <p:tgtEl>
                                          <p:spTgt spid="54395"/>
                                        </p:tgtEl>
                                        <p:attrNameLst>
                                          <p:attrName>ppt_x</p:attrName>
                                        </p:attrNameLst>
                                      </p:cBhvr>
                                      <p:tavLst>
                                        <p:tav tm="0">
                                          <p:val>
                                            <p:strVal val="1+#ppt_w/2"/>
                                          </p:val>
                                        </p:tav>
                                        <p:tav tm="100000">
                                          <p:val>
                                            <p:strVal val="#ppt_x"/>
                                          </p:val>
                                        </p:tav>
                                      </p:tavLst>
                                    </p:anim>
                                    <p:anim calcmode="lin" valueType="num">
                                      <p:cBhvr additive="base">
                                        <p:cTn id="68" dur="500" fill="hold"/>
                                        <p:tgtEl>
                                          <p:spTgt spid="5439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nodeType="clickEffect">
                                  <p:stCondLst>
                                    <p:cond delay="0"/>
                                  </p:stCondLst>
                                  <p:childTnLst>
                                    <p:set>
                                      <p:cBhvr>
                                        <p:cTn id="72" dur="1" fill="hold">
                                          <p:stCondLst>
                                            <p:cond delay="0"/>
                                          </p:stCondLst>
                                        </p:cTn>
                                        <p:tgtEl>
                                          <p:spTgt spid="54407"/>
                                        </p:tgtEl>
                                        <p:attrNameLst>
                                          <p:attrName>style.visibility</p:attrName>
                                        </p:attrNameLst>
                                      </p:cBhvr>
                                      <p:to>
                                        <p:strVal val="visible"/>
                                      </p:to>
                                    </p:set>
                                    <p:anim calcmode="lin" valueType="num">
                                      <p:cBhvr additive="base">
                                        <p:cTn id="73" dur="500" fill="hold"/>
                                        <p:tgtEl>
                                          <p:spTgt spid="54407"/>
                                        </p:tgtEl>
                                        <p:attrNameLst>
                                          <p:attrName>ppt_x</p:attrName>
                                        </p:attrNameLst>
                                      </p:cBhvr>
                                      <p:tavLst>
                                        <p:tav tm="0">
                                          <p:val>
                                            <p:strVal val="1+#ppt_w/2"/>
                                          </p:val>
                                        </p:tav>
                                        <p:tav tm="100000">
                                          <p:val>
                                            <p:strVal val="#ppt_x"/>
                                          </p:val>
                                        </p:tav>
                                      </p:tavLst>
                                    </p:anim>
                                    <p:anim calcmode="lin" valueType="num">
                                      <p:cBhvr additive="base">
                                        <p:cTn id="74" dur="500" fill="hold"/>
                                        <p:tgtEl>
                                          <p:spTgt spid="54407"/>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392390"/>
                                        </p:tgtEl>
                                        <p:attrNameLst>
                                          <p:attrName>style.visibility</p:attrName>
                                        </p:attrNameLst>
                                      </p:cBhvr>
                                      <p:to>
                                        <p:strVal val="visible"/>
                                      </p:to>
                                    </p:set>
                                    <p:anim calcmode="lin" valueType="num">
                                      <p:cBhvr additive="base">
                                        <p:cTn id="79" dur="500" fill="hold"/>
                                        <p:tgtEl>
                                          <p:spTgt spid="392390"/>
                                        </p:tgtEl>
                                        <p:attrNameLst>
                                          <p:attrName>ppt_x</p:attrName>
                                        </p:attrNameLst>
                                      </p:cBhvr>
                                      <p:tavLst>
                                        <p:tav tm="0">
                                          <p:val>
                                            <p:strVal val="1+#ppt_w/2"/>
                                          </p:val>
                                        </p:tav>
                                        <p:tav tm="100000">
                                          <p:val>
                                            <p:strVal val="#ppt_x"/>
                                          </p:val>
                                        </p:tav>
                                      </p:tavLst>
                                    </p:anim>
                                    <p:anim calcmode="lin" valueType="num">
                                      <p:cBhvr additive="base">
                                        <p:cTn id="80" dur="500" fill="hold"/>
                                        <p:tgtEl>
                                          <p:spTgt spid="3923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39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38</a:t>
            </a:fld>
            <a:endParaRPr lang="zh-CN" altLang="en-US" sz="1400" b="0">
              <a:latin typeface="Tahoma" panose="020B0604030504040204" pitchFamily="34" charset="0"/>
              <a:ea typeface="宋体" panose="02010600030101010101" pitchFamily="2" charset="-122"/>
            </a:endParaRPr>
          </a:p>
        </p:txBody>
      </p:sp>
      <p:sp>
        <p:nvSpPr>
          <p:cNvPr id="55298" name="Line 4"/>
          <p:cNvSpPr/>
          <p:nvPr/>
        </p:nvSpPr>
        <p:spPr>
          <a:xfrm>
            <a:off x="228600" y="3402013"/>
            <a:ext cx="914400" cy="0"/>
          </a:xfrm>
          <a:prstGeom prst="line">
            <a:avLst/>
          </a:prstGeom>
          <a:ln w="28575" cap="sq" cmpd="sng">
            <a:solidFill>
              <a:schemeClr val="tx1"/>
            </a:solidFill>
            <a:prstDash val="solid"/>
            <a:miter/>
            <a:headEnd type="none" w="med" len="med"/>
            <a:tailEnd type="none" w="med" len="med"/>
          </a:ln>
        </p:spPr>
      </p:sp>
      <p:grpSp>
        <p:nvGrpSpPr>
          <p:cNvPr id="55299" name="Group 5"/>
          <p:cNvGrpSpPr/>
          <p:nvPr/>
        </p:nvGrpSpPr>
        <p:grpSpPr>
          <a:xfrm>
            <a:off x="228600" y="2362200"/>
            <a:ext cx="8610600" cy="3276600"/>
            <a:chOff x="144" y="1488"/>
            <a:chExt cx="5424" cy="2064"/>
          </a:xfrm>
        </p:grpSpPr>
        <p:sp>
          <p:nvSpPr>
            <p:cNvPr id="55471" name="Rectangle 6"/>
            <p:cNvSpPr/>
            <p:nvPr/>
          </p:nvSpPr>
          <p:spPr>
            <a:xfrm>
              <a:off x="516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p>
          </p:txBody>
        </p:sp>
        <p:sp>
          <p:nvSpPr>
            <p:cNvPr id="55472" name="Rectangle 7"/>
            <p:cNvSpPr/>
            <p:nvPr/>
          </p:nvSpPr>
          <p:spPr>
            <a:xfrm>
              <a:off x="4763"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p>
          </p:txBody>
        </p:sp>
        <p:sp>
          <p:nvSpPr>
            <p:cNvPr id="55473" name="Rectangle 8"/>
            <p:cNvSpPr/>
            <p:nvPr/>
          </p:nvSpPr>
          <p:spPr>
            <a:xfrm>
              <a:off x="4361"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p>
          </p:txBody>
        </p:sp>
        <p:sp>
          <p:nvSpPr>
            <p:cNvPr id="55474" name="Rectangle 9"/>
            <p:cNvSpPr/>
            <p:nvPr/>
          </p:nvSpPr>
          <p:spPr>
            <a:xfrm>
              <a:off x="3958"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55475" name="Rectangle 10"/>
            <p:cNvSpPr/>
            <p:nvPr/>
          </p:nvSpPr>
          <p:spPr>
            <a:xfrm>
              <a:off x="355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55476" name="Rectangle 11"/>
            <p:cNvSpPr/>
            <p:nvPr/>
          </p:nvSpPr>
          <p:spPr>
            <a:xfrm>
              <a:off x="3154"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p>
          </p:txBody>
        </p:sp>
        <p:sp>
          <p:nvSpPr>
            <p:cNvPr id="55477" name="Rectangle 12"/>
            <p:cNvSpPr/>
            <p:nvPr/>
          </p:nvSpPr>
          <p:spPr>
            <a:xfrm>
              <a:off x="2750" y="1814"/>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55478" name="Rectangle 13"/>
            <p:cNvSpPr/>
            <p:nvPr/>
          </p:nvSpPr>
          <p:spPr>
            <a:xfrm>
              <a:off x="234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55479" name="Rectangle 14"/>
            <p:cNvSpPr/>
            <p:nvPr/>
          </p:nvSpPr>
          <p:spPr>
            <a:xfrm>
              <a:off x="194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p>
          </p:txBody>
        </p:sp>
        <p:sp>
          <p:nvSpPr>
            <p:cNvPr id="55480" name="Rectangle 15"/>
            <p:cNvSpPr/>
            <p:nvPr/>
          </p:nvSpPr>
          <p:spPr>
            <a:xfrm>
              <a:off x="1543"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p>
          </p:txBody>
        </p:sp>
        <p:sp>
          <p:nvSpPr>
            <p:cNvPr id="55481" name="Rectangle 16"/>
            <p:cNvSpPr/>
            <p:nvPr/>
          </p:nvSpPr>
          <p:spPr>
            <a:xfrm>
              <a:off x="1141"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55482" name="Rectangle 17"/>
            <p:cNvSpPr/>
            <p:nvPr/>
          </p:nvSpPr>
          <p:spPr>
            <a:xfrm>
              <a:off x="720" y="1814"/>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55483" name="Rectangle 18"/>
            <p:cNvSpPr/>
            <p:nvPr/>
          </p:nvSpPr>
          <p:spPr>
            <a:xfrm>
              <a:off x="144" y="1814"/>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P</a:t>
              </a:r>
            </a:p>
          </p:txBody>
        </p:sp>
        <p:sp>
          <p:nvSpPr>
            <p:cNvPr id="55484" name="Rectangle 19"/>
            <p:cNvSpPr/>
            <p:nvPr/>
          </p:nvSpPr>
          <p:spPr>
            <a:xfrm>
              <a:off x="516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12</a:t>
              </a:r>
            </a:p>
          </p:txBody>
        </p:sp>
        <p:sp>
          <p:nvSpPr>
            <p:cNvPr id="55485" name="Rectangle 20"/>
            <p:cNvSpPr/>
            <p:nvPr/>
          </p:nvSpPr>
          <p:spPr>
            <a:xfrm>
              <a:off x="4763"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11</a:t>
              </a:r>
            </a:p>
          </p:txBody>
        </p:sp>
        <p:sp>
          <p:nvSpPr>
            <p:cNvPr id="55486" name="Rectangle 21"/>
            <p:cNvSpPr/>
            <p:nvPr/>
          </p:nvSpPr>
          <p:spPr>
            <a:xfrm>
              <a:off x="4361"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10</a:t>
              </a:r>
            </a:p>
          </p:txBody>
        </p:sp>
        <p:sp>
          <p:nvSpPr>
            <p:cNvPr id="55487" name="Rectangle 22"/>
            <p:cNvSpPr/>
            <p:nvPr/>
          </p:nvSpPr>
          <p:spPr>
            <a:xfrm>
              <a:off x="3958"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9</a:t>
              </a:r>
            </a:p>
          </p:txBody>
        </p:sp>
        <p:sp>
          <p:nvSpPr>
            <p:cNvPr id="55488" name="Rectangle 23"/>
            <p:cNvSpPr/>
            <p:nvPr/>
          </p:nvSpPr>
          <p:spPr>
            <a:xfrm>
              <a:off x="355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8</a:t>
              </a:r>
            </a:p>
          </p:txBody>
        </p:sp>
        <p:sp>
          <p:nvSpPr>
            <p:cNvPr id="55489" name="Rectangle 24"/>
            <p:cNvSpPr/>
            <p:nvPr/>
          </p:nvSpPr>
          <p:spPr>
            <a:xfrm>
              <a:off x="3154"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7</a:t>
              </a:r>
            </a:p>
          </p:txBody>
        </p:sp>
        <p:sp>
          <p:nvSpPr>
            <p:cNvPr id="55490" name="Rectangle 25"/>
            <p:cNvSpPr/>
            <p:nvPr/>
          </p:nvSpPr>
          <p:spPr>
            <a:xfrm>
              <a:off x="2750" y="1488"/>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6</a:t>
              </a:r>
            </a:p>
          </p:txBody>
        </p:sp>
        <p:sp>
          <p:nvSpPr>
            <p:cNvPr id="55491" name="Rectangle 26"/>
            <p:cNvSpPr/>
            <p:nvPr/>
          </p:nvSpPr>
          <p:spPr>
            <a:xfrm>
              <a:off x="234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p>
          </p:txBody>
        </p:sp>
        <p:sp>
          <p:nvSpPr>
            <p:cNvPr id="55492" name="Rectangle 27"/>
            <p:cNvSpPr/>
            <p:nvPr/>
          </p:nvSpPr>
          <p:spPr>
            <a:xfrm>
              <a:off x="194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55493" name="Rectangle 28"/>
            <p:cNvSpPr/>
            <p:nvPr/>
          </p:nvSpPr>
          <p:spPr>
            <a:xfrm>
              <a:off x="1543"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55494" name="Rectangle 29"/>
            <p:cNvSpPr/>
            <p:nvPr/>
          </p:nvSpPr>
          <p:spPr>
            <a:xfrm>
              <a:off x="1141"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p>
          </p:txBody>
        </p:sp>
        <p:sp>
          <p:nvSpPr>
            <p:cNvPr id="55495" name="Rectangle 30"/>
            <p:cNvSpPr/>
            <p:nvPr/>
          </p:nvSpPr>
          <p:spPr>
            <a:xfrm>
              <a:off x="720" y="1488"/>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p>
          </p:txBody>
        </p:sp>
        <p:sp>
          <p:nvSpPr>
            <p:cNvPr id="55496" name="Rectangle 31"/>
            <p:cNvSpPr/>
            <p:nvPr/>
          </p:nvSpPr>
          <p:spPr>
            <a:xfrm>
              <a:off x="144" y="1488"/>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sz="2400" b="0">
                  <a:ea typeface="楷体_GB2312" pitchFamily="49" charset="-122"/>
                </a:rPr>
                <a:t>时刻</a:t>
              </a:r>
            </a:p>
          </p:txBody>
        </p:sp>
        <p:sp>
          <p:nvSpPr>
            <p:cNvPr id="55497" name="Line 32"/>
            <p:cNvSpPr/>
            <p:nvPr/>
          </p:nvSpPr>
          <p:spPr>
            <a:xfrm>
              <a:off x="144" y="1488"/>
              <a:ext cx="5424" cy="0"/>
            </a:xfrm>
            <a:prstGeom prst="line">
              <a:avLst/>
            </a:prstGeom>
            <a:ln w="28575" cap="sq" cmpd="sng">
              <a:solidFill>
                <a:schemeClr val="tx1"/>
              </a:solidFill>
              <a:prstDash val="solid"/>
              <a:miter/>
              <a:headEnd type="none" w="med" len="med"/>
              <a:tailEnd type="none" w="med" len="med"/>
            </a:ln>
          </p:spPr>
        </p:sp>
        <p:sp>
          <p:nvSpPr>
            <p:cNvPr id="55498" name="Line 33"/>
            <p:cNvSpPr/>
            <p:nvPr/>
          </p:nvSpPr>
          <p:spPr>
            <a:xfrm>
              <a:off x="144" y="1814"/>
              <a:ext cx="5424" cy="0"/>
            </a:xfrm>
            <a:prstGeom prst="line">
              <a:avLst/>
            </a:prstGeom>
            <a:ln w="12700" cap="flat" cmpd="sng">
              <a:solidFill>
                <a:schemeClr val="tx1"/>
              </a:solidFill>
              <a:prstDash val="solid"/>
              <a:miter/>
              <a:headEnd type="none" w="med" len="med"/>
              <a:tailEnd type="none" w="med" len="med"/>
            </a:ln>
          </p:spPr>
        </p:sp>
        <p:sp>
          <p:nvSpPr>
            <p:cNvPr id="55499" name="Line 34"/>
            <p:cNvSpPr/>
            <p:nvPr/>
          </p:nvSpPr>
          <p:spPr>
            <a:xfrm>
              <a:off x="144" y="2140"/>
              <a:ext cx="5424" cy="0"/>
            </a:xfrm>
            <a:prstGeom prst="line">
              <a:avLst/>
            </a:prstGeom>
            <a:ln w="28575" cap="sq" cmpd="sng">
              <a:solidFill>
                <a:schemeClr val="tx1"/>
              </a:solidFill>
              <a:prstDash val="solid"/>
              <a:miter/>
              <a:headEnd type="none" w="med" len="med"/>
              <a:tailEnd type="none" w="med" len="med"/>
            </a:ln>
          </p:spPr>
        </p:sp>
        <p:sp>
          <p:nvSpPr>
            <p:cNvPr id="55500" name="Line 35"/>
            <p:cNvSpPr/>
            <p:nvPr/>
          </p:nvSpPr>
          <p:spPr>
            <a:xfrm>
              <a:off x="144" y="1488"/>
              <a:ext cx="0" cy="652"/>
            </a:xfrm>
            <a:prstGeom prst="line">
              <a:avLst/>
            </a:prstGeom>
            <a:ln w="28575" cap="sq" cmpd="sng">
              <a:solidFill>
                <a:schemeClr val="tx1"/>
              </a:solidFill>
              <a:prstDash val="solid"/>
              <a:miter/>
              <a:headEnd type="none" w="med" len="med"/>
              <a:tailEnd type="none" w="med" len="med"/>
            </a:ln>
          </p:spPr>
        </p:sp>
        <p:sp>
          <p:nvSpPr>
            <p:cNvPr id="55501" name="Line 36"/>
            <p:cNvSpPr/>
            <p:nvPr/>
          </p:nvSpPr>
          <p:spPr>
            <a:xfrm>
              <a:off x="720" y="1488"/>
              <a:ext cx="0" cy="652"/>
            </a:xfrm>
            <a:prstGeom prst="line">
              <a:avLst/>
            </a:prstGeom>
            <a:ln w="12700" cap="flat" cmpd="sng">
              <a:solidFill>
                <a:schemeClr val="tx1"/>
              </a:solidFill>
              <a:prstDash val="solid"/>
              <a:miter/>
              <a:headEnd type="none" w="med" len="med"/>
              <a:tailEnd type="none" w="med" len="med"/>
            </a:ln>
          </p:spPr>
        </p:sp>
        <p:sp>
          <p:nvSpPr>
            <p:cNvPr id="55502" name="Line 37"/>
            <p:cNvSpPr/>
            <p:nvPr/>
          </p:nvSpPr>
          <p:spPr>
            <a:xfrm>
              <a:off x="1141" y="1488"/>
              <a:ext cx="0" cy="652"/>
            </a:xfrm>
            <a:prstGeom prst="line">
              <a:avLst/>
            </a:prstGeom>
            <a:ln w="12700" cap="flat" cmpd="sng">
              <a:solidFill>
                <a:schemeClr val="tx1"/>
              </a:solidFill>
              <a:prstDash val="solid"/>
              <a:miter/>
              <a:headEnd type="none" w="med" len="med"/>
              <a:tailEnd type="none" w="med" len="med"/>
            </a:ln>
          </p:spPr>
        </p:sp>
        <p:sp>
          <p:nvSpPr>
            <p:cNvPr id="55503" name="Line 38"/>
            <p:cNvSpPr/>
            <p:nvPr/>
          </p:nvSpPr>
          <p:spPr>
            <a:xfrm>
              <a:off x="1543" y="1488"/>
              <a:ext cx="0" cy="652"/>
            </a:xfrm>
            <a:prstGeom prst="line">
              <a:avLst/>
            </a:prstGeom>
            <a:ln w="12700" cap="flat" cmpd="sng">
              <a:solidFill>
                <a:schemeClr val="tx1"/>
              </a:solidFill>
              <a:prstDash val="solid"/>
              <a:miter/>
              <a:headEnd type="none" w="med" len="med"/>
              <a:tailEnd type="none" w="med" len="med"/>
            </a:ln>
          </p:spPr>
        </p:sp>
        <p:sp>
          <p:nvSpPr>
            <p:cNvPr id="55504" name="Line 39"/>
            <p:cNvSpPr/>
            <p:nvPr/>
          </p:nvSpPr>
          <p:spPr>
            <a:xfrm>
              <a:off x="1946" y="1488"/>
              <a:ext cx="0" cy="652"/>
            </a:xfrm>
            <a:prstGeom prst="line">
              <a:avLst/>
            </a:prstGeom>
            <a:ln w="12700" cap="flat" cmpd="sng">
              <a:solidFill>
                <a:schemeClr val="tx1"/>
              </a:solidFill>
              <a:prstDash val="solid"/>
              <a:miter/>
              <a:headEnd type="none" w="med" len="med"/>
              <a:tailEnd type="none" w="med" len="med"/>
            </a:ln>
          </p:spPr>
        </p:sp>
        <p:sp>
          <p:nvSpPr>
            <p:cNvPr id="55505" name="Line 40"/>
            <p:cNvSpPr/>
            <p:nvPr/>
          </p:nvSpPr>
          <p:spPr>
            <a:xfrm>
              <a:off x="2348" y="1488"/>
              <a:ext cx="0" cy="652"/>
            </a:xfrm>
            <a:prstGeom prst="line">
              <a:avLst/>
            </a:prstGeom>
            <a:ln w="12700" cap="flat" cmpd="sng">
              <a:solidFill>
                <a:schemeClr val="tx1"/>
              </a:solidFill>
              <a:prstDash val="solid"/>
              <a:miter/>
              <a:headEnd type="none" w="med" len="med"/>
              <a:tailEnd type="none" w="med" len="med"/>
            </a:ln>
          </p:spPr>
        </p:sp>
        <p:sp>
          <p:nvSpPr>
            <p:cNvPr id="55506" name="Line 41"/>
            <p:cNvSpPr/>
            <p:nvPr/>
          </p:nvSpPr>
          <p:spPr>
            <a:xfrm>
              <a:off x="2750" y="1488"/>
              <a:ext cx="0" cy="652"/>
            </a:xfrm>
            <a:prstGeom prst="line">
              <a:avLst/>
            </a:prstGeom>
            <a:ln w="12700" cap="flat" cmpd="sng">
              <a:solidFill>
                <a:schemeClr val="tx1"/>
              </a:solidFill>
              <a:prstDash val="solid"/>
              <a:miter/>
              <a:headEnd type="none" w="med" len="med"/>
              <a:tailEnd type="none" w="med" len="med"/>
            </a:ln>
          </p:spPr>
        </p:sp>
        <p:sp>
          <p:nvSpPr>
            <p:cNvPr id="55507" name="Line 42"/>
            <p:cNvSpPr/>
            <p:nvPr/>
          </p:nvSpPr>
          <p:spPr>
            <a:xfrm>
              <a:off x="3154" y="1488"/>
              <a:ext cx="0" cy="652"/>
            </a:xfrm>
            <a:prstGeom prst="line">
              <a:avLst/>
            </a:prstGeom>
            <a:ln w="12700" cap="flat" cmpd="sng">
              <a:solidFill>
                <a:schemeClr val="tx1"/>
              </a:solidFill>
              <a:prstDash val="solid"/>
              <a:miter/>
              <a:headEnd type="none" w="med" len="med"/>
              <a:tailEnd type="none" w="med" len="med"/>
            </a:ln>
          </p:spPr>
        </p:sp>
        <p:sp>
          <p:nvSpPr>
            <p:cNvPr id="55508" name="Line 43"/>
            <p:cNvSpPr/>
            <p:nvPr/>
          </p:nvSpPr>
          <p:spPr>
            <a:xfrm>
              <a:off x="3556" y="1488"/>
              <a:ext cx="0" cy="652"/>
            </a:xfrm>
            <a:prstGeom prst="line">
              <a:avLst/>
            </a:prstGeom>
            <a:ln w="12700" cap="flat" cmpd="sng">
              <a:solidFill>
                <a:schemeClr val="tx1"/>
              </a:solidFill>
              <a:prstDash val="solid"/>
              <a:miter/>
              <a:headEnd type="none" w="med" len="med"/>
              <a:tailEnd type="none" w="med" len="med"/>
            </a:ln>
          </p:spPr>
        </p:sp>
        <p:sp>
          <p:nvSpPr>
            <p:cNvPr id="55509" name="Line 44"/>
            <p:cNvSpPr/>
            <p:nvPr/>
          </p:nvSpPr>
          <p:spPr>
            <a:xfrm>
              <a:off x="3958" y="1488"/>
              <a:ext cx="0" cy="652"/>
            </a:xfrm>
            <a:prstGeom prst="line">
              <a:avLst/>
            </a:prstGeom>
            <a:ln w="12700" cap="flat" cmpd="sng">
              <a:solidFill>
                <a:schemeClr val="tx1"/>
              </a:solidFill>
              <a:prstDash val="solid"/>
              <a:miter/>
              <a:headEnd type="none" w="med" len="med"/>
              <a:tailEnd type="none" w="med" len="med"/>
            </a:ln>
          </p:spPr>
        </p:sp>
        <p:sp>
          <p:nvSpPr>
            <p:cNvPr id="55510" name="Line 45"/>
            <p:cNvSpPr/>
            <p:nvPr/>
          </p:nvSpPr>
          <p:spPr>
            <a:xfrm>
              <a:off x="4361" y="1488"/>
              <a:ext cx="0" cy="652"/>
            </a:xfrm>
            <a:prstGeom prst="line">
              <a:avLst/>
            </a:prstGeom>
            <a:ln w="12700" cap="flat" cmpd="sng">
              <a:solidFill>
                <a:schemeClr val="tx1"/>
              </a:solidFill>
              <a:prstDash val="solid"/>
              <a:miter/>
              <a:headEnd type="none" w="med" len="med"/>
              <a:tailEnd type="none" w="med" len="med"/>
            </a:ln>
          </p:spPr>
        </p:sp>
        <p:sp>
          <p:nvSpPr>
            <p:cNvPr id="55511" name="Line 46"/>
            <p:cNvSpPr/>
            <p:nvPr/>
          </p:nvSpPr>
          <p:spPr>
            <a:xfrm>
              <a:off x="4763" y="1488"/>
              <a:ext cx="0" cy="652"/>
            </a:xfrm>
            <a:prstGeom prst="line">
              <a:avLst/>
            </a:prstGeom>
            <a:ln w="12700" cap="flat" cmpd="sng">
              <a:solidFill>
                <a:schemeClr val="tx1"/>
              </a:solidFill>
              <a:prstDash val="solid"/>
              <a:miter/>
              <a:headEnd type="none" w="med" len="med"/>
              <a:tailEnd type="none" w="med" len="med"/>
            </a:ln>
          </p:spPr>
        </p:sp>
        <p:sp>
          <p:nvSpPr>
            <p:cNvPr id="55512" name="Line 47"/>
            <p:cNvSpPr/>
            <p:nvPr/>
          </p:nvSpPr>
          <p:spPr>
            <a:xfrm>
              <a:off x="5166" y="1488"/>
              <a:ext cx="0" cy="652"/>
            </a:xfrm>
            <a:prstGeom prst="line">
              <a:avLst/>
            </a:prstGeom>
            <a:ln w="12700" cap="flat" cmpd="sng">
              <a:solidFill>
                <a:schemeClr val="tx1"/>
              </a:solidFill>
              <a:prstDash val="solid"/>
              <a:miter/>
              <a:headEnd type="none" w="med" len="med"/>
              <a:tailEnd type="none" w="med" len="med"/>
            </a:ln>
          </p:spPr>
        </p:sp>
        <p:sp>
          <p:nvSpPr>
            <p:cNvPr id="55513" name="Line 48"/>
            <p:cNvSpPr/>
            <p:nvPr/>
          </p:nvSpPr>
          <p:spPr>
            <a:xfrm>
              <a:off x="5568" y="1488"/>
              <a:ext cx="0" cy="652"/>
            </a:xfrm>
            <a:prstGeom prst="line">
              <a:avLst/>
            </a:prstGeom>
            <a:ln w="28575" cap="sq" cmpd="sng">
              <a:solidFill>
                <a:schemeClr val="tx1"/>
              </a:solidFill>
              <a:prstDash val="solid"/>
              <a:miter/>
              <a:headEnd type="none" w="med" len="med"/>
              <a:tailEnd type="none" w="med" len="med"/>
            </a:ln>
          </p:spPr>
        </p:sp>
        <p:sp>
          <p:nvSpPr>
            <p:cNvPr id="55514" name="Rectangle 49"/>
            <p:cNvSpPr/>
            <p:nvPr/>
          </p:nvSpPr>
          <p:spPr>
            <a:xfrm>
              <a:off x="144" y="3199"/>
              <a:ext cx="576" cy="34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F</a:t>
              </a:r>
            </a:p>
          </p:txBody>
        </p:sp>
        <p:sp>
          <p:nvSpPr>
            <p:cNvPr id="55515" name="Rectangle 50"/>
            <p:cNvSpPr/>
            <p:nvPr/>
          </p:nvSpPr>
          <p:spPr>
            <a:xfrm>
              <a:off x="144" y="2143"/>
              <a:ext cx="576" cy="98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M</a:t>
              </a:r>
            </a:p>
          </p:txBody>
        </p:sp>
        <p:sp>
          <p:nvSpPr>
            <p:cNvPr id="55516" name="Line 51"/>
            <p:cNvSpPr/>
            <p:nvPr/>
          </p:nvSpPr>
          <p:spPr>
            <a:xfrm>
              <a:off x="144" y="3199"/>
              <a:ext cx="576" cy="0"/>
            </a:xfrm>
            <a:prstGeom prst="line">
              <a:avLst/>
            </a:prstGeom>
            <a:ln w="12700" cap="flat" cmpd="sng">
              <a:solidFill>
                <a:schemeClr val="tx1"/>
              </a:solidFill>
              <a:prstDash val="solid"/>
              <a:miter/>
              <a:headEnd type="none" w="med" len="med"/>
              <a:tailEnd type="none" w="med" len="med"/>
            </a:ln>
          </p:spPr>
        </p:sp>
        <p:sp>
          <p:nvSpPr>
            <p:cNvPr id="55517" name="Line 52"/>
            <p:cNvSpPr/>
            <p:nvPr/>
          </p:nvSpPr>
          <p:spPr>
            <a:xfrm>
              <a:off x="144" y="3552"/>
              <a:ext cx="576" cy="0"/>
            </a:xfrm>
            <a:prstGeom prst="line">
              <a:avLst/>
            </a:prstGeom>
            <a:ln w="28575" cap="sq" cmpd="sng">
              <a:solidFill>
                <a:schemeClr val="tx1"/>
              </a:solidFill>
              <a:prstDash val="solid"/>
              <a:miter/>
              <a:headEnd type="none" w="med" len="med"/>
              <a:tailEnd type="none" w="med" len="med"/>
            </a:ln>
          </p:spPr>
        </p:sp>
        <p:sp>
          <p:nvSpPr>
            <p:cNvPr id="55518" name="Line 53"/>
            <p:cNvSpPr/>
            <p:nvPr/>
          </p:nvSpPr>
          <p:spPr>
            <a:xfrm>
              <a:off x="144" y="2143"/>
              <a:ext cx="0" cy="1400"/>
            </a:xfrm>
            <a:prstGeom prst="line">
              <a:avLst/>
            </a:prstGeom>
            <a:ln w="28575" cap="sq" cmpd="sng">
              <a:solidFill>
                <a:schemeClr val="tx1"/>
              </a:solidFill>
              <a:prstDash val="solid"/>
              <a:miter/>
              <a:headEnd type="none" w="med" len="med"/>
              <a:tailEnd type="none" w="med" len="med"/>
            </a:ln>
          </p:spPr>
        </p:sp>
        <p:sp>
          <p:nvSpPr>
            <p:cNvPr id="55519" name="Line 54"/>
            <p:cNvSpPr/>
            <p:nvPr/>
          </p:nvSpPr>
          <p:spPr>
            <a:xfrm>
              <a:off x="720" y="2143"/>
              <a:ext cx="0" cy="1400"/>
            </a:xfrm>
            <a:prstGeom prst="line">
              <a:avLst/>
            </a:prstGeom>
            <a:ln w="28575" cap="sq" cmpd="sng">
              <a:solidFill>
                <a:schemeClr val="tx1"/>
              </a:solidFill>
              <a:prstDash val="solid"/>
              <a:miter/>
              <a:headEnd type="none" w="med" len="med"/>
              <a:tailEnd type="none" w="med" len="med"/>
            </a:ln>
          </p:spPr>
        </p:sp>
      </p:grpSp>
      <p:graphicFrame>
        <p:nvGraphicFramePr>
          <p:cNvPr id="55300" name="表格 55299"/>
          <p:cNvGraphicFramePr/>
          <p:nvPr/>
        </p:nvGraphicFramePr>
        <p:xfrm>
          <a:off x="1143000" y="3416300"/>
          <a:ext cx="685800" cy="2239963"/>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5314" name="表格 55313"/>
          <p:cNvGraphicFramePr/>
          <p:nvPr/>
        </p:nvGraphicFramePr>
        <p:xfrm>
          <a:off x="1828800" y="3416300"/>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5328" name="表格 55327"/>
          <p:cNvGraphicFramePr/>
          <p:nvPr/>
        </p:nvGraphicFramePr>
        <p:xfrm>
          <a:off x="2438400" y="3416300"/>
          <a:ext cx="685800" cy="2239963"/>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5342" name="表格 55341"/>
          <p:cNvGraphicFramePr/>
          <p:nvPr/>
        </p:nvGraphicFramePr>
        <p:xfrm>
          <a:off x="3124200" y="3416300"/>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5356" name="表格 55355"/>
          <p:cNvGraphicFramePr/>
          <p:nvPr/>
        </p:nvGraphicFramePr>
        <p:xfrm>
          <a:off x="3733800" y="3416300"/>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5370" name="表格 55369"/>
          <p:cNvGraphicFramePr/>
          <p:nvPr/>
        </p:nvGraphicFramePr>
        <p:xfrm>
          <a:off x="4343400" y="3416300"/>
          <a:ext cx="685800" cy="2239963"/>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5384" name="表格 55383"/>
          <p:cNvGraphicFramePr/>
          <p:nvPr/>
        </p:nvGraphicFramePr>
        <p:xfrm>
          <a:off x="5029200" y="3414713"/>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5398" name="表格 55397"/>
          <p:cNvGraphicFramePr/>
          <p:nvPr/>
        </p:nvGraphicFramePr>
        <p:xfrm>
          <a:off x="5638800" y="3414713"/>
          <a:ext cx="685800" cy="2239963"/>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5412" name="表格 55411"/>
          <p:cNvGraphicFramePr/>
          <p:nvPr/>
        </p:nvGraphicFramePr>
        <p:xfrm>
          <a:off x="6324600" y="3414713"/>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5426" name="表格 55425"/>
          <p:cNvGraphicFramePr/>
          <p:nvPr/>
        </p:nvGraphicFramePr>
        <p:xfrm>
          <a:off x="6934200" y="3414713"/>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5440" name="表格 55439"/>
          <p:cNvGraphicFramePr/>
          <p:nvPr/>
        </p:nvGraphicFramePr>
        <p:xfrm>
          <a:off x="7543800" y="3414713"/>
          <a:ext cx="685800" cy="2239963"/>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5454" name="表格 55453"/>
          <p:cNvGraphicFramePr/>
          <p:nvPr/>
        </p:nvGraphicFramePr>
        <p:xfrm>
          <a:off x="8229600" y="3416300"/>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93439" name="Text Box 223"/>
          <p:cNvSpPr txBox="1"/>
          <p:nvPr/>
        </p:nvSpPr>
        <p:spPr>
          <a:xfrm>
            <a:off x="228600" y="5638800"/>
            <a:ext cx="85915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2400" b="0">
                <a:ea typeface="楷体_GB2312" pitchFamily="49" charset="-122"/>
              </a:rPr>
              <a:t>由表可以算出缺页中断次数</a:t>
            </a:r>
            <a:r>
              <a:rPr lang="en-US" altLang="zh-CN" sz="2400" b="0">
                <a:ea typeface="楷体_GB2312" pitchFamily="49" charset="-122"/>
              </a:rPr>
              <a:t>F=10</a:t>
            </a:r>
            <a:r>
              <a:rPr lang="zh-CN" altLang="en-US" sz="2400" b="0">
                <a:ea typeface="楷体_GB2312" pitchFamily="49" charset="-122"/>
              </a:rPr>
              <a:t>，而缺页率：</a:t>
            </a:r>
            <a:r>
              <a:rPr lang="en-US" altLang="zh-CN" sz="2400" b="0">
                <a:ea typeface="楷体_GB2312" pitchFamily="49" charset="-122"/>
              </a:rPr>
              <a:t>10</a:t>
            </a:r>
            <a:r>
              <a:rPr lang="zh-CN" altLang="en-US" sz="2400" b="0">
                <a:ea typeface="楷体_GB2312" pitchFamily="49" charset="-122"/>
              </a:rPr>
              <a:t>／</a:t>
            </a:r>
            <a:r>
              <a:rPr lang="en-US" altLang="zh-CN" sz="2400" b="0">
                <a:ea typeface="楷体_GB2312" pitchFamily="49" charset="-122"/>
              </a:rPr>
              <a:t>12=83%</a:t>
            </a:r>
            <a:r>
              <a:rPr lang="zh-CN" altLang="en-US" sz="2400" b="0">
                <a:ea typeface="楷体_GB2312" pitchFamily="49" charset="-122"/>
              </a:rPr>
              <a:t>。</a:t>
            </a:r>
          </a:p>
        </p:txBody>
      </p:sp>
      <p:sp>
        <p:nvSpPr>
          <p:cNvPr id="55469" name="矩形 2"/>
          <p:cNvSpPr/>
          <p:nvPr/>
        </p:nvSpPr>
        <p:spPr>
          <a:xfrm>
            <a:off x="522288" y="1557338"/>
            <a:ext cx="8113712" cy="7572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lnSpc>
                <a:spcPct val="90000"/>
              </a:lnSpc>
              <a:spcBef>
                <a:spcPct val="0"/>
              </a:spcBef>
              <a:buClrTx/>
              <a:buFont typeface="Wingdings" panose="05000000000000000000" pitchFamily="2" charset="2"/>
              <a:buNone/>
            </a:pPr>
            <a:r>
              <a:rPr lang="zh-CN" altLang="en-US" sz="2400" b="0"/>
              <a:t>例</a:t>
            </a:r>
            <a:r>
              <a:rPr lang="en-US" altLang="zh-CN" sz="2400" b="0"/>
              <a:t>2.  </a:t>
            </a:r>
            <a:r>
              <a:rPr lang="zh-CN" altLang="en-US" sz="2400" b="0"/>
              <a:t>设</a:t>
            </a:r>
            <a:r>
              <a:rPr lang="en-US" altLang="zh-CN" sz="2400" b="0"/>
              <a:t>M=4，</a:t>
            </a:r>
            <a:r>
              <a:rPr lang="zh-CN" altLang="en-US" sz="2400" b="0"/>
              <a:t>采用</a:t>
            </a:r>
            <a:r>
              <a:rPr lang="en-US" altLang="zh-CN" sz="2400" b="0"/>
              <a:t>FIFO，</a:t>
            </a:r>
            <a:r>
              <a:rPr lang="zh-CN" altLang="en-US" sz="2400" b="0"/>
              <a:t>其余同例</a:t>
            </a:r>
            <a:r>
              <a:rPr lang="en-US" altLang="zh-CN" sz="2400" b="0"/>
              <a:t>1</a:t>
            </a:r>
            <a:r>
              <a:rPr lang="zh-CN" altLang="en-US" sz="2400" b="0"/>
              <a:t>。缺页中断次数和缺页率如表所示。</a:t>
            </a:r>
          </a:p>
        </p:txBody>
      </p:sp>
      <p:sp>
        <p:nvSpPr>
          <p:cNvPr id="70" name="Rectangle 2"/>
          <p:cNvSpPr txBox="1">
            <a:spLocks noChangeArrowheads="1"/>
          </p:cNvSpPr>
          <p:nvPr/>
        </p:nvSpPr>
        <p:spPr>
          <a:xfrm>
            <a:off x="406400" y="557213"/>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nb-NO" altLang="zh-CN" sz="3600" b="0">
                <a:solidFill>
                  <a:schemeClr val="tx2"/>
                </a:solidFill>
                <a:latin typeface="Arial Black" panose="020B0A04020102020204" pitchFamily="34" charset="0"/>
              </a:rPr>
              <a:t>5.</a:t>
            </a:r>
            <a:r>
              <a:rPr lang="en-US" altLang="zh-CN" sz="3600" b="0">
                <a:solidFill>
                  <a:schemeClr val="tx2"/>
                </a:solidFill>
                <a:latin typeface="Arial Black" panose="020B0A04020102020204" pitchFamily="34" charset="0"/>
              </a:rPr>
              <a:t>8</a:t>
            </a:r>
            <a:r>
              <a:rPr lang="nb-NO" altLang="zh-CN" sz="3600" b="0">
                <a:solidFill>
                  <a:schemeClr val="tx2"/>
                </a:solidFill>
                <a:latin typeface="Arial Black" panose="020B0A04020102020204" pitchFamily="34" charset="0"/>
              </a:rPr>
              <a:t>.</a:t>
            </a:r>
            <a:r>
              <a:rPr lang="en-US" altLang="zh-CN" sz="3600" b="0">
                <a:solidFill>
                  <a:schemeClr val="tx2"/>
                </a:solidFill>
                <a:latin typeface="Arial Black" panose="020B0A04020102020204" pitchFamily="34" charset="0"/>
              </a:rPr>
              <a:t>4</a:t>
            </a:r>
            <a:r>
              <a:rPr lang="zh-CN" altLang="en-US" sz="3600" b="0">
                <a:solidFill>
                  <a:schemeClr val="tx2"/>
                </a:solidFill>
                <a:latin typeface="Arial Black" panose="020B0A04020102020204" pitchFamily="34" charset="0"/>
              </a:rPr>
              <a:t>页面置换算法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5300"/>
                                        </p:tgtEl>
                                        <p:attrNameLst>
                                          <p:attrName>style.visibility</p:attrName>
                                        </p:attrNameLst>
                                      </p:cBhvr>
                                      <p:to>
                                        <p:strVal val="visible"/>
                                      </p:to>
                                    </p:set>
                                    <p:anim calcmode="lin" valueType="num">
                                      <p:cBhvr additive="base">
                                        <p:cTn id="7" dur="500" fill="hold"/>
                                        <p:tgtEl>
                                          <p:spTgt spid="55300"/>
                                        </p:tgtEl>
                                        <p:attrNameLst>
                                          <p:attrName>ppt_x</p:attrName>
                                        </p:attrNameLst>
                                      </p:cBhvr>
                                      <p:tavLst>
                                        <p:tav tm="0">
                                          <p:val>
                                            <p:strVal val="1+#ppt_w/2"/>
                                          </p:val>
                                        </p:tav>
                                        <p:tav tm="100000">
                                          <p:val>
                                            <p:strVal val="#ppt_x"/>
                                          </p:val>
                                        </p:tav>
                                      </p:tavLst>
                                    </p:anim>
                                    <p:anim calcmode="lin" valueType="num">
                                      <p:cBhvr additive="base">
                                        <p:cTn id="8" dur="500" fill="hold"/>
                                        <p:tgtEl>
                                          <p:spTgt spid="5530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55314"/>
                                        </p:tgtEl>
                                        <p:attrNameLst>
                                          <p:attrName>style.visibility</p:attrName>
                                        </p:attrNameLst>
                                      </p:cBhvr>
                                      <p:to>
                                        <p:strVal val="visible"/>
                                      </p:to>
                                    </p:set>
                                    <p:anim calcmode="lin" valueType="num">
                                      <p:cBhvr additive="base">
                                        <p:cTn id="13" dur="500" fill="hold"/>
                                        <p:tgtEl>
                                          <p:spTgt spid="55314"/>
                                        </p:tgtEl>
                                        <p:attrNameLst>
                                          <p:attrName>ppt_x</p:attrName>
                                        </p:attrNameLst>
                                      </p:cBhvr>
                                      <p:tavLst>
                                        <p:tav tm="0">
                                          <p:val>
                                            <p:strVal val="1+#ppt_w/2"/>
                                          </p:val>
                                        </p:tav>
                                        <p:tav tm="100000">
                                          <p:val>
                                            <p:strVal val="#ppt_x"/>
                                          </p:val>
                                        </p:tav>
                                      </p:tavLst>
                                    </p:anim>
                                    <p:anim calcmode="lin" valueType="num">
                                      <p:cBhvr additive="base">
                                        <p:cTn id="14" dur="500" fill="hold"/>
                                        <p:tgtEl>
                                          <p:spTgt spid="5531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55328"/>
                                        </p:tgtEl>
                                        <p:attrNameLst>
                                          <p:attrName>style.visibility</p:attrName>
                                        </p:attrNameLst>
                                      </p:cBhvr>
                                      <p:to>
                                        <p:strVal val="visible"/>
                                      </p:to>
                                    </p:set>
                                    <p:anim calcmode="lin" valueType="num">
                                      <p:cBhvr additive="base">
                                        <p:cTn id="19" dur="500" fill="hold"/>
                                        <p:tgtEl>
                                          <p:spTgt spid="55328"/>
                                        </p:tgtEl>
                                        <p:attrNameLst>
                                          <p:attrName>ppt_x</p:attrName>
                                        </p:attrNameLst>
                                      </p:cBhvr>
                                      <p:tavLst>
                                        <p:tav tm="0">
                                          <p:val>
                                            <p:strVal val="1+#ppt_w/2"/>
                                          </p:val>
                                        </p:tav>
                                        <p:tav tm="100000">
                                          <p:val>
                                            <p:strVal val="#ppt_x"/>
                                          </p:val>
                                        </p:tav>
                                      </p:tavLst>
                                    </p:anim>
                                    <p:anim calcmode="lin" valueType="num">
                                      <p:cBhvr additive="base">
                                        <p:cTn id="20" dur="500" fill="hold"/>
                                        <p:tgtEl>
                                          <p:spTgt spid="5532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55342"/>
                                        </p:tgtEl>
                                        <p:attrNameLst>
                                          <p:attrName>style.visibility</p:attrName>
                                        </p:attrNameLst>
                                      </p:cBhvr>
                                      <p:to>
                                        <p:strVal val="visible"/>
                                      </p:to>
                                    </p:set>
                                    <p:anim calcmode="lin" valueType="num">
                                      <p:cBhvr additive="base">
                                        <p:cTn id="25" dur="500" fill="hold"/>
                                        <p:tgtEl>
                                          <p:spTgt spid="55342"/>
                                        </p:tgtEl>
                                        <p:attrNameLst>
                                          <p:attrName>ppt_x</p:attrName>
                                        </p:attrNameLst>
                                      </p:cBhvr>
                                      <p:tavLst>
                                        <p:tav tm="0">
                                          <p:val>
                                            <p:strVal val="1+#ppt_w/2"/>
                                          </p:val>
                                        </p:tav>
                                        <p:tav tm="100000">
                                          <p:val>
                                            <p:strVal val="#ppt_x"/>
                                          </p:val>
                                        </p:tav>
                                      </p:tavLst>
                                    </p:anim>
                                    <p:anim calcmode="lin" valueType="num">
                                      <p:cBhvr additive="base">
                                        <p:cTn id="26" dur="500" fill="hold"/>
                                        <p:tgtEl>
                                          <p:spTgt spid="5534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55356"/>
                                        </p:tgtEl>
                                        <p:attrNameLst>
                                          <p:attrName>style.visibility</p:attrName>
                                        </p:attrNameLst>
                                      </p:cBhvr>
                                      <p:to>
                                        <p:strVal val="visible"/>
                                      </p:to>
                                    </p:set>
                                    <p:anim calcmode="lin" valueType="num">
                                      <p:cBhvr additive="base">
                                        <p:cTn id="31" dur="500" fill="hold"/>
                                        <p:tgtEl>
                                          <p:spTgt spid="55356"/>
                                        </p:tgtEl>
                                        <p:attrNameLst>
                                          <p:attrName>ppt_x</p:attrName>
                                        </p:attrNameLst>
                                      </p:cBhvr>
                                      <p:tavLst>
                                        <p:tav tm="0">
                                          <p:val>
                                            <p:strVal val="1+#ppt_w/2"/>
                                          </p:val>
                                        </p:tav>
                                        <p:tav tm="100000">
                                          <p:val>
                                            <p:strVal val="#ppt_x"/>
                                          </p:val>
                                        </p:tav>
                                      </p:tavLst>
                                    </p:anim>
                                    <p:anim calcmode="lin" valueType="num">
                                      <p:cBhvr additive="base">
                                        <p:cTn id="32" dur="500" fill="hold"/>
                                        <p:tgtEl>
                                          <p:spTgt spid="5535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55370"/>
                                        </p:tgtEl>
                                        <p:attrNameLst>
                                          <p:attrName>style.visibility</p:attrName>
                                        </p:attrNameLst>
                                      </p:cBhvr>
                                      <p:to>
                                        <p:strVal val="visible"/>
                                      </p:to>
                                    </p:set>
                                    <p:anim calcmode="lin" valueType="num">
                                      <p:cBhvr additive="base">
                                        <p:cTn id="37" dur="500" fill="hold"/>
                                        <p:tgtEl>
                                          <p:spTgt spid="55370"/>
                                        </p:tgtEl>
                                        <p:attrNameLst>
                                          <p:attrName>ppt_x</p:attrName>
                                        </p:attrNameLst>
                                      </p:cBhvr>
                                      <p:tavLst>
                                        <p:tav tm="0">
                                          <p:val>
                                            <p:strVal val="1+#ppt_w/2"/>
                                          </p:val>
                                        </p:tav>
                                        <p:tav tm="100000">
                                          <p:val>
                                            <p:strVal val="#ppt_x"/>
                                          </p:val>
                                        </p:tav>
                                      </p:tavLst>
                                    </p:anim>
                                    <p:anim calcmode="lin" valueType="num">
                                      <p:cBhvr additive="base">
                                        <p:cTn id="38" dur="500" fill="hold"/>
                                        <p:tgtEl>
                                          <p:spTgt spid="5537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55384"/>
                                        </p:tgtEl>
                                        <p:attrNameLst>
                                          <p:attrName>style.visibility</p:attrName>
                                        </p:attrNameLst>
                                      </p:cBhvr>
                                      <p:to>
                                        <p:strVal val="visible"/>
                                      </p:to>
                                    </p:set>
                                    <p:anim calcmode="lin" valueType="num">
                                      <p:cBhvr additive="base">
                                        <p:cTn id="43" dur="500" fill="hold"/>
                                        <p:tgtEl>
                                          <p:spTgt spid="55384"/>
                                        </p:tgtEl>
                                        <p:attrNameLst>
                                          <p:attrName>ppt_x</p:attrName>
                                        </p:attrNameLst>
                                      </p:cBhvr>
                                      <p:tavLst>
                                        <p:tav tm="0">
                                          <p:val>
                                            <p:strVal val="1+#ppt_w/2"/>
                                          </p:val>
                                        </p:tav>
                                        <p:tav tm="100000">
                                          <p:val>
                                            <p:strVal val="#ppt_x"/>
                                          </p:val>
                                        </p:tav>
                                      </p:tavLst>
                                    </p:anim>
                                    <p:anim calcmode="lin" valueType="num">
                                      <p:cBhvr additive="base">
                                        <p:cTn id="44" dur="500" fill="hold"/>
                                        <p:tgtEl>
                                          <p:spTgt spid="5538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55398"/>
                                        </p:tgtEl>
                                        <p:attrNameLst>
                                          <p:attrName>style.visibility</p:attrName>
                                        </p:attrNameLst>
                                      </p:cBhvr>
                                      <p:to>
                                        <p:strVal val="visible"/>
                                      </p:to>
                                    </p:set>
                                    <p:anim calcmode="lin" valueType="num">
                                      <p:cBhvr additive="base">
                                        <p:cTn id="49" dur="500" fill="hold"/>
                                        <p:tgtEl>
                                          <p:spTgt spid="55398"/>
                                        </p:tgtEl>
                                        <p:attrNameLst>
                                          <p:attrName>ppt_x</p:attrName>
                                        </p:attrNameLst>
                                      </p:cBhvr>
                                      <p:tavLst>
                                        <p:tav tm="0">
                                          <p:val>
                                            <p:strVal val="1+#ppt_w/2"/>
                                          </p:val>
                                        </p:tav>
                                        <p:tav tm="100000">
                                          <p:val>
                                            <p:strVal val="#ppt_x"/>
                                          </p:val>
                                        </p:tav>
                                      </p:tavLst>
                                    </p:anim>
                                    <p:anim calcmode="lin" valueType="num">
                                      <p:cBhvr additive="base">
                                        <p:cTn id="50" dur="500" fill="hold"/>
                                        <p:tgtEl>
                                          <p:spTgt spid="55398"/>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55412"/>
                                        </p:tgtEl>
                                        <p:attrNameLst>
                                          <p:attrName>style.visibility</p:attrName>
                                        </p:attrNameLst>
                                      </p:cBhvr>
                                      <p:to>
                                        <p:strVal val="visible"/>
                                      </p:to>
                                    </p:set>
                                    <p:anim calcmode="lin" valueType="num">
                                      <p:cBhvr additive="base">
                                        <p:cTn id="55" dur="500" fill="hold"/>
                                        <p:tgtEl>
                                          <p:spTgt spid="55412"/>
                                        </p:tgtEl>
                                        <p:attrNameLst>
                                          <p:attrName>ppt_x</p:attrName>
                                        </p:attrNameLst>
                                      </p:cBhvr>
                                      <p:tavLst>
                                        <p:tav tm="0">
                                          <p:val>
                                            <p:strVal val="1+#ppt_w/2"/>
                                          </p:val>
                                        </p:tav>
                                        <p:tav tm="100000">
                                          <p:val>
                                            <p:strVal val="#ppt_x"/>
                                          </p:val>
                                        </p:tav>
                                      </p:tavLst>
                                    </p:anim>
                                    <p:anim calcmode="lin" valueType="num">
                                      <p:cBhvr additive="base">
                                        <p:cTn id="56" dur="500" fill="hold"/>
                                        <p:tgtEl>
                                          <p:spTgt spid="5541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55426"/>
                                        </p:tgtEl>
                                        <p:attrNameLst>
                                          <p:attrName>style.visibility</p:attrName>
                                        </p:attrNameLst>
                                      </p:cBhvr>
                                      <p:to>
                                        <p:strVal val="visible"/>
                                      </p:to>
                                    </p:set>
                                    <p:anim calcmode="lin" valueType="num">
                                      <p:cBhvr additive="base">
                                        <p:cTn id="61" dur="500" fill="hold"/>
                                        <p:tgtEl>
                                          <p:spTgt spid="55426"/>
                                        </p:tgtEl>
                                        <p:attrNameLst>
                                          <p:attrName>ppt_x</p:attrName>
                                        </p:attrNameLst>
                                      </p:cBhvr>
                                      <p:tavLst>
                                        <p:tav tm="0">
                                          <p:val>
                                            <p:strVal val="1+#ppt_w/2"/>
                                          </p:val>
                                        </p:tav>
                                        <p:tav tm="100000">
                                          <p:val>
                                            <p:strVal val="#ppt_x"/>
                                          </p:val>
                                        </p:tav>
                                      </p:tavLst>
                                    </p:anim>
                                    <p:anim calcmode="lin" valueType="num">
                                      <p:cBhvr additive="base">
                                        <p:cTn id="62" dur="500" fill="hold"/>
                                        <p:tgtEl>
                                          <p:spTgt spid="55426"/>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nodeType="clickEffect">
                                  <p:stCondLst>
                                    <p:cond delay="0"/>
                                  </p:stCondLst>
                                  <p:childTnLst>
                                    <p:set>
                                      <p:cBhvr>
                                        <p:cTn id="66" dur="1" fill="hold">
                                          <p:stCondLst>
                                            <p:cond delay="0"/>
                                          </p:stCondLst>
                                        </p:cTn>
                                        <p:tgtEl>
                                          <p:spTgt spid="55440"/>
                                        </p:tgtEl>
                                        <p:attrNameLst>
                                          <p:attrName>style.visibility</p:attrName>
                                        </p:attrNameLst>
                                      </p:cBhvr>
                                      <p:to>
                                        <p:strVal val="visible"/>
                                      </p:to>
                                    </p:set>
                                    <p:anim calcmode="lin" valueType="num">
                                      <p:cBhvr additive="base">
                                        <p:cTn id="67" dur="500" fill="hold"/>
                                        <p:tgtEl>
                                          <p:spTgt spid="55440"/>
                                        </p:tgtEl>
                                        <p:attrNameLst>
                                          <p:attrName>ppt_x</p:attrName>
                                        </p:attrNameLst>
                                      </p:cBhvr>
                                      <p:tavLst>
                                        <p:tav tm="0">
                                          <p:val>
                                            <p:strVal val="1+#ppt_w/2"/>
                                          </p:val>
                                        </p:tav>
                                        <p:tav tm="100000">
                                          <p:val>
                                            <p:strVal val="#ppt_x"/>
                                          </p:val>
                                        </p:tav>
                                      </p:tavLst>
                                    </p:anim>
                                    <p:anim calcmode="lin" valueType="num">
                                      <p:cBhvr additive="base">
                                        <p:cTn id="68" dur="500" fill="hold"/>
                                        <p:tgtEl>
                                          <p:spTgt spid="55440"/>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nodeType="clickEffect">
                                  <p:stCondLst>
                                    <p:cond delay="0"/>
                                  </p:stCondLst>
                                  <p:childTnLst>
                                    <p:set>
                                      <p:cBhvr>
                                        <p:cTn id="72" dur="1" fill="hold">
                                          <p:stCondLst>
                                            <p:cond delay="0"/>
                                          </p:stCondLst>
                                        </p:cTn>
                                        <p:tgtEl>
                                          <p:spTgt spid="55454"/>
                                        </p:tgtEl>
                                        <p:attrNameLst>
                                          <p:attrName>style.visibility</p:attrName>
                                        </p:attrNameLst>
                                      </p:cBhvr>
                                      <p:to>
                                        <p:strVal val="visible"/>
                                      </p:to>
                                    </p:set>
                                    <p:anim calcmode="lin" valueType="num">
                                      <p:cBhvr additive="base">
                                        <p:cTn id="73" dur="500" fill="hold"/>
                                        <p:tgtEl>
                                          <p:spTgt spid="55454"/>
                                        </p:tgtEl>
                                        <p:attrNameLst>
                                          <p:attrName>ppt_x</p:attrName>
                                        </p:attrNameLst>
                                      </p:cBhvr>
                                      <p:tavLst>
                                        <p:tav tm="0">
                                          <p:val>
                                            <p:strVal val="1+#ppt_w/2"/>
                                          </p:val>
                                        </p:tav>
                                        <p:tav tm="100000">
                                          <p:val>
                                            <p:strVal val="#ppt_x"/>
                                          </p:val>
                                        </p:tav>
                                      </p:tavLst>
                                    </p:anim>
                                    <p:anim calcmode="lin" valueType="num">
                                      <p:cBhvr additive="base">
                                        <p:cTn id="74" dur="500" fill="hold"/>
                                        <p:tgtEl>
                                          <p:spTgt spid="55454"/>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393439"/>
                                        </p:tgtEl>
                                        <p:attrNameLst>
                                          <p:attrName>style.visibility</p:attrName>
                                        </p:attrNameLst>
                                      </p:cBhvr>
                                      <p:to>
                                        <p:strVal val="visible"/>
                                      </p:to>
                                    </p:set>
                                    <p:anim calcmode="lin" valueType="num">
                                      <p:cBhvr additive="base">
                                        <p:cTn id="79" dur="500" fill="hold"/>
                                        <p:tgtEl>
                                          <p:spTgt spid="393439"/>
                                        </p:tgtEl>
                                        <p:attrNameLst>
                                          <p:attrName>ppt_x</p:attrName>
                                        </p:attrNameLst>
                                      </p:cBhvr>
                                      <p:tavLst>
                                        <p:tav tm="0">
                                          <p:val>
                                            <p:strVal val="1+#ppt_w/2"/>
                                          </p:val>
                                        </p:tav>
                                        <p:tav tm="100000">
                                          <p:val>
                                            <p:strVal val="#ppt_x"/>
                                          </p:val>
                                        </p:tav>
                                      </p:tavLst>
                                    </p:anim>
                                    <p:anim calcmode="lin" valueType="num">
                                      <p:cBhvr additive="base">
                                        <p:cTn id="80" dur="500" fill="hold"/>
                                        <p:tgtEl>
                                          <p:spTgt spid="3934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43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39</a:t>
            </a:fld>
            <a:endParaRPr lang="zh-CN" altLang="en-US" sz="1400" b="0">
              <a:latin typeface="Tahoma" panose="020B0604030504040204" pitchFamily="34" charset="0"/>
              <a:ea typeface="宋体" panose="02010600030101010101" pitchFamily="2" charset="-122"/>
            </a:endParaRPr>
          </a:p>
        </p:txBody>
      </p:sp>
      <p:sp>
        <p:nvSpPr>
          <p:cNvPr id="70" name="Rectangle 2"/>
          <p:cNvSpPr txBox="1">
            <a:spLocks noChangeArrowheads="1"/>
          </p:cNvSpPr>
          <p:nvPr/>
        </p:nvSpPr>
        <p:spPr>
          <a:xfrm>
            <a:off x="406400" y="557213"/>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nb-NO" altLang="zh-CN" sz="3600" b="0">
                <a:solidFill>
                  <a:schemeClr val="tx2"/>
                </a:solidFill>
                <a:latin typeface="Arial Black" panose="020B0A04020102020204" pitchFamily="34" charset="0"/>
              </a:rPr>
              <a:t>5.</a:t>
            </a:r>
            <a:r>
              <a:rPr lang="en-US" altLang="zh-CN" sz="3600" b="0">
                <a:solidFill>
                  <a:schemeClr val="tx2"/>
                </a:solidFill>
                <a:latin typeface="Arial Black" panose="020B0A04020102020204" pitchFamily="34" charset="0"/>
              </a:rPr>
              <a:t>8</a:t>
            </a:r>
            <a:r>
              <a:rPr lang="nb-NO" altLang="zh-CN" sz="3600" b="0">
                <a:solidFill>
                  <a:schemeClr val="tx2"/>
                </a:solidFill>
                <a:latin typeface="Arial Black" panose="020B0A04020102020204" pitchFamily="34" charset="0"/>
              </a:rPr>
              <a:t>.</a:t>
            </a:r>
            <a:r>
              <a:rPr lang="en-US" altLang="zh-CN" sz="3600" b="0">
                <a:solidFill>
                  <a:schemeClr val="tx2"/>
                </a:solidFill>
                <a:latin typeface="Arial Black" panose="020B0A04020102020204" pitchFamily="34" charset="0"/>
              </a:rPr>
              <a:t>4</a:t>
            </a:r>
            <a:r>
              <a:rPr lang="zh-CN" altLang="en-US" sz="3600" b="0">
                <a:solidFill>
                  <a:schemeClr val="tx2"/>
                </a:solidFill>
                <a:latin typeface="Arial Black" panose="020B0A04020102020204" pitchFamily="34" charset="0"/>
              </a:rPr>
              <a:t>页面置换算法</a:t>
            </a:r>
          </a:p>
        </p:txBody>
      </p:sp>
      <p:pic>
        <p:nvPicPr>
          <p:cNvPr id="56323" name="图片 1"/>
          <p:cNvPicPr>
            <a:picLocks noChangeAspect="1"/>
          </p:cNvPicPr>
          <p:nvPr/>
        </p:nvPicPr>
        <p:blipFill>
          <a:blip r:embed="rId2"/>
          <a:stretch>
            <a:fillRect/>
          </a:stretch>
        </p:blipFill>
        <p:spPr>
          <a:xfrm>
            <a:off x="4067175" y="2276475"/>
            <a:ext cx="4910138" cy="3529013"/>
          </a:xfrm>
          <a:prstGeom prst="rect">
            <a:avLst/>
          </a:prstGeom>
          <a:noFill/>
          <a:ln w="9525">
            <a:noFill/>
          </a:ln>
        </p:spPr>
      </p:pic>
      <p:sp>
        <p:nvSpPr>
          <p:cNvPr id="3" name="矩形 2"/>
          <p:cNvSpPr/>
          <p:nvPr/>
        </p:nvSpPr>
        <p:spPr>
          <a:xfrm>
            <a:off x="-36512" y="2325688"/>
            <a:ext cx="3887788" cy="3048000"/>
          </a:xfrm>
          <a:prstGeom prst="rect">
            <a:avLst/>
          </a:prstGeom>
        </p:spPr>
        <p:txBody>
          <a:bodyPr>
            <a:spAutoFit/>
          </a:bodyPr>
          <a:lstStyle/>
          <a:p>
            <a:pPr lvl="1" eaLnBrk="1" hangingPunct="1"/>
            <a:r>
              <a:rPr lang="zh-CN" altLang="en-US">
                <a:latin typeface="黑体" panose="02010609060101010101" pitchFamily="49" charset="-122"/>
              </a:rPr>
              <a:t>分配的页面数增多，缺页率反而提高。</a:t>
            </a:r>
          </a:p>
          <a:p>
            <a:pPr lvl="1" eaLnBrk="1" hangingPunct="1"/>
            <a:r>
              <a:rPr lang="en-US" altLang="zh-CN">
                <a:latin typeface="黑体" panose="02010609060101010101" pitchFamily="49" charset="-122"/>
              </a:rPr>
              <a:t>Belady</a:t>
            </a:r>
            <a:r>
              <a:rPr lang="zh-CN" altLang="en-US">
                <a:latin typeface="黑体" panose="02010609060101010101" pitchFamily="49" charset="-122"/>
              </a:rPr>
              <a:t>现象的原因：</a:t>
            </a:r>
            <a:r>
              <a:rPr lang="en-US" altLang="zh-CN">
                <a:latin typeface="黑体" panose="02010609060101010101" pitchFamily="49" charset="-122"/>
              </a:rPr>
              <a:t>FIFO</a:t>
            </a:r>
            <a:r>
              <a:rPr lang="zh-CN" altLang="en-US">
                <a:latin typeface="黑体" panose="02010609060101010101" pitchFamily="49" charset="-122"/>
              </a:rPr>
              <a:t>算法的置换特征与进程访问内存的动态特征是矛盾的，即被置换的页面并不是进程不会访问的。</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40</a:t>
            </a:fld>
            <a:endParaRPr lang="zh-CN" altLang="en-US" sz="1400" b="0">
              <a:latin typeface="Tahoma" panose="020B0604030504040204" pitchFamily="34" charset="0"/>
              <a:ea typeface="宋体" panose="02010600030101010101" pitchFamily="2" charset="-122"/>
            </a:endParaRPr>
          </a:p>
        </p:txBody>
      </p:sp>
      <p:sp>
        <p:nvSpPr>
          <p:cNvPr id="57346"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47107" name="Rectangle 3"/>
          <p:cNvSpPr>
            <a:spLocks noGrp="1" noChangeArrowheads="1"/>
          </p:cNvSpPr>
          <p:nvPr>
            <p:ph idx="1"/>
          </p:nvPr>
        </p:nvSpPr>
        <p:spPr>
          <a:xfrm>
            <a:off x="250825" y="1447800"/>
            <a:ext cx="8353425" cy="4572000"/>
          </a:xfrm>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a:latin typeface="黑体" panose="02010609060101010101" pitchFamily="49" charset="-122"/>
              </a:rPr>
              <a:t>3. </a:t>
            </a:r>
            <a:r>
              <a:rPr lang="zh-CN" altLang="en-US" sz="2400" b="0">
                <a:latin typeface="黑体" panose="02010609060101010101" pitchFamily="49" charset="-122"/>
              </a:rPr>
              <a:t>最近最少使用算法</a:t>
            </a:r>
            <a:r>
              <a:rPr lang="en-US" altLang="zh-CN" sz="2400" b="0">
                <a:latin typeface="黑体" panose="02010609060101010101" pitchFamily="49" charset="-122"/>
              </a:rPr>
              <a:t>(LRU, Least Recently Used)</a:t>
            </a:r>
          </a:p>
          <a:p>
            <a:pPr eaLnBrk="1" hangingPunct="1">
              <a:buFont typeface="Wingdings" panose="05000000000000000000" pitchFamily="2" charset="2"/>
              <a:buNone/>
            </a:pPr>
            <a:r>
              <a:rPr lang="zh-CN" altLang="en-US" sz="2400" b="0">
                <a:latin typeface="黑体" panose="02010609060101010101" pitchFamily="49" charset="-122"/>
              </a:rPr>
              <a:t>  选择内存中最久未使用的页面被置换。这是局部性原理的合理近似，性能接近最佳算法。但由于需要记录页面使用时间的先后关系，硬件开销太大。硬件机构可以为：</a:t>
            </a:r>
          </a:p>
          <a:p>
            <a:pPr lvl="1" eaLnBrk="1" hangingPunct="1"/>
            <a:r>
              <a:rPr lang="zh-CN" altLang="en-US" b="0">
                <a:latin typeface="黑体" panose="02010609060101010101" pitchFamily="49" charset="-122"/>
              </a:rPr>
              <a:t>一个特殊的栈：把被访问的页面移到栈顶，于是栈底的是最久未使用页面。</a:t>
            </a:r>
          </a:p>
          <a:p>
            <a:pPr lvl="1" eaLnBrk="1" hangingPunct="1"/>
            <a:r>
              <a:rPr lang="zh-CN" altLang="en-US" b="0">
                <a:latin typeface="黑体" panose="02010609060101010101" pitchFamily="49" charset="-122"/>
              </a:rPr>
              <a:t>每个页面设立移位寄存器（通常是64位，作为计数器）：被访问时左边最高位置</a:t>
            </a:r>
            <a:r>
              <a:rPr lang="en-US" altLang="zh-CN" b="0">
                <a:latin typeface="黑体" panose="02010609060101010101" pitchFamily="49" charset="-122"/>
              </a:rPr>
              <a:t>1</a:t>
            </a:r>
            <a:r>
              <a:rPr lang="zh-CN" altLang="en-US" b="0">
                <a:latin typeface="黑体" panose="02010609060101010101" pitchFamily="49" charset="-122"/>
              </a:rPr>
              <a:t>，定期右移并且最高位补</a:t>
            </a:r>
            <a:r>
              <a:rPr lang="en-US" altLang="zh-CN" b="0">
                <a:latin typeface="黑体" panose="02010609060101010101" pitchFamily="49" charset="-122"/>
              </a:rPr>
              <a:t>0</a:t>
            </a:r>
            <a:r>
              <a:rPr lang="zh-CN" altLang="en-US" b="0">
                <a:latin typeface="黑体" panose="02010609060101010101" pitchFamily="49" charset="-122"/>
              </a:rPr>
              <a:t>，于是寄存器数值最小的是最久未使用页面。</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41</a:t>
            </a:fld>
            <a:endParaRPr lang="zh-CN" altLang="en-US" sz="1400" b="0">
              <a:latin typeface="Tahoma" panose="020B0604030504040204" pitchFamily="34" charset="0"/>
              <a:ea typeface="宋体" panose="02010600030101010101" pitchFamily="2" charset="-122"/>
            </a:endParaRPr>
          </a:p>
        </p:txBody>
      </p:sp>
      <p:sp>
        <p:nvSpPr>
          <p:cNvPr id="58370"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385027" name="Rectangle 3"/>
          <p:cNvSpPr>
            <a:spLocks noGrp="1" noChangeArrowheads="1"/>
          </p:cNvSpPr>
          <p:nvPr>
            <p:ph idx="1"/>
          </p:nvPr>
        </p:nvSpPr>
        <p:spPr>
          <a:xfrm>
            <a:off x="406400" y="1447800"/>
            <a:ext cx="8121650" cy="2743200"/>
          </a:xfrm>
        </p:spPr>
        <p:txBody>
          <a:bodyPr vert="horz" wrap="square" lIns="91440" tIns="45720" rIns="91440" bIns="45720" numCol="1" anchor="t" anchorCtr="0" compatLnSpc="1"/>
          <a:lstStyle/>
          <a:p>
            <a:pPr lvl="1" eaLnBrk="1" hangingPunct="1"/>
            <a:r>
              <a:rPr lang="zh-CN" altLang="en-US" b="0">
                <a:latin typeface="黑体" panose="02010609060101010101" pitchFamily="49" charset="-122"/>
              </a:rPr>
              <a:t>或者，在一个有</a:t>
            </a:r>
            <a:r>
              <a:rPr lang="en-US" altLang="zh-CN" b="0">
                <a:latin typeface="黑体" panose="02010609060101010101" pitchFamily="49" charset="-122"/>
              </a:rPr>
              <a:t>n</a:t>
            </a:r>
            <a:r>
              <a:rPr lang="zh-CN" altLang="en-US" b="0">
                <a:latin typeface="黑体" panose="02010609060101010101" pitchFamily="49" charset="-122"/>
              </a:rPr>
              <a:t>个页框的机器中，</a:t>
            </a:r>
            <a:r>
              <a:rPr lang="en-US" altLang="zh-CN" b="0">
                <a:latin typeface="黑体" panose="02010609060101010101" pitchFamily="49" charset="-122"/>
              </a:rPr>
              <a:t>LRU</a:t>
            </a:r>
            <a:r>
              <a:rPr lang="zh-CN" altLang="en-US" b="0">
                <a:latin typeface="黑体" panose="02010609060101010101" pitchFamily="49" charset="-122"/>
              </a:rPr>
              <a:t>硬件可以维持一个</a:t>
            </a:r>
            <a:r>
              <a:rPr lang="en-US" altLang="zh-CN" b="0">
                <a:latin typeface="黑体" panose="02010609060101010101" pitchFamily="49" charset="-122"/>
              </a:rPr>
              <a:t>n×n</a:t>
            </a:r>
            <a:r>
              <a:rPr lang="zh-CN" altLang="en-US" b="0">
                <a:latin typeface="黑体" panose="02010609060101010101" pitchFamily="49" charset="-122"/>
              </a:rPr>
              <a:t>位的矩阵，开始时所有的位都是0。在页</a:t>
            </a:r>
            <a:r>
              <a:rPr lang="en-US" altLang="zh-CN" b="0">
                <a:latin typeface="黑体" panose="02010609060101010101" pitchFamily="49" charset="-122"/>
              </a:rPr>
              <a:t>k</a:t>
            </a:r>
            <a:r>
              <a:rPr lang="zh-CN" altLang="en-US" b="0">
                <a:latin typeface="黑体" panose="02010609060101010101" pitchFamily="49" charset="-122"/>
              </a:rPr>
              <a:t>被访问时，硬件首先把</a:t>
            </a:r>
            <a:r>
              <a:rPr lang="en-US" altLang="zh-CN" b="0">
                <a:latin typeface="黑体" panose="02010609060101010101" pitchFamily="49" charset="-122"/>
              </a:rPr>
              <a:t>k</a:t>
            </a:r>
            <a:r>
              <a:rPr lang="zh-CN" altLang="en-US" b="0">
                <a:latin typeface="黑体" panose="02010609060101010101" pitchFamily="49" charset="-122"/>
              </a:rPr>
              <a:t>行的位都设置成1，再把</a:t>
            </a:r>
            <a:r>
              <a:rPr lang="en-US" altLang="zh-CN" b="0">
                <a:latin typeface="黑体" panose="02010609060101010101" pitchFamily="49" charset="-122"/>
              </a:rPr>
              <a:t>k</a:t>
            </a:r>
            <a:r>
              <a:rPr lang="zh-CN" altLang="en-US" b="0">
                <a:latin typeface="黑体" panose="02010609060101010101" pitchFamily="49" charset="-122"/>
              </a:rPr>
              <a:t>列的位都设置成0。于是，在任何时刻，二进制值最小的行就是最久未使用的，第二小的行是下一个最久未使用的，以此类推。</a:t>
            </a:r>
          </a:p>
          <a:p>
            <a:pPr lvl="1" eaLnBrk="1" hangingPunct="1">
              <a:buFont typeface="Wingdings" panose="05000000000000000000" pitchFamily="2" charset="2"/>
              <a:buNone/>
            </a:pPr>
            <a:r>
              <a:rPr lang="zh-CN" altLang="en-US" b="0">
                <a:latin typeface="黑体" panose="02010609060101010101" pitchFamily="49" charset="-122"/>
              </a:rPr>
              <a:t>	假设有4个页框，引用次序为01232，则状态为</a:t>
            </a:r>
          </a:p>
        </p:txBody>
      </p:sp>
      <p:graphicFrame>
        <p:nvGraphicFramePr>
          <p:cNvPr id="58372" name="表格 58371"/>
          <p:cNvGraphicFramePr/>
          <p:nvPr/>
        </p:nvGraphicFramePr>
        <p:xfrm>
          <a:off x="762000" y="4286250"/>
          <a:ext cx="1447800" cy="1585918"/>
        </p:xfrm>
        <a:graphic>
          <a:graphicData uri="http://schemas.openxmlformats.org/drawingml/2006/table">
            <a:tbl>
              <a:tblPr/>
              <a:tblGrid>
                <a:gridCol w="361950">
                  <a:extLst>
                    <a:ext uri="{9D8B030D-6E8A-4147-A177-3AD203B41FA5}">
                      <a16:colId xmlns:a16="http://schemas.microsoft.com/office/drawing/2014/main" val="20000"/>
                    </a:ext>
                  </a:extLst>
                </a:gridCol>
                <a:gridCol w="361950">
                  <a:extLst>
                    <a:ext uri="{9D8B030D-6E8A-4147-A177-3AD203B41FA5}">
                      <a16:colId xmlns:a16="http://schemas.microsoft.com/office/drawing/2014/main" val="20001"/>
                    </a:ext>
                  </a:extLst>
                </a:gridCol>
                <a:gridCol w="361950">
                  <a:extLst>
                    <a:ext uri="{9D8B030D-6E8A-4147-A177-3AD203B41FA5}">
                      <a16:colId xmlns:a16="http://schemas.microsoft.com/office/drawing/2014/main" val="20002"/>
                    </a:ext>
                  </a:extLst>
                </a:gridCol>
                <a:gridCol w="361950">
                  <a:extLst>
                    <a:ext uri="{9D8B030D-6E8A-4147-A177-3AD203B41FA5}">
                      <a16:colId xmlns:a16="http://schemas.microsoft.com/office/drawing/2014/main" val="20003"/>
                    </a:ext>
                  </a:extLst>
                </a:gridCol>
              </a:tblGrid>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8399" name="表格 58398"/>
          <p:cNvGraphicFramePr/>
          <p:nvPr/>
        </p:nvGraphicFramePr>
        <p:xfrm>
          <a:off x="2438400" y="4286250"/>
          <a:ext cx="1447800" cy="1585918"/>
        </p:xfrm>
        <a:graphic>
          <a:graphicData uri="http://schemas.openxmlformats.org/drawingml/2006/table">
            <a:tbl>
              <a:tblPr/>
              <a:tblGrid>
                <a:gridCol w="361950">
                  <a:extLst>
                    <a:ext uri="{9D8B030D-6E8A-4147-A177-3AD203B41FA5}">
                      <a16:colId xmlns:a16="http://schemas.microsoft.com/office/drawing/2014/main" val="20000"/>
                    </a:ext>
                  </a:extLst>
                </a:gridCol>
                <a:gridCol w="361950">
                  <a:extLst>
                    <a:ext uri="{9D8B030D-6E8A-4147-A177-3AD203B41FA5}">
                      <a16:colId xmlns:a16="http://schemas.microsoft.com/office/drawing/2014/main" val="20001"/>
                    </a:ext>
                  </a:extLst>
                </a:gridCol>
                <a:gridCol w="361950">
                  <a:extLst>
                    <a:ext uri="{9D8B030D-6E8A-4147-A177-3AD203B41FA5}">
                      <a16:colId xmlns:a16="http://schemas.microsoft.com/office/drawing/2014/main" val="20002"/>
                    </a:ext>
                  </a:extLst>
                </a:gridCol>
                <a:gridCol w="361950">
                  <a:extLst>
                    <a:ext uri="{9D8B030D-6E8A-4147-A177-3AD203B41FA5}">
                      <a16:colId xmlns:a16="http://schemas.microsoft.com/office/drawing/2014/main" val="20003"/>
                    </a:ext>
                  </a:extLst>
                </a:gridCol>
              </a:tblGrid>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8426" name="表格 58425"/>
          <p:cNvGraphicFramePr/>
          <p:nvPr/>
        </p:nvGraphicFramePr>
        <p:xfrm>
          <a:off x="4114800" y="4267200"/>
          <a:ext cx="1447800" cy="1585918"/>
        </p:xfrm>
        <a:graphic>
          <a:graphicData uri="http://schemas.openxmlformats.org/drawingml/2006/table">
            <a:tbl>
              <a:tblPr/>
              <a:tblGrid>
                <a:gridCol w="361950">
                  <a:extLst>
                    <a:ext uri="{9D8B030D-6E8A-4147-A177-3AD203B41FA5}">
                      <a16:colId xmlns:a16="http://schemas.microsoft.com/office/drawing/2014/main" val="20000"/>
                    </a:ext>
                  </a:extLst>
                </a:gridCol>
                <a:gridCol w="361950">
                  <a:extLst>
                    <a:ext uri="{9D8B030D-6E8A-4147-A177-3AD203B41FA5}">
                      <a16:colId xmlns:a16="http://schemas.microsoft.com/office/drawing/2014/main" val="20001"/>
                    </a:ext>
                  </a:extLst>
                </a:gridCol>
                <a:gridCol w="361950">
                  <a:extLst>
                    <a:ext uri="{9D8B030D-6E8A-4147-A177-3AD203B41FA5}">
                      <a16:colId xmlns:a16="http://schemas.microsoft.com/office/drawing/2014/main" val="20002"/>
                    </a:ext>
                  </a:extLst>
                </a:gridCol>
                <a:gridCol w="361950">
                  <a:extLst>
                    <a:ext uri="{9D8B030D-6E8A-4147-A177-3AD203B41FA5}">
                      <a16:colId xmlns:a16="http://schemas.microsoft.com/office/drawing/2014/main" val="20003"/>
                    </a:ext>
                  </a:extLst>
                </a:gridCol>
              </a:tblGrid>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8453" name="表格 58452"/>
          <p:cNvGraphicFramePr/>
          <p:nvPr/>
        </p:nvGraphicFramePr>
        <p:xfrm>
          <a:off x="5715000" y="4267200"/>
          <a:ext cx="1447800" cy="1585918"/>
        </p:xfrm>
        <a:graphic>
          <a:graphicData uri="http://schemas.openxmlformats.org/drawingml/2006/table">
            <a:tbl>
              <a:tblPr/>
              <a:tblGrid>
                <a:gridCol w="361950">
                  <a:extLst>
                    <a:ext uri="{9D8B030D-6E8A-4147-A177-3AD203B41FA5}">
                      <a16:colId xmlns:a16="http://schemas.microsoft.com/office/drawing/2014/main" val="20000"/>
                    </a:ext>
                  </a:extLst>
                </a:gridCol>
                <a:gridCol w="361950">
                  <a:extLst>
                    <a:ext uri="{9D8B030D-6E8A-4147-A177-3AD203B41FA5}">
                      <a16:colId xmlns:a16="http://schemas.microsoft.com/office/drawing/2014/main" val="20001"/>
                    </a:ext>
                  </a:extLst>
                </a:gridCol>
                <a:gridCol w="361950">
                  <a:extLst>
                    <a:ext uri="{9D8B030D-6E8A-4147-A177-3AD203B41FA5}">
                      <a16:colId xmlns:a16="http://schemas.microsoft.com/office/drawing/2014/main" val="20002"/>
                    </a:ext>
                  </a:extLst>
                </a:gridCol>
                <a:gridCol w="361950">
                  <a:extLst>
                    <a:ext uri="{9D8B030D-6E8A-4147-A177-3AD203B41FA5}">
                      <a16:colId xmlns:a16="http://schemas.microsoft.com/office/drawing/2014/main" val="20003"/>
                    </a:ext>
                  </a:extLst>
                </a:gridCol>
              </a:tblGrid>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8480" name="表格 58479"/>
          <p:cNvGraphicFramePr/>
          <p:nvPr/>
        </p:nvGraphicFramePr>
        <p:xfrm>
          <a:off x="7391400" y="4267200"/>
          <a:ext cx="1447800" cy="1585918"/>
        </p:xfrm>
        <a:graphic>
          <a:graphicData uri="http://schemas.openxmlformats.org/drawingml/2006/table">
            <a:tbl>
              <a:tblPr/>
              <a:tblGrid>
                <a:gridCol w="361950">
                  <a:extLst>
                    <a:ext uri="{9D8B030D-6E8A-4147-A177-3AD203B41FA5}">
                      <a16:colId xmlns:a16="http://schemas.microsoft.com/office/drawing/2014/main" val="20000"/>
                    </a:ext>
                  </a:extLst>
                </a:gridCol>
                <a:gridCol w="361950">
                  <a:extLst>
                    <a:ext uri="{9D8B030D-6E8A-4147-A177-3AD203B41FA5}">
                      <a16:colId xmlns:a16="http://schemas.microsoft.com/office/drawing/2014/main" val="20001"/>
                    </a:ext>
                  </a:extLst>
                </a:gridCol>
                <a:gridCol w="361950">
                  <a:extLst>
                    <a:ext uri="{9D8B030D-6E8A-4147-A177-3AD203B41FA5}">
                      <a16:colId xmlns:a16="http://schemas.microsoft.com/office/drawing/2014/main" val="20002"/>
                    </a:ext>
                  </a:extLst>
                </a:gridCol>
                <a:gridCol w="361950">
                  <a:extLst>
                    <a:ext uri="{9D8B030D-6E8A-4147-A177-3AD203B41FA5}">
                      <a16:colId xmlns:a16="http://schemas.microsoft.com/office/drawing/2014/main" val="20003"/>
                    </a:ext>
                  </a:extLst>
                </a:gridCol>
              </a:tblGrid>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0</a:t>
                      </a: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5027">
                                            <p:txEl>
                                              <p:pRg st="0" end="0"/>
                                            </p:txEl>
                                          </p:spTgt>
                                        </p:tgtEl>
                                        <p:attrNameLst>
                                          <p:attrName>style.visibility</p:attrName>
                                        </p:attrNameLst>
                                      </p:cBhvr>
                                      <p:to>
                                        <p:strVal val="visible"/>
                                      </p:to>
                                    </p:set>
                                    <p:animEffect transition="in" filter="blinds(horizontal)">
                                      <p:cBhvr>
                                        <p:cTn id="7" dur="500"/>
                                        <p:tgtEl>
                                          <p:spTgt spid="385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5027">
                                            <p:txEl>
                                              <p:pRg st="1" end="1"/>
                                            </p:txEl>
                                          </p:spTgt>
                                        </p:tgtEl>
                                        <p:attrNameLst>
                                          <p:attrName>style.visibility</p:attrName>
                                        </p:attrNameLst>
                                      </p:cBhvr>
                                      <p:to>
                                        <p:strVal val="visible"/>
                                      </p:to>
                                    </p:set>
                                    <p:animEffect transition="in" filter="blinds(horizontal)">
                                      <p:cBhvr>
                                        <p:cTn id="12" dur="500"/>
                                        <p:tgtEl>
                                          <p:spTgt spid="385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8372"/>
                                        </p:tgtEl>
                                        <p:attrNameLst>
                                          <p:attrName>style.visibility</p:attrName>
                                        </p:attrNameLst>
                                      </p:cBhvr>
                                      <p:to>
                                        <p:strVal val="visible"/>
                                      </p:to>
                                    </p:set>
                                    <p:animEffect transition="in" filter="box(out)">
                                      <p:cBhvr>
                                        <p:cTn id="17" dur="500"/>
                                        <p:tgtEl>
                                          <p:spTgt spid="5837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8399"/>
                                        </p:tgtEl>
                                        <p:attrNameLst>
                                          <p:attrName>style.visibility</p:attrName>
                                        </p:attrNameLst>
                                      </p:cBhvr>
                                      <p:to>
                                        <p:strVal val="visible"/>
                                      </p:to>
                                    </p:set>
                                    <p:animEffect transition="in" filter="box(out)">
                                      <p:cBhvr>
                                        <p:cTn id="22" dur="500"/>
                                        <p:tgtEl>
                                          <p:spTgt spid="5839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8426"/>
                                        </p:tgtEl>
                                        <p:attrNameLst>
                                          <p:attrName>style.visibility</p:attrName>
                                        </p:attrNameLst>
                                      </p:cBhvr>
                                      <p:to>
                                        <p:strVal val="visible"/>
                                      </p:to>
                                    </p:set>
                                    <p:animEffect transition="in" filter="box(out)">
                                      <p:cBhvr>
                                        <p:cTn id="27" dur="500"/>
                                        <p:tgtEl>
                                          <p:spTgt spid="5842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58453"/>
                                        </p:tgtEl>
                                        <p:attrNameLst>
                                          <p:attrName>style.visibility</p:attrName>
                                        </p:attrNameLst>
                                      </p:cBhvr>
                                      <p:to>
                                        <p:strVal val="visible"/>
                                      </p:to>
                                    </p:set>
                                    <p:animEffect transition="in" filter="box(out)">
                                      <p:cBhvr>
                                        <p:cTn id="32" dur="500"/>
                                        <p:tgtEl>
                                          <p:spTgt spid="58453"/>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58480"/>
                                        </p:tgtEl>
                                        <p:attrNameLst>
                                          <p:attrName>style.visibility</p:attrName>
                                        </p:attrNameLst>
                                      </p:cBhvr>
                                      <p:to>
                                        <p:strVal val="visible"/>
                                      </p:to>
                                    </p:set>
                                    <p:animEffect transition="in" filter="box(out)">
                                      <p:cBhvr>
                                        <p:cTn id="37" dur="500"/>
                                        <p:tgtEl>
                                          <p:spTgt spid="58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7" grpId="0" build="p" bldLvl="2"/>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42</a:t>
            </a:fld>
            <a:endParaRPr lang="zh-CN" altLang="en-US" sz="1400" b="0">
              <a:latin typeface="Tahoma" panose="020B0604030504040204" pitchFamily="34" charset="0"/>
              <a:ea typeface="宋体" panose="02010600030101010101" pitchFamily="2" charset="-122"/>
            </a:endParaRPr>
          </a:p>
        </p:txBody>
      </p:sp>
      <p:sp>
        <p:nvSpPr>
          <p:cNvPr id="59394"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49155" name="Rectangle 3"/>
          <p:cNvSpPr>
            <a:spLocks noGrp="1" noChangeArrowheads="1"/>
          </p:cNvSpPr>
          <p:nvPr>
            <p:ph idx="1"/>
          </p:nvPr>
        </p:nvSpPr>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dirty="0">
                <a:latin typeface="黑体" panose="02010609060101010101" pitchFamily="49" charset="-122"/>
              </a:rPr>
              <a:t>LRU</a:t>
            </a:r>
            <a:r>
              <a:rPr lang="zh-CN" altLang="en-US" sz="2400" b="0" dirty="0">
                <a:latin typeface="黑体" panose="02010609060101010101" pitchFamily="49" charset="-122"/>
              </a:rPr>
              <a:t>的软件解决方案：</a:t>
            </a:r>
          </a:p>
          <a:p>
            <a:pPr eaLnBrk="1" hangingPunct="1">
              <a:buFont typeface="Wingdings" panose="05000000000000000000" pitchFamily="2" charset="2"/>
              <a:buNone/>
            </a:pPr>
            <a:r>
              <a:rPr lang="en-US" altLang="zh-CN" sz="2400" b="0" dirty="0">
                <a:latin typeface="黑体" panose="02010609060101010101" pitchFamily="49" charset="-122"/>
              </a:rPr>
              <a:t>4.</a:t>
            </a:r>
            <a:r>
              <a:rPr lang="zh-CN" altLang="en-US" sz="2400" b="0" dirty="0">
                <a:latin typeface="黑体" panose="02010609060101010101" pitchFamily="49" charset="-122"/>
              </a:rPr>
              <a:t>最近未使用算法</a:t>
            </a:r>
            <a:r>
              <a:rPr lang="en-US" altLang="zh-CN" sz="2400" b="0" dirty="0">
                <a:latin typeface="黑体" panose="02010609060101010101" pitchFamily="49" charset="-122"/>
              </a:rPr>
              <a:t>(NRU, Not Recently Used)</a:t>
            </a:r>
            <a:r>
              <a:rPr lang="zh-CN" altLang="en-US" sz="2400" b="0" dirty="0">
                <a:latin typeface="黑体" panose="02010609060101010101" pitchFamily="49" charset="-122"/>
              </a:rPr>
              <a:t> </a:t>
            </a:r>
          </a:p>
          <a:p>
            <a:pPr lvl="1" eaLnBrk="1" hangingPunct="1"/>
            <a:r>
              <a:rPr lang="zh-CN" altLang="en-US" b="0" dirty="0">
                <a:latin typeface="黑体" panose="02010609060101010101" pitchFamily="49" charset="-122"/>
              </a:rPr>
              <a:t>利用每个页的两个与其相关的状态位，访问统计位</a:t>
            </a:r>
            <a:r>
              <a:rPr lang="en-US" altLang="zh-CN" b="0" dirty="0">
                <a:latin typeface="黑体" panose="02010609060101010101" pitchFamily="49" charset="-122"/>
              </a:rPr>
              <a:t>R，</a:t>
            </a:r>
            <a:r>
              <a:rPr lang="zh-CN" altLang="en-US" b="0" dirty="0">
                <a:latin typeface="黑体" panose="02010609060101010101" pitchFamily="49" charset="-122"/>
              </a:rPr>
              <a:t>在页面被引用（读或写）时设置；修改位</a:t>
            </a:r>
            <a:r>
              <a:rPr lang="en-US" altLang="zh-CN" b="0" dirty="0">
                <a:latin typeface="黑体" panose="02010609060101010101" pitchFamily="49" charset="-122"/>
              </a:rPr>
              <a:t>M，</a:t>
            </a:r>
            <a:r>
              <a:rPr lang="zh-CN" altLang="en-US" b="0" dirty="0">
                <a:latin typeface="黑体" panose="02010609060101010101" pitchFamily="49" charset="-122"/>
              </a:rPr>
              <a:t>在页面被写入（即被修改）时设置。这些位在每次内存访问时都被更新。</a:t>
            </a:r>
          </a:p>
          <a:p>
            <a:pPr lvl="1" eaLnBrk="1" hangingPunct="1"/>
            <a:r>
              <a:rPr lang="zh-CN" altLang="en-US" b="0" dirty="0">
                <a:latin typeface="黑体" panose="02010609060101010101" pitchFamily="49" charset="-122"/>
              </a:rPr>
              <a:t>在一个进程启动时，它的所有页的两个位都由操作系统设置成0，</a:t>
            </a:r>
            <a:r>
              <a:rPr lang="en-US" altLang="zh-CN" b="0" dirty="0">
                <a:latin typeface="黑体" panose="02010609060101010101" pitchFamily="49" charset="-122"/>
              </a:rPr>
              <a:t>R</a:t>
            </a:r>
            <a:r>
              <a:rPr lang="zh-CN" altLang="en-US" b="0" dirty="0">
                <a:latin typeface="黑体" panose="02010609060101010101" pitchFamily="49" charset="-122"/>
              </a:rPr>
              <a:t>位被定期的（比如在每次时钟中断时）清零，以把最近没有被访问的页和被访问了的页区别开来。</a:t>
            </a:r>
            <a:endParaRPr lang="en-US" altLang="zh-CN" b="0" dirty="0">
              <a:latin typeface="黑体" panose="02010609060101010101" pitchFamily="49" charset="-122"/>
            </a:endParaRPr>
          </a:p>
          <a:p>
            <a:pPr lvl="1" eaLnBrk="1" hangingPunct="1"/>
            <a:r>
              <a:rPr lang="zh-CN" altLang="zh-CN" b="0" dirty="0">
                <a:latin typeface="黑体" panose="02010609060101010101" pitchFamily="49" charset="-122"/>
              </a:rPr>
              <a:t>访问位，</a:t>
            </a:r>
            <a:r>
              <a:rPr lang="en-US" altLang="zh-CN" b="0" dirty="0">
                <a:latin typeface="黑体" panose="02010609060101010101" pitchFamily="49" charset="-122"/>
              </a:rPr>
              <a:t>1</a:t>
            </a:r>
            <a:r>
              <a:rPr lang="zh-CN" altLang="zh-CN" b="0" dirty="0">
                <a:latin typeface="黑体" panose="02010609060101010101" pitchFamily="49" charset="-122"/>
              </a:rPr>
              <a:t>表示被访问过，</a:t>
            </a:r>
            <a:r>
              <a:rPr lang="en-US" altLang="zh-CN" b="0" dirty="0">
                <a:latin typeface="黑体" panose="02010609060101010101" pitchFamily="49" charset="-122"/>
              </a:rPr>
              <a:t>0</a:t>
            </a:r>
            <a:r>
              <a:rPr lang="zh-CN" altLang="zh-CN" b="0" dirty="0">
                <a:latin typeface="黑体" panose="02010609060101010101" pitchFamily="49" charset="-122"/>
              </a:rPr>
              <a:t>表示未被访问过；</a:t>
            </a:r>
            <a:endParaRPr lang="zh-CN" altLang="en-US" b="0" dirty="0">
              <a:latin typeface="黑体" panose="02010609060101010101" pitchFamily="49"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43</a:t>
            </a:fld>
            <a:endParaRPr lang="zh-CN" altLang="en-US" sz="1400" b="0">
              <a:latin typeface="Tahoma" panose="020B0604030504040204" pitchFamily="34" charset="0"/>
              <a:ea typeface="宋体" panose="02010600030101010101" pitchFamily="2" charset="-122"/>
            </a:endParaRPr>
          </a:p>
        </p:txBody>
      </p:sp>
      <p:sp>
        <p:nvSpPr>
          <p:cNvPr id="59394"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49155" name="Rectangle 3"/>
          <p:cNvSpPr>
            <a:spLocks noGrp="1" noChangeArrowheads="1"/>
          </p:cNvSpPr>
          <p:nvPr>
            <p:ph idx="1"/>
          </p:nvPr>
        </p:nvSpPr>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dirty="0">
                <a:latin typeface="黑体" panose="02010609060101010101" pitchFamily="49" charset="-122"/>
              </a:rPr>
              <a:t>LRU</a:t>
            </a:r>
            <a:r>
              <a:rPr lang="zh-CN" altLang="en-US" sz="2400" b="0" dirty="0">
                <a:latin typeface="黑体" panose="02010609060101010101" pitchFamily="49" charset="-122"/>
              </a:rPr>
              <a:t>的软件解决方案：</a:t>
            </a:r>
          </a:p>
          <a:p>
            <a:pPr eaLnBrk="1" hangingPunct="1">
              <a:buFont typeface="Wingdings" panose="05000000000000000000" pitchFamily="2" charset="2"/>
              <a:buNone/>
            </a:pPr>
            <a:r>
              <a:rPr lang="en-US" altLang="zh-CN" sz="2400" b="0" dirty="0">
                <a:latin typeface="黑体" panose="02010609060101010101" pitchFamily="49" charset="-122"/>
              </a:rPr>
              <a:t>4.</a:t>
            </a:r>
            <a:r>
              <a:rPr lang="zh-CN" altLang="en-US" sz="2400" b="0" dirty="0">
                <a:latin typeface="黑体" panose="02010609060101010101" pitchFamily="49" charset="-122"/>
              </a:rPr>
              <a:t>最近未使用算法</a:t>
            </a:r>
            <a:r>
              <a:rPr lang="en-US" altLang="zh-CN" sz="2400" b="0" dirty="0">
                <a:latin typeface="黑体" panose="02010609060101010101" pitchFamily="49" charset="-122"/>
              </a:rPr>
              <a:t>(NRU, Not Recently Used)</a:t>
            </a:r>
            <a:r>
              <a:rPr lang="zh-CN" altLang="en-US" sz="2400" b="0" dirty="0">
                <a:latin typeface="黑体" panose="02010609060101010101" pitchFamily="49" charset="-122"/>
              </a:rPr>
              <a:t> </a:t>
            </a:r>
            <a:endParaRPr lang="en-US" altLang="zh-CN" sz="2400" b="0" dirty="0">
              <a:latin typeface="黑体" panose="02010609060101010101" pitchFamily="49" charset="-122"/>
            </a:endParaRPr>
          </a:p>
          <a:p>
            <a:pPr eaLnBrk="1" hangingPunct="1">
              <a:buFont typeface="Wingdings" panose="05000000000000000000" pitchFamily="2" charset="2"/>
              <a:buNone/>
            </a:pPr>
            <a:r>
              <a:rPr lang="en-US" altLang="zh-CN" sz="2400" b="0" dirty="0">
                <a:latin typeface="黑体" panose="02010609060101010101" pitchFamily="49" charset="-122"/>
              </a:rPr>
              <a:t>  </a:t>
            </a:r>
            <a:r>
              <a:rPr lang="zh-CN" altLang="zh-CN" sz="2400" b="0" dirty="0">
                <a:latin typeface="黑体" panose="02010609060101010101" pitchFamily="49" charset="-122"/>
              </a:rPr>
              <a:t>将内存中所有页面都通过链接指针链接成一个循环队列，如果访问位是</a:t>
            </a:r>
            <a:r>
              <a:rPr lang="en-US" altLang="zh-CN" sz="2400" b="0" dirty="0">
                <a:latin typeface="黑体" panose="02010609060101010101" pitchFamily="49" charset="-122"/>
              </a:rPr>
              <a:t>0</a:t>
            </a:r>
            <a:r>
              <a:rPr lang="zh-CN" altLang="zh-CN" sz="2400" b="0" dirty="0">
                <a:latin typeface="黑体" panose="02010609060101010101" pitchFamily="49" charset="-122"/>
              </a:rPr>
              <a:t>，则选择该页换出，如果访问位是</a:t>
            </a:r>
            <a:r>
              <a:rPr lang="en-US" altLang="zh-CN" sz="2400" b="0" dirty="0">
                <a:latin typeface="黑体" panose="02010609060101010101" pitchFamily="49" charset="-122"/>
              </a:rPr>
              <a:t>1</a:t>
            </a:r>
            <a:r>
              <a:rPr lang="zh-CN" altLang="zh-CN" sz="2400" b="0" dirty="0">
                <a:latin typeface="黑体" panose="02010609060101010101" pitchFamily="49" charset="-122"/>
              </a:rPr>
              <a:t>，则将访问位置</a:t>
            </a:r>
            <a:r>
              <a:rPr lang="en-US" altLang="zh-CN" sz="2400" b="0" dirty="0">
                <a:latin typeface="黑体" panose="02010609060101010101" pitchFamily="49" charset="-122"/>
              </a:rPr>
              <a:t>0</a:t>
            </a:r>
            <a:r>
              <a:rPr lang="zh-CN" altLang="zh-CN" sz="2400" b="0" dirty="0">
                <a:latin typeface="黑体" panose="02010609060101010101" pitchFamily="49" charset="-122"/>
              </a:rPr>
              <a:t>，暂不换出，再按照</a:t>
            </a:r>
            <a:r>
              <a:rPr lang="en-US" altLang="zh-CN" sz="2400" b="0" dirty="0">
                <a:latin typeface="黑体" panose="02010609060101010101" pitchFamily="49" charset="-122"/>
              </a:rPr>
              <a:t>FIFO</a:t>
            </a:r>
            <a:r>
              <a:rPr lang="zh-CN" altLang="zh-CN" sz="2400" b="0" dirty="0">
                <a:latin typeface="黑体" panose="02010609060101010101" pitchFamily="49" charset="-122"/>
              </a:rPr>
              <a:t>算法检查下一个页面，重复上述步骤。</a:t>
            </a:r>
            <a:endParaRPr lang="en-US" altLang="zh-CN" sz="2400" b="0" dirty="0">
              <a:latin typeface="黑体" panose="02010609060101010101" pitchFamily="49" charset="-122"/>
            </a:endParaRPr>
          </a:p>
          <a:p>
            <a:pPr eaLnBrk="1" hangingPunct="1">
              <a:buNone/>
            </a:pPr>
            <a:r>
              <a:rPr lang="zh-CN" altLang="en-US" sz="2400" b="0" dirty="0">
                <a:latin typeface="黑体" panose="02010609060101010101" pitchFamily="49" charset="-122"/>
              </a:rPr>
              <a:t>访问的页面依次是：</a:t>
            </a:r>
            <a:r>
              <a:rPr lang="en-US" altLang="zh-CN" sz="2400" b="0" dirty="0">
                <a:latin typeface="黑体" panose="02010609060101010101" pitchFamily="49" charset="-122"/>
              </a:rPr>
              <a:t>1,3,4,2,5,4,7,4</a:t>
            </a:r>
            <a:r>
              <a:rPr lang="zh-CN" altLang="en-US" sz="2400" b="0" dirty="0">
                <a:latin typeface="黑体" panose="02010609060101010101" pitchFamily="49" charset="-122"/>
              </a:rPr>
              <a:t>。主存有</a:t>
            </a:r>
            <a:r>
              <a:rPr lang="en-US" altLang="zh-CN" sz="2400" b="0" dirty="0">
                <a:latin typeface="黑体" panose="02010609060101010101" pitchFamily="49" charset="-122"/>
              </a:rPr>
              <a:t>4</a:t>
            </a:r>
            <a:r>
              <a:rPr lang="zh-CN" altLang="en-US" sz="2400" b="0" dirty="0">
                <a:latin typeface="黑体" panose="02010609060101010101" pitchFamily="49" charset="-122"/>
              </a:rPr>
              <a:t>个空闲的块。</a:t>
            </a:r>
          </a:p>
        </p:txBody>
      </p:sp>
      <p:pic>
        <p:nvPicPr>
          <p:cNvPr id="2" name="图片 1">
            <a:extLst>
              <a:ext uri="{FF2B5EF4-FFF2-40B4-BE49-F238E27FC236}">
                <a16:creationId xmlns:a16="http://schemas.microsoft.com/office/drawing/2014/main" id="{21C75CA0-3322-4EEF-9182-4B4643D4DF4A}"/>
              </a:ext>
            </a:extLst>
          </p:cNvPr>
          <p:cNvPicPr>
            <a:picLocks noChangeAspect="1"/>
          </p:cNvPicPr>
          <p:nvPr/>
        </p:nvPicPr>
        <p:blipFill>
          <a:blip r:embed="rId2"/>
          <a:stretch>
            <a:fillRect/>
          </a:stretch>
        </p:blipFill>
        <p:spPr>
          <a:xfrm>
            <a:off x="497836" y="4714782"/>
            <a:ext cx="1085906" cy="1212912"/>
          </a:xfrm>
          <a:prstGeom prst="rect">
            <a:avLst/>
          </a:prstGeom>
        </p:spPr>
      </p:pic>
      <p:pic>
        <p:nvPicPr>
          <p:cNvPr id="3" name="图片 2">
            <a:extLst>
              <a:ext uri="{FF2B5EF4-FFF2-40B4-BE49-F238E27FC236}">
                <a16:creationId xmlns:a16="http://schemas.microsoft.com/office/drawing/2014/main" id="{3BE7932B-16FA-4C91-B40A-75467D8F2453}"/>
              </a:ext>
            </a:extLst>
          </p:cNvPr>
          <p:cNvPicPr>
            <a:picLocks noChangeAspect="1"/>
          </p:cNvPicPr>
          <p:nvPr/>
        </p:nvPicPr>
        <p:blipFill>
          <a:blip r:embed="rId3"/>
          <a:stretch>
            <a:fillRect/>
          </a:stretch>
        </p:blipFill>
        <p:spPr>
          <a:xfrm>
            <a:off x="1838659" y="4555823"/>
            <a:ext cx="6553537" cy="1511378"/>
          </a:xfrm>
          <a:prstGeom prst="rect">
            <a:avLst/>
          </a:prstGeom>
        </p:spPr>
      </p:pic>
    </p:spTree>
    <p:extLst>
      <p:ext uri="{BB962C8B-B14F-4D97-AF65-F5344CB8AC3E}">
        <p14:creationId xmlns:p14="http://schemas.microsoft.com/office/powerpoint/2010/main" val="3121639197"/>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44</a:t>
            </a:fld>
            <a:endParaRPr lang="zh-CN" altLang="en-US" sz="1400" b="0">
              <a:latin typeface="Tahoma" panose="020B0604030504040204" pitchFamily="34" charset="0"/>
              <a:ea typeface="宋体" panose="02010600030101010101" pitchFamily="2" charset="-122"/>
            </a:endParaRPr>
          </a:p>
        </p:txBody>
      </p:sp>
      <p:sp>
        <p:nvSpPr>
          <p:cNvPr id="60418"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50179" name="Rectangle 3"/>
          <p:cNvSpPr>
            <a:spLocks noGrp="1" noChangeArrowheads="1"/>
          </p:cNvSpPr>
          <p:nvPr>
            <p:ph idx="1"/>
          </p:nvPr>
        </p:nvSpPr>
        <p:spPr>
          <a:xfrm>
            <a:off x="539750" y="1447800"/>
            <a:ext cx="7772400" cy="5181600"/>
          </a:xfrm>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a:latin typeface="黑体" panose="02010609060101010101" pitchFamily="49" charset="-122"/>
              </a:rPr>
              <a:t>LRU</a:t>
            </a:r>
            <a:r>
              <a:rPr lang="zh-CN" altLang="en-US" sz="2400" b="0">
                <a:latin typeface="黑体" panose="02010609060101010101" pitchFamily="49" charset="-122"/>
              </a:rPr>
              <a:t>的软件解决方案：</a:t>
            </a:r>
          </a:p>
          <a:p>
            <a:pPr eaLnBrk="1" hangingPunct="1">
              <a:buFont typeface="Wingdings" panose="05000000000000000000" pitchFamily="2" charset="2"/>
              <a:buNone/>
            </a:pPr>
            <a:r>
              <a:rPr lang="en-US" altLang="zh-CN" sz="2400" b="0">
                <a:latin typeface="黑体" panose="02010609060101010101" pitchFamily="49" charset="-122"/>
              </a:rPr>
              <a:t>4.</a:t>
            </a:r>
            <a:r>
              <a:rPr lang="zh-CN" altLang="en-US" sz="2400" b="0">
                <a:latin typeface="黑体" panose="02010609060101010101" pitchFamily="49" charset="-122"/>
              </a:rPr>
              <a:t>最近未使用算法</a:t>
            </a:r>
            <a:r>
              <a:rPr lang="en-US" altLang="zh-CN" sz="2400" b="0">
                <a:latin typeface="黑体" panose="02010609060101010101" pitchFamily="49" charset="-122"/>
              </a:rPr>
              <a:t>(NRU, Not Recently Used)</a:t>
            </a:r>
            <a:r>
              <a:rPr lang="zh-CN" altLang="en-US" sz="2400" b="0">
                <a:latin typeface="黑体" panose="02010609060101010101" pitchFamily="49" charset="-122"/>
              </a:rPr>
              <a:t> </a:t>
            </a:r>
          </a:p>
          <a:p>
            <a:pPr lvl="1" eaLnBrk="1" hangingPunct="1"/>
            <a:r>
              <a:rPr lang="zh-CN" altLang="en-US" b="0">
                <a:latin typeface="黑体" panose="02010609060101010101" pitchFamily="49" charset="-122"/>
              </a:rPr>
              <a:t>当发生缺页时，操作系统检查所有的页面，并根据它们当前的访问位</a:t>
            </a:r>
            <a:r>
              <a:rPr lang="en-US" altLang="zh-CN" b="0">
                <a:latin typeface="黑体" panose="02010609060101010101" pitchFamily="49" charset="-122"/>
              </a:rPr>
              <a:t>R</a:t>
            </a:r>
            <a:r>
              <a:rPr lang="zh-CN" altLang="en-US" b="0">
                <a:latin typeface="黑体" panose="02010609060101010101" pitchFamily="49" charset="-122"/>
              </a:rPr>
              <a:t>位和修改位</a:t>
            </a:r>
            <a:r>
              <a:rPr lang="en-US" altLang="zh-CN" b="0">
                <a:latin typeface="黑体" panose="02010609060101010101" pitchFamily="49" charset="-122"/>
              </a:rPr>
              <a:t>W</a:t>
            </a:r>
            <a:r>
              <a:rPr lang="zh-CN" altLang="en-US" b="0">
                <a:latin typeface="黑体" panose="02010609060101010101" pitchFamily="49" charset="-122"/>
              </a:rPr>
              <a:t>位的值分为4类：</a:t>
            </a:r>
          </a:p>
          <a:p>
            <a:pPr lvl="2" eaLnBrk="1" hangingPunct="1"/>
            <a:r>
              <a:rPr lang="zh-CN" altLang="en-US" sz="2400" b="0">
                <a:latin typeface="黑体" panose="02010609060101010101" pitchFamily="49" charset="-122"/>
              </a:rPr>
              <a:t>第1类：没有被访问，没有被修改，</a:t>
            </a:r>
            <a:r>
              <a:rPr lang="en-US" altLang="zh-CN" sz="2400" b="0">
                <a:latin typeface="黑体" panose="02010609060101010101" pitchFamily="49" charset="-122"/>
              </a:rPr>
              <a:t>00</a:t>
            </a:r>
            <a:endParaRPr lang="zh-CN" altLang="en-US" sz="2400" b="0">
              <a:latin typeface="黑体" panose="02010609060101010101" pitchFamily="49" charset="-122"/>
            </a:endParaRPr>
          </a:p>
          <a:p>
            <a:pPr lvl="2" eaLnBrk="1" hangingPunct="1"/>
            <a:r>
              <a:rPr lang="zh-CN" altLang="en-US" sz="2400" b="0">
                <a:latin typeface="黑体" panose="02010609060101010101" pitchFamily="49" charset="-122"/>
              </a:rPr>
              <a:t>第2类：没有被访问，已被修改，</a:t>
            </a:r>
            <a:r>
              <a:rPr lang="en-US" altLang="zh-CN" sz="2400" b="0">
                <a:latin typeface="黑体" panose="02010609060101010101" pitchFamily="49" charset="-122"/>
              </a:rPr>
              <a:t>01</a:t>
            </a:r>
            <a:endParaRPr lang="zh-CN" altLang="en-US" sz="2400" b="0">
              <a:latin typeface="黑体" panose="02010609060101010101" pitchFamily="49" charset="-122"/>
            </a:endParaRPr>
          </a:p>
          <a:p>
            <a:pPr lvl="2" eaLnBrk="1" hangingPunct="1"/>
            <a:r>
              <a:rPr lang="zh-CN" altLang="en-US" sz="2400" b="0">
                <a:latin typeface="黑体" panose="02010609060101010101" pitchFamily="49" charset="-122"/>
              </a:rPr>
              <a:t>第3类：已被访问，没有被修改，</a:t>
            </a:r>
            <a:r>
              <a:rPr lang="en-US" altLang="zh-CN" sz="2400" b="0">
                <a:latin typeface="黑体" panose="02010609060101010101" pitchFamily="49" charset="-122"/>
              </a:rPr>
              <a:t>10</a:t>
            </a:r>
            <a:endParaRPr lang="zh-CN" altLang="en-US" sz="2400" b="0">
              <a:latin typeface="黑体" panose="02010609060101010101" pitchFamily="49" charset="-122"/>
            </a:endParaRPr>
          </a:p>
          <a:p>
            <a:pPr lvl="2" eaLnBrk="1" hangingPunct="1"/>
            <a:r>
              <a:rPr lang="zh-CN" altLang="en-US" sz="2400" b="0">
                <a:latin typeface="黑体" panose="02010609060101010101" pitchFamily="49" charset="-122"/>
              </a:rPr>
              <a:t>第4类：已被访问，已被修改，</a:t>
            </a:r>
            <a:r>
              <a:rPr lang="en-US" altLang="zh-CN" sz="2400" b="0">
                <a:latin typeface="黑体" panose="02010609060101010101" pitchFamily="49" charset="-122"/>
              </a:rPr>
              <a:t>11</a:t>
            </a:r>
            <a:endParaRPr lang="zh-CN" altLang="en-US" sz="2400" b="0">
              <a:latin typeface="黑体" panose="02010609060101010101" pitchFamily="49" charset="-122"/>
            </a:endParaRPr>
          </a:p>
          <a:p>
            <a:pPr lvl="1" eaLnBrk="1" hangingPunct="1"/>
            <a:r>
              <a:rPr lang="en-US" altLang="zh-CN" b="0">
                <a:latin typeface="黑体" panose="02010609060101010101" pitchFamily="49" charset="-122"/>
              </a:rPr>
              <a:t>NRU</a:t>
            </a:r>
            <a:r>
              <a:rPr lang="zh-CN" altLang="en-US" b="0">
                <a:latin typeface="黑体" panose="02010609060101010101" pitchFamily="49" charset="-122"/>
              </a:rPr>
              <a:t>算法随机的从编号最小的非空类中挑选出一个页并淘汰。即认为淘汰一个在最近一时钟周期中没有被访问的已修改页要比淘汰一个被频繁访问的干净页好。</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45</a:t>
            </a:fld>
            <a:endParaRPr lang="zh-CN" altLang="en-US" sz="1400" b="0">
              <a:latin typeface="Tahoma" panose="020B0604030504040204" pitchFamily="34" charset="0"/>
              <a:ea typeface="宋体" panose="02010600030101010101" pitchFamily="2" charset="-122"/>
            </a:endParaRPr>
          </a:p>
        </p:txBody>
      </p:sp>
      <p:sp>
        <p:nvSpPr>
          <p:cNvPr id="60418"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50179" name="Rectangle 3"/>
          <p:cNvSpPr>
            <a:spLocks noGrp="1" noChangeArrowheads="1"/>
          </p:cNvSpPr>
          <p:nvPr>
            <p:ph idx="1"/>
          </p:nvPr>
        </p:nvSpPr>
        <p:spPr>
          <a:xfrm>
            <a:off x="539750" y="1447800"/>
            <a:ext cx="7772400" cy="5181600"/>
          </a:xfrm>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dirty="0">
                <a:latin typeface="黑体" panose="02010609060101010101" pitchFamily="49" charset="-122"/>
              </a:rPr>
              <a:t>4.</a:t>
            </a:r>
            <a:r>
              <a:rPr lang="zh-CN" altLang="en-US" sz="2400" b="0" dirty="0">
                <a:latin typeface="黑体" panose="02010609060101010101" pitchFamily="49" charset="-122"/>
              </a:rPr>
              <a:t>最近未使用算法</a:t>
            </a:r>
            <a:r>
              <a:rPr lang="en-US" altLang="zh-CN" sz="2400" b="0" dirty="0">
                <a:latin typeface="黑体" panose="02010609060101010101" pitchFamily="49" charset="-122"/>
              </a:rPr>
              <a:t>(NRU, Not Recently Used)</a:t>
            </a:r>
            <a:r>
              <a:rPr lang="zh-CN" altLang="en-US" sz="2400" b="0" dirty="0">
                <a:latin typeface="黑体" panose="02010609060101010101" pitchFamily="49" charset="-122"/>
              </a:rPr>
              <a:t> </a:t>
            </a:r>
          </a:p>
        </p:txBody>
      </p:sp>
      <p:sp>
        <p:nvSpPr>
          <p:cNvPr id="2" name="矩形 1">
            <a:extLst>
              <a:ext uri="{FF2B5EF4-FFF2-40B4-BE49-F238E27FC236}">
                <a16:creationId xmlns:a16="http://schemas.microsoft.com/office/drawing/2014/main" id="{023183BF-6594-4725-8E67-FDD456751574}"/>
              </a:ext>
            </a:extLst>
          </p:cNvPr>
          <p:cNvSpPr/>
          <p:nvPr/>
        </p:nvSpPr>
        <p:spPr>
          <a:xfrm>
            <a:off x="323528" y="1916832"/>
            <a:ext cx="8352730" cy="4893647"/>
          </a:xfrm>
          <a:prstGeom prst="rect">
            <a:avLst/>
          </a:prstGeom>
        </p:spPr>
        <p:txBody>
          <a:bodyPr wrap="square">
            <a:spAutoFit/>
          </a:bodyPr>
          <a:lstStyle/>
          <a:p>
            <a:pPr algn="just">
              <a:spcAft>
                <a:spcPts val="0"/>
              </a:spcAft>
            </a:pPr>
            <a:r>
              <a:rPr lang="zh-CN" altLang="zh-CN" kern="100" dirty="0">
                <a:latin typeface="Calibri" panose="020F0502020204030204" pitchFamily="34" charset="0"/>
                <a:ea typeface="宋体" panose="02010600030101010101" pitchFamily="2" charset="-122"/>
                <a:cs typeface="Times New Roman" panose="02020603050405020304" pitchFamily="18" charset="0"/>
              </a:rPr>
              <a:t>（</a:t>
            </a:r>
            <a:r>
              <a:rPr lang="en-US" altLang="zh-CN" kern="100" dirty="0">
                <a:latin typeface="Calibri" panose="020F0502020204030204" pitchFamily="34" charset="0"/>
                <a:ea typeface="宋体" panose="02010600030101010101" pitchFamily="2" charset="-122"/>
                <a:cs typeface="Times New Roman" panose="02020603050405020304" pitchFamily="18" charset="0"/>
              </a:rPr>
              <a:t>1</a:t>
            </a:r>
            <a:r>
              <a:rPr lang="zh-CN" altLang="zh-CN" kern="100" dirty="0">
                <a:latin typeface="Calibri" panose="020F0502020204030204" pitchFamily="34" charset="0"/>
                <a:ea typeface="宋体" panose="02010600030101010101" pitchFamily="2" charset="-122"/>
                <a:cs typeface="Times New Roman" panose="02020603050405020304" pitchFamily="18" charset="0"/>
              </a:rPr>
              <a:t>）从指针所指示的当前位置开始，扫描循环队列，寻找</a:t>
            </a:r>
            <a:r>
              <a:rPr lang="en-US" altLang="zh-CN" kern="100" dirty="0">
                <a:latin typeface="Calibri" panose="020F0502020204030204" pitchFamily="34" charset="0"/>
                <a:ea typeface="宋体" panose="02010600030101010101" pitchFamily="2" charset="-122"/>
                <a:cs typeface="Times New Roman" panose="02020603050405020304" pitchFamily="18" charset="0"/>
              </a:rPr>
              <a:t>00</a:t>
            </a:r>
            <a:r>
              <a:rPr lang="zh-CN" altLang="zh-CN" kern="100" dirty="0">
                <a:latin typeface="Calibri" panose="020F0502020204030204" pitchFamily="34" charset="0"/>
                <a:ea typeface="宋体" panose="02010600030101010101" pitchFamily="2" charset="-122"/>
                <a:cs typeface="Times New Roman" panose="02020603050405020304" pitchFamily="18" charset="0"/>
              </a:rPr>
              <a:t>的第一类页面，将所遇到的第一个页面作为所选中的淘汰页。在第一次扫描期间不改变访问位。</a:t>
            </a:r>
          </a:p>
          <a:p>
            <a:pPr algn="just">
              <a:spcAft>
                <a:spcPts val="0"/>
              </a:spcAft>
            </a:pPr>
            <a:r>
              <a:rPr lang="zh-CN" altLang="zh-CN" kern="100" dirty="0">
                <a:latin typeface="Calibri" panose="020F0502020204030204" pitchFamily="34" charset="0"/>
                <a:ea typeface="宋体" panose="02010600030101010101" pitchFamily="2" charset="-122"/>
                <a:cs typeface="Times New Roman" panose="02020603050405020304" pitchFamily="18" charset="0"/>
              </a:rPr>
              <a:t>（</a:t>
            </a:r>
            <a:r>
              <a:rPr lang="en-US" altLang="zh-CN" kern="100" dirty="0">
                <a:latin typeface="Calibri" panose="020F0502020204030204" pitchFamily="34" charset="0"/>
                <a:ea typeface="宋体" panose="02010600030101010101" pitchFamily="2" charset="-122"/>
                <a:cs typeface="Times New Roman" panose="02020603050405020304" pitchFamily="18" charset="0"/>
              </a:rPr>
              <a:t>2</a:t>
            </a:r>
            <a:r>
              <a:rPr lang="zh-CN" altLang="zh-CN" kern="100" dirty="0">
                <a:latin typeface="Calibri" panose="020F0502020204030204" pitchFamily="34" charset="0"/>
                <a:ea typeface="宋体" panose="02010600030101010101" pitchFamily="2" charset="-122"/>
                <a:cs typeface="Times New Roman" panose="02020603050405020304" pitchFamily="18" charset="0"/>
              </a:rPr>
              <a:t>）如果第一步失败，即查找一轮后未遇到第一类页面，则开始第二轮扫描，寻找</a:t>
            </a:r>
            <a:r>
              <a:rPr lang="en-US" altLang="zh-CN" kern="100" dirty="0">
                <a:latin typeface="Calibri" panose="020F0502020204030204" pitchFamily="34" charset="0"/>
                <a:ea typeface="宋体" panose="02010600030101010101" pitchFamily="2" charset="-122"/>
                <a:cs typeface="Times New Roman" panose="02020603050405020304" pitchFamily="18" charset="0"/>
              </a:rPr>
              <a:t>01</a:t>
            </a:r>
            <a:r>
              <a:rPr lang="zh-CN" altLang="zh-CN" kern="100" dirty="0">
                <a:latin typeface="Calibri" panose="020F0502020204030204" pitchFamily="34" charset="0"/>
                <a:ea typeface="宋体" panose="02010600030101010101" pitchFamily="2" charset="-122"/>
                <a:cs typeface="Times New Roman" panose="02020603050405020304" pitchFamily="18" charset="0"/>
              </a:rPr>
              <a:t>的第二类页面，将所遇到的第一个这类页面作为淘汰页。在第二轮扫描期间，将所有扫描过的页面的访问位都置</a:t>
            </a:r>
            <a:r>
              <a:rPr lang="en-US" altLang="zh-CN" kern="100" dirty="0">
                <a:latin typeface="Calibri" panose="020F0502020204030204" pitchFamily="34" charset="0"/>
                <a:ea typeface="宋体" panose="02010600030101010101" pitchFamily="2" charset="-122"/>
                <a:cs typeface="Times New Roman" panose="02020603050405020304" pitchFamily="18" charset="0"/>
              </a:rPr>
              <a:t>0</a:t>
            </a:r>
            <a:r>
              <a:rPr lang="zh-CN" altLang="zh-CN" kern="100" dirty="0">
                <a:latin typeface="Calibri" panose="020F0502020204030204" pitchFamily="34" charset="0"/>
                <a:ea typeface="宋体" panose="02010600030101010101" pitchFamily="2" charset="-122"/>
                <a:cs typeface="Times New Roman" panose="02020603050405020304" pitchFamily="18" charset="0"/>
              </a:rPr>
              <a:t>。</a:t>
            </a:r>
          </a:p>
          <a:p>
            <a:pPr algn="just">
              <a:spcAft>
                <a:spcPts val="0"/>
              </a:spcAft>
            </a:pPr>
            <a:r>
              <a:rPr lang="en-US" altLang="zh-CN" kern="100" dirty="0">
                <a:latin typeface="Calibri" panose="020F0502020204030204" pitchFamily="34" charset="0"/>
                <a:ea typeface="宋体" panose="02010600030101010101" pitchFamily="2" charset="-122"/>
                <a:cs typeface="Times New Roman" panose="02020603050405020304" pitchFamily="18" charset="0"/>
              </a:rPr>
              <a:t>(3</a:t>
            </a:r>
            <a:r>
              <a:rPr lang="zh-CN" altLang="zh-CN" kern="100" dirty="0">
                <a:latin typeface="Calibri" panose="020F0502020204030204" pitchFamily="34" charset="0"/>
                <a:ea typeface="宋体" panose="02010600030101010101" pitchFamily="2" charset="-122"/>
                <a:cs typeface="Times New Roman" panose="02020603050405020304" pitchFamily="18" charset="0"/>
              </a:rPr>
              <a:t>）如果第二步也失败，亦即未找到第二类页面，则将指针返回到开始的位置。然后重复第一步，即寻找</a:t>
            </a:r>
            <a:r>
              <a:rPr lang="en-US" altLang="zh-CN" kern="100" dirty="0">
                <a:latin typeface="Calibri" panose="020F0502020204030204" pitchFamily="34" charset="0"/>
                <a:ea typeface="宋体" panose="02010600030101010101" pitchFamily="2" charset="-122"/>
                <a:cs typeface="Times New Roman" panose="02020603050405020304" pitchFamily="18" charset="0"/>
              </a:rPr>
              <a:t>00</a:t>
            </a:r>
            <a:r>
              <a:rPr lang="zh-CN" altLang="zh-CN" kern="100" dirty="0">
                <a:latin typeface="Calibri" panose="020F0502020204030204" pitchFamily="34" charset="0"/>
                <a:ea typeface="宋体" panose="02010600030101010101" pitchFamily="2" charset="-122"/>
                <a:cs typeface="Times New Roman" panose="02020603050405020304" pitchFamily="18" charset="0"/>
              </a:rPr>
              <a:t>的第一类页面，如果仍失败</a:t>
            </a:r>
            <a:r>
              <a:rPr lang="en-US" altLang="zh-CN" kern="100" dirty="0">
                <a:latin typeface="Calibri" panose="020F0502020204030204" pitchFamily="34" charset="0"/>
                <a:ea typeface="宋体" panose="02010600030101010101" pitchFamily="2" charset="-122"/>
                <a:cs typeface="Times New Roman" panose="02020603050405020304" pitchFamily="18" charset="0"/>
              </a:rPr>
              <a:t>,</a:t>
            </a:r>
            <a:r>
              <a:rPr lang="zh-CN" altLang="zh-CN" kern="100" dirty="0">
                <a:latin typeface="Calibri" panose="020F0502020204030204" pitchFamily="34" charset="0"/>
                <a:ea typeface="宋体" panose="02010600030101010101" pitchFamily="2" charset="-122"/>
                <a:cs typeface="Times New Roman" panose="02020603050405020304" pitchFamily="18" charset="0"/>
              </a:rPr>
              <a:t>再重复第二步，寻找</a:t>
            </a:r>
            <a:r>
              <a:rPr lang="en-US" altLang="zh-CN" kern="100" dirty="0">
                <a:latin typeface="Calibri" panose="020F0502020204030204" pitchFamily="34" charset="0"/>
                <a:ea typeface="宋体" panose="02010600030101010101" pitchFamily="2" charset="-122"/>
                <a:cs typeface="Times New Roman" panose="02020603050405020304" pitchFamily="18" charset="0"/>
              </a:rPr>
              <a:t>01</a:t>
            </a:r>
            <a:r>
              <a:rPr lang="zh-CN" altLang="zh-CN" kern="100" dirty="0">
                <a:latin typeface="Calibri" panose="020F0502020204030204" pitchFamily="34" charset="0"/>
                <a:ea typeface="宋体" panose="02010600030101010101" pitchFamily="2" charset="-122"/>
                <a:cs typeface="Times New Roman" panose="02020603050405020304" pitchFamily="18" charset="0"/>
              </a:rPr>
              <a:t>的第二类页面，此时就一定能找到被淘汰的页。</a:t>
            </a:r>
          </a:p>
          <a:p>
            <a:pPr algn="just">
              <a:spcAft>
                <a:spcPts val="0"/>
              </a:spcAft>
            </a:pPr>
            <a:r>
              <a:rPr lang="zh-CN" altLang="zh-CN" kern="100" dirty="0">
                <a:latin typeface="Calibri" panose="020F0502020204030204" pitchFamily="34" charset="0"/>
                <a:ea typeface="宋体" panose="02010600030101010101" pitchFamily="2" charset="-122"/>
                <a:cs typeface="Times New Roman" panose="02020603050405020304" pitchFamily="18" charset="0"/>
              </a:rPr>
              <a:t>总结：先替换（</a:t>
            </a:r>
            <a:r>
              <a:rPr lang="en-US" altLang="zh-CN" kern="100" dirty="0">
                <a:latin typeface="Calibri" panose="020F0502020204030204" pitchFamily="34" charset="0"/>
                <a:ea typeface="宋体" panose="02010600030101010101" pitchFamily="2" charset="-122"/>
                <a:cs typeface="Times New Roman" panose="02020603050405020304" pitchFamily="18" charset="0"/>
              </a:rPr>
              <a:t>0,0</a:t>
            </a:r>
            <a:r>
              <a:rPr lang="zh-CN" altLang="zh-CN" kern="100" dirty="0">
                <a:latin typeface="Calibri" panose="020F0502020204030204" pitchFamily="34" charset="0"/>
                <a:ea typeface="宋体" panose="02010600030101010101" pitchFamily="2" charset="-122"/>
                <a:cs typeface="Times New Roman" panose="02020603050405020304" pitchFamily="18" charset="0"/>
              </a:rPr>
              <a:t>），再替换（</a:t>
            </a:r>
            <a:r>
              <a:rPr lang="en-US" altLang="zh-CN" kern="100" dirty="0">
                <a:latin typeface="Calibri" panose="020F0502020204030204" pitchFamily="34" charset="0"/>
                <a:ea typeface="宋体" panose="02010600030101010101" pitchFamily="2" charset="-122"/>
                <a:cs typeface="Times New Roman" panose="02020603050405020304" pitchFamily="18" charset="0"/>
              </a:rPr>
              <a:t>0,1</a:t>
            </a:r>
            <a:r>
              <a:rPr lang="zh-CN" altLang="zh-CN" kern="100" dirty="0">
                <a:latin typeface="Calibri" panose="020F0502020204030204" pitchFamily="34" charset="0"/>
                <a:ea typeface="宋体" panose="02010600030101010101" pitchFamily="2" charset="-122"/>
                <a:cs typeface="Times New Roman" panose="02020603050405020304" pitchFamily="18" charset="0"/>
              </a:rPr>
              <a:t>），然后是（</a:t>
            </a:r>
            <a:r>
              <a:rPr lang="en-US" altLang="zh-CN" kern="100" dirty="0">
                <a:latin typeface="Calibri" panose="020F0502020204030204" pitchFamily="34" charset="0"/>
                <a:ea typeface="宋体" panose="02010600030101010101" pitchFamily="2" charset="-122"/>
                <a:cs typeface="Times New Roman" panose="02020603050405020304" pitchFamily="18" charset="0"/>
              </a:rPr>
              <a:t>1,0</a:t>
            </a:r>
            <a:r>
              <a:rPr lang="zh-CN" altLang="zh-CN" kern="100" dirty="0">
                <a:latin typeface="Calibri" panose="020F0502020204030204" pitchFamily="34" charset="0"/>
                <a:ea typeface="宋体" panose="02010600030101010101" pitchFamily="2" charset="-122"/>
                <a:cs typeface="Times New Roman" panose="02020603050405020304" pitchFamily="18" charset="0"/>
              </a:rPr>
              <a:t>），最后是（</a:t>
            </a:r>
            <a:r>
              <a:rPr lang="en-US" altLang="zh-CN" kern="100" dirty="0">
                <a:latin typeface="Calibri" panose="020F0502020204030204" pitchFamily="34" charset="0"/>
                <a:ea typeface="宋体" panose="02010600030101010101" pitchFamily="2" charset="-122"/>
                <a:cs typeface="Times New Roman" panose="02020603050405020304" pitchFamily="18" charset="0"/>
              </a:rPr>
              <a:t>1,1</a:t>
            </a:r>
            <a:r>
              <a:rPr lang="zh-CN" altLang="zh-CN" kern="100" dirty="0">
                <a:latin typeface="Calibri" panose="020F0502020204030204" pitchFamily="34"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189544386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46</a:t>
            </a:fld>
            <a:endParaRPr lang="zh-CN" altLang="en-US" sz="1400" b="0">
              <a:latin typeface="Tahoma" panose="020B0604030504040204" pitchFamily="34" charset="0"/>
              <a:ea typeface="宋体" panose="02010600030101010101" pitchFamily="2" charset="-122"/>
            </a:endParaRPr>
          </a:p>
        </p:txBody>
      </p:sp>
      <p:sp>
        <p:nvSpPr>
          <p:cNvPr id="62466"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52227" name="Rectangle 3"/>
          <p:cNvSpPr>
            <a:spLocks noGrp="1" noChangeArrowheads="1"/>
          </p:cNvSpPr>
          <p:nvPr>
            <p:ph idx="1"/>
          </p:nvPr>
        </p:nvSpPr>
        <p:spPr>
          <a:xfrm>
            <a:off x="468313" y="1447800"/>
            <a:ext cx="8167688" cy="4648200"/>
          </a:xfrm>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a:latin typeface="黑体" panose="02010609060101010101" pitchFamily="49" charset="-122"/>
              </a:rPr>
              <a:t>5. </a:t>
            </a:r>
            <a:r>
              <a:rPr lang="zh-CN" altLang="en-US" sz="2400" b="0">
                <a:latin typeface="黑体" panose="02010609060101010101" pitchFamily="49" charset="-122"/>
              </a:rPr>
              <a:t>最不经常使用（</a:t>
            </a:r>
            <a:r>
              <a:rPr lang="en-US" altLang="zh-CN" sz="2400" b="0">
                <a:latin typeface="黑体" panose="02010609060101010101" pitchFamily="49" charset="-122"/>
              </a:rPr>
              <a:t>NFU, Not Frequently Used)</a:t>
            </a:r>
          </a:p>
          <a:p>
            <a:pPr lvl="1" eaLnBrk="1" hangingPunct="1"/>
            <a:r>
              <a:rPr lang="zh-CN" altLang="en-US" b="0">
                <a:latin typeface="黑体" panose="02010609060101010101" pitchFamily="49" charset="-122"/>
              </a:rPr>
              <a:t>淘汰访问次数最少的页面：每页设置一个软件计数器，初值为0。每次时钟中断时，由操作系统对内存中的页进行扫描，把每个页的计数器加</a:t>
            </a:r>
            <a:r>
              <a:rPr lang="en-US" altLang="zh-CN" b="0">
                <a:latin typeface="黑体" panose="02010609060101010101" pitchFamily="49" charset="-122"/>
              </a:rPr>
              <a:t>R（0</a:t>
            </a:r>
            <a:r>
              <a:rPr lang="zh-CN" altLang="en-US" b="0">
                <a:latin typeface="黑体" panose="02010609060101010101" pitchFamily="49" charset="-122"/>
              </a:rPr>
              <a:t>或1）。这样，计数器跟踪各个页被访问的频繁程度，发生缺页中断时，选择计数器值最小的一页淘汰。</a:t>
            </a:r>
          </a:p>
          <a:p>
            <a:pPr lvl="1" eaLnBrk="1" hangingPunct="1"/>
            <a:r>
              <a:rPr lang="zh-CN" altLang="en-US" b="0">
                <a:solidFill>
                  <a:schemeClr val="folHlink"/>
                </a:solidFill>
                <a:latin typeface="黑体" panose="02010609060101010101" pitchFamily="49" charset="-122"/>
              </a:rPr>
              <a:t>老化</a:t>
            </a:r>
            <a:r>
              <a:rPr lang="zh-CN" altLang="en-US" b="0">
                <a:latin typeface="黑体" panose="02010609060101010101" pitchFamily="49" charset="-122"/>
              </a:rPr>
              <a:t>（</a:t>
            </a:r>
            <a:r>
              <a:rPr lang="en-US" altLang="zh-CN" b="0">
                <a:latin typeface="黑体" panose="02010609060101010101" pitchFamily="49" charset="-122"/>
              </a:rPr>
              <a:t>aging）</a:t>
            </a:r>
            <a:r>
              <a:rPr lang="zh-CN" altLang="en-US" b="0">
                <a:latin typeface="黑体" panose="02010609060101010101" pitchFamily="49" charset="-122"/>
              </a:rPr>
              <a:t>算法：计数器在</a:t>
            </a:r>
            <a:r>
              <a:rPr lang="en-US" altLang="zh-CN" b="0">
                <a:latin typeface="黑体" panose="02010609060101010101" pitchFamily="49" charset="-122"/>
              </a:rPr>
              <a:t>R</a:t>
            </a:r>
            <a:r>
              <a:rPr lang="zh-CN" altLang="en-US" b="0">
                <a:latin typeface="黑体" panose="02010609060101010101" pitchFamily="49" charset="-122"/>
              </a:rPr>
              <a:t>位加进来之前右移一位；二是</a:t>
            </a:r>
            <a:r>
              <a:rPr lang="en-US" altLang="zh-CN" b="0">
                <a:latin typeface="黑体" panose="02010609060101010101" pitchFamily="49" charset="-122"/>
              </a:rPr>
              <a:t>R</a:t>
            </a:r>
            <a:r>
              <a:rPr lang="zh-CN" altLang="en-US" b="0">
                <a:latin typeface="黑体" panose="02010609060101010101" pitchFamily="49" charset="-122"/>
              </a:rPr>
              <a:t>位加到计数器的最左端而不是最右端。</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47</a:t>
            </a:fld>
            <a:endParaRPr lang="zh-CN" altLang="en-US" sz="1400" b="0">
              <a:latin typeface="Tahoma" panose="020B0604030504040204" pitchFamily="34" charset="0"/>
              <a:ea typeface="宋体" panose="02010600030101010101" pitchFamily="2" charset="-122"/>
            </a:endParaRPr>
          </a:p>
        </p:txBody>
      </p:sp>
      <p:sp>
        <p:nvSpPr>
          <p:cNvPr id="63490"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53251" name="Rectangle 3"/>
          <p:cNvSpPr>
            <a:spLocks noGrp="1" noChangeArrowheads="1"/>
          </p:cNvSpPr>
          <p:nvPr>
            <p:ph idx="1"/>
          </p:nvPr>
        </p:nvSpPr>
        <p:spPr>
          <a:xfrm>
            <a:off x="723900" y="1395413"/>
            <a:ext cx="7772400" cy="4648200"/>
          </a:xfrm>
        </p:spPr>
        <p:txBody>
          <a:bodyPr vert="horz" wrap="square" lIns="91440" tIns="45720" rIns="91440" bIns="45720" numCol="1" anchor="t" anchorCtr="0" compatLnSpc="1"/>
          <a:lstStyle/>
          <a:p>
            <a:pPr eaLnBrk="1" hangingPunct="1">
              <a:buFont typeface="Wingdings" panose="05000000000000000000" pitchFamily="2" charset="2"/>
              <a:buNone/>
            </a:pPr>
            <a:r>
              <a:rPr lang="zh-CN" altLang="en-US" sz="2400" b="0" dirty="0">
                <a:solidFill>
                  <a:schemeClr val="folHlink"/>
                </a:solidFill>
                <a:latin typeface="黑体" panose="02010609060101010101" pitchFamily="49" charset="-122"/>
              </a:rPr>
              <a:t>老化</a:t>
            </a:r>
            <a:r>
              <a:rPr lang="zh-CN" altLang="en-US" sz="2400" b="0" dirty="0">
                <a:latin typeface="黑体" panose="02010609060101010101" pitchFamily="49" charset="-122"/>
              </a:rPr>
              <a:t>（</a:t>
            </a:r>
            <a:r>
              <a:rPr lang="en-US" altLang="zh-CN" sz="2400" b="0" dirty="0">
                <a:latin typeface="黑体" panose="02010609060101010101" pitchFamily="49" charset="-122"/>
              </a:rPr>
              <a:t>aging）</a:t>
            </a:r>
            <a:r>
              <a:rPr lang="zh-CN" altLang="en-US" sz="2400" b="0" dirty="0">
                <a:latin typeface="黑体" panose="02010609060101010101" pitchFamily="49" charset="-122"/>
              </a:rPr>
              <a:t>算法</a:t>
            </a:r>
            <a:endParaRPr lang="en-US" altLang="zh-CN" sz="2400" b="0" dirty="0">
              <a:latin typeface="黑体" panose="02010609060101010101" pitchFamily="49" charset="-122"/>
            </a:endParaRPr>
          </a:p>
          <a:p>
            <a:pPr eaLnBrk="1" hangingPunct="1">
              <a:buFont typeface="Wingdings" panose="05000000000000000000" pitchFamily="2" charset="2"/>
              <a:buNone/>
            </a:pPr>
            <a:r>
              <a:rPr lang="en-US" altLang="zh-CN" sz="2400" b="0" dirty="0">
                <a:latin typeface="黑体" panose="02010609060101010101" pitchFamily="49" charset="-122"/>
              </a:rPr>
              <a:t>	</a:t>
            </a:r>
            <a:r>
              <a:rPr lang="zh-CN" altLang="en-US" sz="2400" b="0" dirty="0">
                <a:latin typeface="黑体" panose="02010609060101010101" pitchFamily="49" charset="-122"/>
              </a:rPr>
              <a:t>设页0，1，2，3，4，5，</a:t>
            </a:r>
            <a:r>
              <a:rPr lang="en-US" altLang="zh-CN" sz="2400" b="0" dirty="0">
                <a:latin typeface="黑体" panose="02010609060101010101" pitchFamily="49" charset="-122"/>
              </a:rPr>
              <a:t>R</a:t>
            </a:r>
            <a:r>
              <a:rPr lang="zh-CN" altLang="en-US" sz="2400" b="0" dirty="0">
                <a:latin typeface="黑体" panose="02010609060101010101" pitchFamily="49" charset="-122"/>
              </a:rPr>
              <a:t>位值分别是101011，访问了</a:t>
            </a:r>
            <a:r>
              <a:rPr lang="en-US" altLang="zh-CN" sz="2400" b="0" dirty="0">
                <a:latin typeface="黑体" panose="02010609060101010101" pitchFamily="49" charset="-122"/>
              </a:rPr>
              <a:t>0,2,4,5</a:t>
            </a:r>
            <a:r>
              <a:rPr lang="zh-CN" altLang="en-US" sz="2400" b="0" dirty="0">
                <a:latin typeface="黑体" panose="02010609060101010101" pitchFamily="49" charset="-122"/>
              </a:rPr>
              <a:t>页面</a:t>
            </a:r>
          </a:p>
        </p:txBody>
      </p:sp>
      <p:grpSp>
        <p:nvGrpSpPr>
          <p:cNvPr id="2" name="Group 4"/>
          <p:cNvGrpSpPr/>
          <p:nvPr/>
        </p:nvGrpSpPr>
        <p:grpSpPr>
          <a:xfrm>
            <a:off x="14288" y="2708920"/>
            <a:ext cx="1828800" cy="3657600"/>
            <a:chOff x="9" y="1488"/>
            <a:chExt cx="1152" cy="2304"/>
          </a:xfrm>
        </p:grpSpPr>
        <p:sp>
          <p:nvSpPr>
            <p:cNvPr id="63627" name="Rectangle 5"/>
            <p:cNvSpPr/>
            <p:nvPr/>
          </p:nvSpPr>
          <p:spPr>
            <a:xfrm>
              <a:off x="9" y="1488"/>
              <a:ext cx="1104" cy="230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63628" name="Text Box 6"/>
            <p:cNvSpPr txBox="1"/>
            <p:nvPr/>
          </p:nvSpPr>
          <p:spPr>
            <a:xfrm>
              <a:off x="57" y="1536"/>
              <a:ext cx="1104"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1800" b="0">
                  <a:ea typeface="楷体_GB2312" pitchFamily="49" charset="-122"/>
                </a:rPr>
                <a:t>页0到5的</a:t>
              </a:r>
              <a:r>
                <a:rPr lang="en-US" altLang="zh-CN" sz="1800" b="0">
                  <a:ea typeface="楷体_GB2312" pitchFamily="49" charset="-122"/>
                </a:rPr>
                <a:t>R</a:t>
              </a:r>
              <a:r>
                <a:rPr lang="zh-CN" altLang="en-US" sz="1800" b="0">
                  <a:ea typeface="楷体_GB2312" pitchFamily="49" charset="-122"/>
                </a:rPr>
                <a:t>位，时钟周期0</a:t>
              </a:r>
            </a:p>
          </p:txBody>
        </p:sp>
        <p:sp>
          <p:nvSpPr>
            <p:cNvPr id="63629" name="Rectangle 7"/>
            <p:cNvSpPr/>
            <p:nvPr/>
          </p:nvSpPr>
          <p:spPr>
            <a:xfrm>
              <a:off x="825" y="196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630" name="Rectangle 8"/>
            <p:cNvSpPr/>
            <p:nvPr/>
          </p:nvSpPr>
          <p:spPr>
            <a:xfrm>
              <a:off x="681" y="196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631" name="Rectangle 9"/>
            <p:cNvSpPr/>
            <p:nvPr/>
          </p:nvSpPr>
          <p:spPr>
            <a:xfrm>
              <a:off x="537" y="196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632" name="Rectangle 10"/>
            <p:cNvSpPr/>
            <p:nvPr/>
          </p:nvSpPr>
          <p:spPr>
            <a:xfrm>
              <a:off x="393" y="196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633" name="Rectangle 11"/>
            <p:cNvSpPr/>
            <p:nvPr/>
          </p:nvSpPr>
          <p:spPr>
            <a:xfrm>
              <a:off x="249" y="196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634" name="Rectangle 12"/>
            <p:cNvSpPr/>
            <p:nvPr/>
          </p:nvSpPr>
          <p:spPr>
            <a:xfrm>
              <a:off x="105" y="196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635" name="Line 13"/>
            <p:cNvSpPr/>
            <p:nvPr/>
          </p:nvSpPr>
          <p:spPr>
            <a:xfrm>
              <a:off x="105" y="1968"/>
              <a:ext cx="864" cy="0"/>
            </a:xfrm>
            <a:prstGeom prst="line">
              <a:avLst/>
            </a:prstGeom>
            <a:ln w="28575" cap="sq" cmpd="sng">
              <a:solidFill>
                <a:schemeClr val="tx1"/>
              </a:solidFill>
              <a:prstDash val="solid"/>
              <a:miter/>
              <a:headEnd type="none" w="med" len="med"/>
              <a:tailEnd type="none" w="med" len="med"/>
            </a:ln>
          </p:spPr>
        </p:sp>
        <p:sp>
          <p:nvSpPr>
            <p:cNvPr id="63636" name="Line 14"/>
            <p:cNvSpPr/>
            <p:nvPr/>
          </p:nvSpPr>
          <p:spPr>
            <a:xfrm>
              <a:off x="105" y="2192"/>
              <a:ext cx="864" cy="0"/>
            </a:xfrm>
            <a:prstGeom prst="line">
              <a:avLst/>
            </a:prstGeom>
            <a:ln w="28575" cap="sq" cmpd="sng">
              <a:solidFill>
                <a:schemeClr val="tx1"/>
              </a:solidFill>
              <a:prstDash val="solid"/>
              <a:miter/>
              <a:headEnd type="none" w="med" len="med"/>
              <a:tailEnd type="none" w="med" len="med"/>
            </a:ln>
          </p:spPr>
        </p:sp>
        <p:sp>
          <p:nvSpPr>
            <p:cNvPr id="63637" name="Line 15"/>
            <p:cNvSpPr/>
            <p:nvPr/>
          </p:nvSpPr>
          <p:spPr>
            <a:xfrm>
              <a:off x="105" y="1968"/>
              <a:ext cx="0" cy="224"/>
            </a:xfrm>
            <a:prstGeom prst="line">
              <a:avLst/>
            </a:prstGeom>
            <a:ln w="28575" cap="sq" cmpd="sng">
              <a:solidFill>
                <a:schemeClr val="tx1"/>
              </a:solidFill>
              <a:prstDash val="solid"/>
              <a:miter/>
              <a:headEnd type="none" w="med" len="med"/>
              <a:tailEnd type="none" w="med" len="med"/>
            </a:ln>
          </p:spPr>
        </p:sp>
        <p:sp>
          <p:nvSpPr>
            <p:cNvPr id="63638" name="Line 16"/>
            <p:cNvSpPr/>
            <p:nvPr/>
          </p:nvSpPr>
          <p:spPr>
            <a:xfrm>
              <a:off x="249" y="1968"/>
              <a:ext cx="0" cy="224"/>
            </a:xfrm>
            <a:prstGeom prst="line">
              <a:avLst/>
            </a:prstGeom>
            <a:ln w="12700" cap="flat" cmpd="sng">
              <a:solidFill>
                <a:schemeClr val="tx1"/>
              </a:solidFill>
              <a:prstDash val="solid"/>
              <a:miter/>
              <a:headEnd type="none" w="med" len="med"/>
              <a:tailEnd type="none" w="med" len="med"/>
            </a:ln>
          </p:spPr>
        </p:sp>
        <p:sp>
          <p:nvSpPr>
            <p:cNvPr id="63639" name="Line 17"/>
            <p:cNvSpPr/>
            <p:nvPr/>
          </p:nvSpPr>
          <p:spPr>
            <a:xfrm>
              <a:off x="393" y="1968"/>
              <a:ext cx="0" cy="224"/>
            </a:xfrm>
            <a:prstGeom prst="line">
              <a:avLst/>
            </a:prstGeom>
            <a:ln w="12700" cap="flat" cmpd="sng">
              <a:solidFill>
                <a:schemeClr val="tx1"/>
              </a:solidFill>
              <a:prstDash val="solid"/>
              <a:miter/>
              <a:headEnd type="none" w="med" len="med"/>
              <a:tailEnd type="none" w="med" len="med"/>
            </a:ln>
          </p:spPr>
        </p:sp>
        <p:sp>
          <p:nvSpPr>
            <p:cNvPr id="63640" name="Line 18"/>
            <p:cNvSpPr/>
            <p:nvPr/>
          </p:nvSpPr>
          <p:spPr>
            <a:xfrm>
              <a:off x="537" y="1968"/>
              <a:ext cx="0" cy="224"/>
            </a:xfrm>
            <a:prstGeom prst="line">
              <a:avLst/>
            </a:prstGeom>
            <a:ln w="12700" cap="flat" cmpd="sng">
              <a:solidFill>
                <a:schemeClr val="tx1"/>
              </a:solidFill>
              <a:prstDash val="solid"/>
              <a:miter/>
              <a:headEnd type="none" w="med" len="med"/>
              <a:tailEnd type="none" w="med" len="med"/>
            </a:ln>
          </p:spPr>
        </p:sp>
        <p:sp>
          <p:nvSpPr>
            <p:cNvPr id="63641" name="Line 19"/>
            <p:cNvSpPr/>
            <p:nvPr/>
          </p:nvSpPr>
          <p:spPr>
            <a:xfrm>
              <a:off x="681" y="1968"/>
              <a:ext cx="0" cy="224"/>
            </a:xfrm>
            <a:prstGeom prst="line">
              <a:avLst/>
            </a:prstGeom>
            <a:ln w="12700" cap="flat" cmpd="sng">
              <a:solidFill>
                <a:schemeClr val="tx1"/>
              </a:solidFill>
              <a:prstDash val="solid"/>
              <a:miter/>
              <a:headEnd type="none" w="med" len="med"/>
              <a:tailEnd type="none" w="med" len="med"/>
            </a:ln>
          </p:spPr>
        </p:sp>
        <p:sp>
          <p:nvSpPr>
            <p:cNvPr id="63642" name="Line 20"/>
            <p:cNvSpPr/>
            <p:nvPr/>
          </p:nvSpPr>
          <p:spPr>
            <a:xfrm>
              <a:off x="825" y="1968"/>
              <a:ext cx="0" cy="224"/>
            </a:xfrm>
            <a:prstGeom prst="line">
              <a:avLst/>
            </a:prstGeom>
            <a:ln w="12700" cap="flat" cmpd="sng">
              <a:solidFill>
                <a:schemeClr val="tx1"/>
              </a:solidFill>
              <a:prstDash val="solid"/>
              <a:miter/>
              <a:headEnd type="none" w="med" len="med"/>
              <a:tailEnd type="none" w="med" len="med"/>
            </a:ln>
          </p:spPr>
        </p:sp>
        <p:sp>
          <p:nvSpPr>
            <p:cNvPr id="63643" name="Line 21"/>
            <p:cNvSpPr/>
            <p:nvPr/>
          </p:nvSpPr>
          <p:spPr>
            <a:xfrm>
              <a:off x="969" y="1968"/>
              <a:ext cx="0" cy="224"/>
            </a:xfrm>
            <a:prstGeom prst="line">
              <a:avLst/>
            </a:prstGeom>
            <a:ln w="28575" cap="sq" cmpd="sng">
              <a:solidFill>
                <a:schemeClr val="tx1"/>
              </a:solidFill>
              <a:prstDash val="solid"/>
              <a:miter/>
              <a:headEnd type="none" w="med" len="med"/>
              <a:tailEnd type="none" w="med" len="med"/>
            </a:ln>
          </p:spPr>
        </p:sp>
        <p:sp>
          <p:nvSpPr>
            <p:cNvPr id="63644" name="Rectangle 22"/>
            <p:cNvSpPr/>
            <p:nvPr/>
          </p:nvSpPr>
          <p:spPr>
            <a:xfrm>
              <a:off x="153" y="3493"/>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10000000</a:t>
              </a:r>
            </a:p>
          </p:txBody>
        </p:sp>
        <p:sp>
          <p:nvSpPr>
            <p:cNvPr id="63645" name="Rectangle 23"/>
            <p:cNvSpPr/>
            <p:nvPr/>
          </p:nvSpPr>
          <p:spPr>
            <a:xfrm>
              <a:off x="153" y="3242"/>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10000000</a:t>
              </a:r>
            </a:p>
          </p:txBody>
        </p:sp>
        <p:sp>
          <p:nvSpPr>
            <p:cNvPr id="63646" name="Rectangle 24"/>
            <p:cNvSpPr/>
            <p:nvPr/>
          </p:nvSpPr>
          <p:spPr>
            <a:xfrm>
              <a:off x="153" y="2989"/>
              <a:ext cx="720" cy="253"/>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00000000</a:t>
              </a:r>
            </a:p>
          </p:txBody>
        </p:sp>
        <p:sp>
          <p:nvSpPr>
            <p:cNvPr id="63647" name="Rectangle 25"/>
            <p:cNvSpPr/>
            <p:nvPr/>
          </p:nvSpPr>
          <p:spPr>
            <a:xfrm>
              <a:off x="153" y="2737"/>
              <a:ext cx="720" cy="252"/>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10000000</a:t>
              </a:r>
            </a:p>
          </p:txBody>
        </p:sp>
        <p:sp>
          <p:nvSpPr>
            <p:cNvPr id="63648" name="Rectangle 26"/>
            <p:cNvSpPr/>
            <p:nvPr/>
          </p:nvSpPr>
          <p:spPr>
            <a:xfrm>
              <a:off x="153" y="2486"/>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00000000</a:t>
              </a:r>
            </a:p>
          </p:txBody>
        </p:sp>
        <p:sp>
          <p:nvSpPr>
            <p:cNvPr id="63649" name="Rectangle 27"/>
            <p:cNvSpPr/>
            <p:nvPr/>
          </p:nvSpPr>
          <p:spPr>
            <a:xfrm>
              <a:off x="153" y="2256"/>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10000000</a:t>
              </a:r>
            </a:p>
          </p:txBody>
        </p:sp>
        <p:sp>
          <p:nvSpPr>
            <p:cNvPr id="63650" name="Line 28"/>
            <p:cNvSpPr/>
            <p:nvPr/>
          </p:nvSpPr>
          <p:spPr>
            <a:xfrm>
              <a:off x="153" y="2256"/>
              <a:ext cx="720" cy="0"/>
            </a:xfrm>
            <a:prstGeom prst="line">
              <a:avLst/>
            </a:prstGeom>
            <a:ln w="28575" cap="sq" cmpd="sng">
              <a:solidFill>
                <a:schemeClr val="tx1"/>
              </a:solidFill>
              <a:prstDash val="solid"/>
              <a:miter/>
              <a:headEnd type="none" w="med" len="med"/>
              <a:tailEnd type="none" w="med" len="med"/>
            </a:ln>
          </p:spPr>
        </p:sp>
        <p:sp>
          <p:nvSpPr>
            <p:cNvPr id="63651" name="Line 29"/>
            <p:cNvSpPr/>
            <p:nvPr/>
          </p:nvSpPr>
          <p:spPr>
            <a:xfrm>
              <a:off x="153" y="2486"/>
              <a:ext cx="720" cy="0"/>
            </a:xfrm>
            <a:prstGeom prst="line">
              <a:avLst/>
            </a:prstGeom>
            <a:ln w="12700" cap="flat" cmpd="sng">
              <a:solidFill>
                <a:schemeClr val="tx1"/>
              </a:solidFill>
              <a:prstDash val="solid"/>
              <a:miter/>
              <a:headEnd type="none" w="med" len="med"/>
              <a:tailEnd type="none" w="med" len="med"/>
            </a:ln>
          </p:spPr>
        </p:sp>
        <p:sp>
          <p:nvSpPr>
            <p:cNvPr id="63652" name="Line 30"/>
            <p:cNvSpPr/>
            <p:nvPr/>
          </p:nvSpPr>
          <p:spPr>
            <a:xfrm>
              <a:off x="153" y="2737"/>
              <a:ext cx="720" cy="0"/>
            </a:xfrm>
            <a:prstGeom prst="line">
              <a:avLst/>
            </a:prstGeom>
            <a:ln w="12700" cap="flat" cmpd="sng">
              <a:solidFill>
                <a:schemeClr val="tx1"/>
              </a:solidFill>
              <a:prstDash val="solid"/>
              <a:miter/>
              <a:headEnd type="none" w="med" len="med"/>
              <a:tailEnd type="none" w="med" len="med"/>
            </a:ln>
          </p:spPr>
        </p:sp>
        <p:sp>
          <p:nvSpPr>
            <p:cNvPr id="63653" name="Line 31"/>
            <p:cNvSpPr/>
            <p:nvPr/>
          </p:nvSpPr>
          <p:spPr>
            <a:xfrm>
              <a:off x="153" y="2989"/>
              <a:ext cx="720" cy="0"/>
            </a:xfrm>
            <a:prstGeom prst="line">
              <a:avLst/>
            </a:prstGeom>
            <a:ln w="12700" cap="flat" cmpd="sng">
              <a:solidFill>
                <a:schemeClr val="tx1"/>
              </a:solidFill>
              <a:prstDash val="solid"/>
              <a:miter/>
              <a:headEnd type="none" w="med" len="med"/>
              <a:tailEnd type="none" w="med" len="med"/>
            </a:ln>
          </p:spPr>
        </p:sp>
        <p:sp>
          <p:nvSpPr>
            <p:cNvPr id="63654" name="Line 32"/>
            <p:cNvSpPr/>
            <p:nvPr/>
          </p:nvSpPr>
          <p:spPr>
            <a:xfrm>
              <a:off x="153" y="3242"/>
              <a:ext cx="720" cy="0"/>
            </a:xfrm>
            <a:prstGeom prst="line">
              <a:avLst/>
            </a:prstGeom>
            <a:ln w="12700" cap="flat" cmpd="sng">
              <a:solidFill>
                <a:schemeClr val="tx1"/>
              </a:solidFill>
              <a:prstDash val="solid"/>
              <a:miter/>
              <a:headEnd type="none" w="med" len="med"/>
              <a:tailEnd type="none" w="med" len="med"/>
            </a:ln>
          </p:spPr>
        </p:sp>
        <p:sp>
          <p:nvSpPr>
            <p:cNvPr id="63655" name="Line 33"/>
            <p:cNvSpPr/>
            <p:nvPr/>
          </p:nvSpPr>
          <p:spPr>
            <a:xfrm>
              <a:off x="153" y="3493"/>
              <a:ext cx="720" cy="0"/>
            </a:xfrm>
            <a:prstGeom prst="line">
              <a:avLst/>
            </a:prstGeom>
            <a:ln w="12700" cap="flat" cmpd="sng">
              <a:solidFill>
                <a:schemeClr val="tx1"/>
              </a:solidFill>
              <a:prstDash val="solid"/>
              <a:miter/>
              <a:headEnd type="none" w="med" len="med"/>
              <a:tailEnd type="none" w="med" len="med"/>
            </a:ln>
          </p:spPr>
        </p:sp>
        <p:sp>
          <p:nvSpPr>
            <p:cNvPr id="63656" name="Line 34"/>
            <p:cNvSpPr/>
            <p:nvPr/>
          </p:nvSpPr>
          <p:spPr>
            <a:xfrm>
              <a:off x="153" y="3723"/>
              <a:ext cx="720" cy="0"/>
            </a:xfrm>
            <a:prstGeom prst="line">
              <a:avLst/>
            </a:prstGeom>
            <a:ln w="28575" cap="sq" cmpd="sng">
              <a:solidFill>
                <a:schemeClr val="tx1"/>
              </a:solidFill>
              <a:prstDash val="solid"/>
              <a:miter/>
              <a:headEnd type="none" w="med" len="med"/>
              <a:tailEnd type="none" w="med" len="med"/>
            </a:ln>
          </p:spPr>
        </p:sp>
        <p:sp>
          <p:nvSpPr>
            <p:cNvPr id="63657" name="Line 35"/>
            <p:cNvSpPr/>
            <p:nvPr/>
          </p:nvSpPr>
          <p:spPr>
            <a:xfrm>
              <a:off x="153" y="2256"/>
              <a:ext cx="0" cy="1467"/>
            </a:xfrm>
            <a:prstGeom prst="line">
              <a:avLst/>
            </a:prstGeom>
            <a:ln w="28575" cap="sq" cmpd="sng">
              <a:solidFill>
                <a:schemeClr val="tx1"/>
              </a:solidFill>
              <a:prstDash val="solid"/>
              <a:miter/>
              <a:headEnd type="none" w="med" len="med"/>
              <a:tailEnd type="none" w="med" len="med"/>
            </a:ln>
          </p:spPr>
        </p:sp>
        <p:sp>
          <p:nvSpPr>
            <p:cNvPr id="63658" name="Line 36"/>
            <p:cNvSpPr/>
            <p:nvPr/>
          </p:nvSpPr>
          <p:spPr>
            <a:xfrm>
              <a:off x="873" y="2256"/>
              <a:ext cx="0" cy="1467"/>
            </a:xfrm>
            <a:prstGeom prst="line">
              <a:avLst/>
            </a:prstGeom>
            <a:ln w="28575" cap="sq" cmpd="sng">
              <a:solidFill>
                <a:schemeClr val="tx1"/>
              </a:solidFill>
              <a:prstDash val="solid"/>
              <a:miter/>
              <a:headEnd type="none" w="med" len="med"/>
              <a:tailEnd type="none" w="med" len="med"/>
            </a:ln>
          </p:spPr>
        </p:sp>
      </p:grpSp>
      <p:grpSp>
        <p:nvGrpSpPr>
          <p:cNvPr id="3" name="Group 37"/>
          <p:cNvGrpSpPr/>
          <p:nvPr/>
        </p:nvGrpSpPr>
        <p:grpSpPr>
          <a:xfrm>
            <a:off x="1800225" y="2708920"/>
            <a:ext cx="1828800" cy="3657600"/>
            <a:chOff x="1134" y="1488"/>
            <a:chExt cx="1152" cy="2304"/>
          </a:xfrm>
        </p:grpSpPr>
        <p:sp>
          <p:nvSpPr>
            <p:cNvPr id="63595" name="Rectangle 38"/>
            <p:cNvSpPr/>
            <p:nvPr/>
          </p:nvSpPr>
          <p:spPr>
            <a:xfrm>
              <a:off x="1134" y="1488"/>
              <a:ext cx="1104" cy="230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63596" name="Text Box 39"/>
            <p:cNvSpPr txBox="1"/>
            <p:nvPr/>
          </p:nvSpPr>
          <p:spPr>
            <a:xfrm>
              <a:off x="1182" y="1536"/>
              <a:ext cx="1104"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1800" b="0">
                  <a:ea typeface="楷体_GB2312" pitchFamily="49" charset="-122"/>
                </a:rPr>
                <a:t>页0到5的</a:t>
              </a:r>
              <a:r>
                <a:rPr lang="en-US" altLang="zh-CN" sz="1800" b="0">
                  <a:ea typeface="楷体_GB2312" pitchFamily="49" charset="-122"/>
                </a:rPr>
                <a:t>R</a:t>
              </a:r>
              <a:r>
                <a:rPr lang="zh-CN" altLang="en-US" sz="1800" b="0">
                  <a:ea typeface="楷体_GB2312" pitchFamily="49" charset="-122"/>
                </a:rPr>
                <a:t>位，时钟周期1</a:t>
              </a:r>
            </a:p>
          </p:txBody>
        </p:sp>
        <p:sp>
          <p:nvSpPr>
            <p:cNvPr id="63597" name="Rectangle 40"/>
            <p:cNvSpPr/>
            <p:nvPr/>
          </p:nvSpPr>
          <p:spPr>
            <a:xfrm>
              <a:off x="1950"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598" name="Rectangle 41"/>
            <p:cNvSpPr/>
            <p:nvPr/>
          </p:nvSpPr>
          <p:spPr>
            <a:xfrm>
              <a:off x="1806"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599" name="Rectangle 42"/>
            <p:cNvSpPr/>
            <p:nvPr/>
          </p:nvSpPr>
          <p:spPr>
            <a:xfrm>
              <a:off x="1662"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600" name="Rectangle 43"/>
            <p:cNvSpPr/>
            <p:nvPr/>
          </p:nvSpPr>
          <p:spPr>
            <a:xfrm>
              <a:off x="1518"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601" name="Rectangle 44"/>
            <p:cNvSpPr/>
            <p:nvPr/>
          </p:nvSpPr>
          <p:spPr>
            <a:xfrm>
              <a:off x="1374"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602" name="Rectangle 45"/>
            <p:cNvSpPr/>
            <p:nvPr/>
          </p:nvSpPr>
          <p:spPr>
            <a:xfrm>
              <a:off x="1230"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603" name="Line 46"/>
            <p:cNvSpPr/>
            <p:nvPr/>
          </p:nvSpPr>
          <p:spPr>
            <a:xfrm>
              <a:off x="1230" y="1978"/>
              <a:ext cx="864" cy="0"/>
            </a:xfrm>
            <a:prstGeom prst="line">
              <a:avLst/>
            </a:prstGeom>
            <a:ln w="28575" cap="sq" cmpd="sng">
              <a:solidFill>
                <a:schemeClr val="tx1"/>
              </a:solidFill>
              <a:prstDash val="solid"/>
              <a:miter/>
              <a:headEnd type="none" w="med" len="med"/>
              <a:tailEnd type="none" w="med" len="med"/>
            </a:ln>
          </p:spPr>
        </p:sp>
        <p:sp>
          <p:nvSpPr>
            <p:cNvPr id="63604" name="Line 47"/>
            <p:cNvSpPr/>
            <p:nvPr/>
          </p:nvSpPr>
          <p:spPr>
            <a:xfrm>
              <a:off x="1230" y="2202"/>
              <a:ext cx="864" cy="0"/>
            </a:xfrm>
            <a:prstGeom prst="line">
              <a:avLst/>
            </a:prstGeom>
            <a:ln w="28575" cap="sq" cmpd="sng">
              <a:solidFill>
                <a:schemeClr val="tx1"/>
              </a:solidFill>
              <a:prstDash val="solid"/>
              <a:miter/>
              <a:headEnd type="none" w="med" len="med"/>
              <a:tailEnd type="none" w="med" len="med"/>
            </a:ln>
          </p:spPr>
        </p:sp>
        <p:sp>
          <p:nvSpPr>
            <p:cNvPr id="63605" name="Line 48"/>
            <p:cNvSpPr/>
            <p:nvPr/>
          </p:nvSpPr>
          <p:spPr>
            <a:xfrm>
              <a:off x="1230" y="1978"/>
              <a:ext cx="0" cy="224"/>
            </a:xfrm>
            <a:prstGeom prst="line">
              <a:avLst/>
            </a:prstGeom>
            <a:ln w="28575" cap="sq" cmpd="sng">
              <a:solidFill>
                <a:schemeClr val="tx1"/>
              </a:solidFill>
              <a:prstDash val="solid"/>
              <a:miter/>
              <a:headEnd type="none" w="med" len="med"/>
              <a:tailEnd type="none" w="med" len="med"/>
            </a:ln>
          </p:spPr>
        </p:sp>
        <p:sp>
          <p:nvSpPr>
            <p:cNvPr id="63606" name="Line 49"/>
            <p:cNvSpPr/>
            <p:nvPr/>
          </p:nvSpPr>
          <p:spPr>
            <a:xfrm>
              <a:off x="1374" y="1978"/>
              <a:ext cx="0" cy="224"/>
            </a:xfrm>
            <a:prstGeom prst="line">
              <a:avLst/>
            </a:prstGeom>
            <a:ln w="12700" cap="flat" cmpd="sng">
              <a:solidFill>
                <a:schemeClr val="tx1"/>
              </a:solidFill>
              <a:prstDash val="solid"/>
              <a:miter/>
              <a:headEnd type="none" w="med" len="med"/>
              <a:tailEnd type="none" w="med" len="med"/>
            </a:ln>
          </p:spPr>
        </p:sp>
        <p:sp>
          <p:nvSpPr>
            <p:cNvPr id="63607" name="Line 50"/>
            <p:cNvSpPr/>
            <p:nvPr/>
          </p:nvSpPr>
          <p:spPr>
            <a:xfrm>
              <a:off x="1518" y="1978"/>
              <a:ext cx="0" cy="224"/>
            </a:xfrm>
            <a:prstGeom prst="line">
              <a:avLst/>
            </a:prstGeom>
            <a:ln w="12700" cap="flat" cmpd="sng">
              <a:solidFill>
                <a:schemeClr val="tx1"/>
              </a:solidFill>
              <a:prstDash val="solid"/>
              <a:miter/>
              <a:headEnd type="none" w="med" len="med"/>
              <a:tailEnd type="none" w="med" len="med"/>
            </a:ln>
          </p:spPr>
        </p:sp>
        <p:sp>
          <p:nvSpPr>
            <p:cNvPr id="63608" name="Line 51"/>
            <p:cNvSpPr/>
            <p:nvPr/>
          </p:nvSpPr>
          <p:spPr>
            <a:xfrm>
              <a:off x="1662" y="1978"/>
              <a:ext cx="0" cy="224"/>
            </a:xfrm>
            <a:prstGeom prst="line">
              <a:avLst/>
            </a:prstGeom>
            <a:ln w="12700" cap="flat" cmpd="sng">
              <a:solidFill>
                <a:schemeClr val="tx1"/>
              </a:solidFill>
              <a:prstDash val="solid"/>
              <a:miter/>
              <a:headEnd type="none" w="med" len="med"/>
              <a:tailEnd type="none" w="med" len="med"/>
            </a:ln>
          </p:spPr>
        </p:sp>
        <p:sp>
          <p:nvSpPr>
            <p:cNvPr id="63609" name="Line 52"/>
            <p:cNvSpPr/>
            <p:nvPr/>
          </p:nvSpPr>
          <p:spPr>
            <a:xfrm>
              <a:off x="1806" y="1978"/>
              <a:ext cx="0" cy="224"/>
            </a:xfrm>
            <a:prstGeom prst="line">
              <a:avLst/>
            </a:prstGeom>
            <a:ln w="12700" cap="flat" cmpd="sng">
              <a:solidFill>
                <a:schemeClr val="tx1"/>
              </a:solidFill>
              <a:prstDash val="solid"/>
              <a:miter/>
              <a:headEnd type="none" w="med" len="med"/>
              <a:tailEnd type="none" w="med" len="med"/>
            </a:ln>
          </p:spPr>
        </p:sp>
        <p:sp>
          <p:nvSpPr>
            <p:cNvPr id="63610" name="Line 53"/>
            <p:cNvSpPr/>
            <p:nvPr/>
          </p:nvSpPr>
          <p:spPr>
            <a:xfrm>
              <a:off x="1950" y="1978"/>
              <a:ext cx="0" cy="224"/>
            </a:xfrm>
            <a:prstGeom prst="line">
              <a:avLst/>
            </a:prstGeom>
            <a:ln w="12700" cap="flat" cmpd="sng">
              <a:solidFill>
                <a:schemeClr val="tx1"/>
              </a:solidFill>
              <a:prstDash val="solid"/>
              <a:miter/>
              <a:headEnd type="none" w="med" len="med"/>
              <a:tailEnd type="none" w="med" len="med"/>
            </a:ln>
          </p:spPr>
        </p:sp>
        <p:sp>
          <p:nvSpPr>
            <p:cNvPr id="63611" name="Line 54"/>
            <p:cNvSpPr/>
            <p:nvPr/>
          </p:nvSpPr>
          <p:spPr>
            <a:xfrm>
              <a:off x="2094" y="1978"/>
              <a:ext cx="0" cy="224"/>
            </a:xfrm>
            <a:prstGeom prst="line">
              <a:avLst/>
            </a:prstGeom>
            <a:ln w="28575" cap="sq" cmpd="sng">
              <a:solidFill>
                <a:schemeClr val="tx1"/>
              </a:solidFill>
              <a:prstDash val="solid"/>
              <a:miter/>
              <a:headEnd type="none" w="med" len="med"/>
              <a:tailEnd type="none" w="med" len="med"/>
            </a:ln>
          </p:spPr>
        </p:sp>
        <p:sp>
          <p:nvSpPr>
            <p:cNvPr id="63612" name="Rectangle 55"/>
            <p:cNvSpPr/>
            <p:nvPr/>
          </p:nvSpPr>
          <p:spPr>
            <a:xfrm>
              <a:off x="1278" y="3493"/>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01000000</a:t>
              </a:r>
            </a:p>
          </p:txBody>
        </p:sp>
        <p:sp>
          <p:nvSpPr>
            <p:cNvPr id="63613" name="Rectangle 56"/>
            <p:cNvSpPr/>
            <p:nvPr/>
          </p:nvSpPr>
          <p:spPr>
            <a:xfrm>
              <a:off x="1278" y="3242"/>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11000000</a:t>
              </a:r>
            </a:p>
          </p:txBody>
        </p:sp>
        <p:sp>
          <p:nvSpPr>
            <p:cNvPr id="63614" name="Rectangle 57"/>
            <p:cNvSpPr/>
            <p:nvPr/>
          </p:nvSpPr>
          <p:spPr>
            <a:xfrm>
              <a:off x="1278" y="2989"/>
              <a:ext cx="720" cy="253"/>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00000000</a:t>
              </a:r>
            </a:p>
          </p:txBody>
        </p:sp>
        <p:sp>
          <p:nvSpPr>
            <p:cNvPr id="63615" name="Rectangle 58"/>
            <p:cNvSpPr/>
            <p:nvPr/>
          </p:nvSpPr>
          <p:spPr>
            <a:xfrm>
              <a:off x="1278" y="2737"/>
              <a:ext cx="720" cy="252"/>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01000000</a:t>
              </a:r>
            </a:p>
          </p:txBody>
        </p:sp>
        <p:sp>
          <p:nvSpPr>
            <p:cNvPr id="63616" name="Rectangle 59"/>
            <p:cNvSpPr/>
            <p:nvPr/>
          </p:nvSpPr>
          <p:spPr>
            <a:xfrm>
              <a:off x="1278" y="2486"/>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10000000</a:t>
              </a:r>
            </a:p>
          </p:txBody>
        </p:sp>
        <p:sp>
          <p:nvSpPr>
            <p:cNvPr id="63617" name="Rectangle 60"/>
            <p:cNvSpPr/>
            <p:nvPr/>
          </p:nvSpPr>
          <p:spPr>
            <a:xfrm>
              <a:off x="1278" y="2256"/>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11000000</a:t>
              </a:r>
            </a:p>
          </p:txBody>
        </p:sp>
        <p:sp>
          <p:nvSpPr>
            <p:cNvPr id="63618" name="Line 61"/>
            <p:cNvSpPr/>
            <p:nvPr/>
          </p:nvSpPr>
          <p:spPr>
            <a:xfrm>
              <a:off x="1278" y="2256"/>
              <a:ext cx="720" cy="0"/>
            </a:xfrm>
            <a:prstGeom prst="line">
              <a:avLst/>
            </a:prstGeom>
            <a:ln w="28575" cap="sq" cmpd="sng">
              <a:solidFill>
                <a:schemeClr val="tx1"/>
              </a:solidFill>
              <a:prstDash val="solid"/>
              <a:miter/>
              <a:headEnd type="none" w="med" len="med"/>
              <a:tailEnd type="none" w="med" len="med"/>
            </a:ln>
          </p:spPr>
        </p:sp>
        <p:sp>
          <p:nvSpPr>
            <p:cNvPr id="63619" name="Line 62"/>
            <p:cNvSpPr/>
            <p:nvPr/>
          </p:nvSpPr>
          <p:spPr>
            <a:xfrm>
              <a:off x="1278" y="2486"/>
              <a:ext cx="720" cy="0"/>
            </a:xfrm>
            <a:prstGeom prst="line">
              <a:avLst/>
            </a:prstGeom>
            <a:ln w="12700" cap="flat" cmpd="sng">
              <a:solidFill>
                <a:schemeClr val="tx1"/>
              </a:solidFill>
              <a:prstDash val="solid"/>
              <a:miter/>
              <a:headEnd type="none" w="med" len="med"/>
              <a:tailEnd type="none" w="med" len="med"/>
            </a:ln>
          </p:spPr>
        </p:sp>
        <p:sp>
          <p:nvSpPr>
            <p:cNvPr id="63620" name="Line 63"/>
            <p:cNvSpPr/>
            <p:nvPr/>
          </p:nvSpPr>
          <p:spPr>
            <a:xfrm>
              <a:off x="1278" y="2737"/>
              <a:ext cx="720" cy="0"/>
            </a:xfrm>
            <a:prstGeom prst="line">
              <a:avLst/>
            </a:prstGeom>
            <a:ln w="12700" cap="flat" cmpd="sng">
              <a:solidFill>
                <a:schemeClr val="tx1"/>
              </a:solidFill>
              <a:prstDash val="solid"/>
              <a:miter/>
              <a:headEnd type="none" w="med" len="med"/>
              <a:tailEnd type="none" w="med" len="med"/>
            </a:ln>
          </p:spPr>
        </p:sp>
        <p:sp>
          <p:nvSpPr>
            <p:cNvPr id="63621" name="Line 64"/>
            <p:cNvSpPr/>
            <p:nvPr/>
          </p:nvSpPr>
          <p:spPr>
            <a:xfrm>
              <a:off x="1278" y="2989"/>
              <a:ext cx="720" cy="0"/>
            </a:xfrm>
            <a:prstGeom prst="line">
              <a:avLst/>
            </a:prstGeom>
            <a:ln w="12700" cap="flat" cmpd="sng">
              <a:solidFill>
                <a:schemeClr val="tx1"/>
              </a:solidFill>
              <a:prstDash val="solid"/>
              <a:miter/>
              <a:headEnd type="none" w="med" len="med"/>
              <a:tailEnd type="none" w="med" len="med"/>
            </a:ln>
          </p:spPr>
        </p:sp>
        <p:sp>
          <p:nvSpPr>
            <p:cNvPr id="63622" name="Line 65"/>
            <p:cNvSpPr/>
            <p:nvPr/>
          </p:nvSpPr>
          <p:spPr>
            <a:xfrm>
              <a:off x="1278" y="3242"/>
              <a:ext cx="720" cy="0"/>
            </a:xfrm>
            <a:prstGeom prst="line">
              <a:avLst/>
            </a:prstGeom>
            <a:ln w="12700" cap="flat" cmpd="sng">
              <a:solidFill>
                <a:schemeClr val="tx1"/>
              </a:solidFill>
              <a:prstDash val="solid"/>
              <a:miter/>
              <a:headEnd type="none" w="med" len="med"/>
              <a:tailEnd type="none" w="med" len="med"/>
            </a:ln>
          </p:spPr>
        </p:sp>
        <p:sp>
          <p:nvSpPr>
            <p:cNvPr id="63623" name="Line 66"/>
            <p:cNvSpPr/>
            <p:nvPr/>
          </p:nvSpPr>
          <p:spPr>
            <a:xfrm>
              <a:off x="1278" y="3493"/>
              <a:ext cx="720" cy="0"/>
            </a:xfrm>
            <a:prstGeom prst="line">
              <a:avLst/>
            </a:prstGeom>
            <a:ln w="12700" cap="flat" cmpd="sng">
              <a:solidFill>
                <a:schemeClr val="tx1"/>
              </a:solidFill>
              <a:prstDash val="solid"/>
              <a:miter/>
              <a:headEnd type="none" w="med" len="med"/>
              <a:tailEnd type="none" w="med" len="med"/>
            </a:ln>
          </p:spPr>
        </p:sp>
        <p:sp>
          <p:nvSpPr>
            <p:cNvPr id="63624" name="Line 67"/>
            <p:cNvSpPr/>
            <p:nvPr/>
          </p:nvSpPr>
          <p:spPr>
            <a:xfrm>
              <a:off x="1278" y="3723"/>
              <a:ext cx="720" cy="0"/>
            </a:xfrm>
            <a:prstGeom prst="line">
              <a:avLst/>
            </a:prstGeom>
            <a:ln w="28575" cap="sq" cmpd="sng">
              <a:solidFill>
                <a:schemeClr val="tx1"/>
              </a:solidFill>
              <a:prstDash val="solid"/>
              <a:miter/>
              <a:headEnd type="none" w="med" len="med"/>
              <a:tailEnd type="none" w="med" len="med"/>
            </a:ln>
          </p:spPr>
        </p:sp>
        <p:sp>
          <p:nvSpPr>
            <p:cNvPr id="63625" name="Line 68"/>
            <p:cNvSpPr/>
            <p:nvPr/>
          </p:nvSpPr>
          <p:spPr>
            <a:xfrm>
              <a:off x="1278" y="2256"/>
              <a:ext cx="0" cy="1467"/>
            </a:xfrm>
            <a:prstGeom prst="line">
              <a:avLst/>
            </a:prstGeom>
            <a:ln w="28575" cap="sq" cmpd="sng">
              <a:solidFill>
                <a:schemeClr val="tx1"/>
              </a:solidFill>
              <a:prstDash val="solid"/>
              <a:miter/>
              <a:headEnd type="none" w="med" len="med"/>
              <a:tailEnd type="none" w="med" len="med"/>
            </a:ln>
          </p:spPr>
        </p:sp>
        <p:sp>
          <p:nvSpPr>
            <p:cNvPr id="63626" name="Line 69"/>
            <p:cNvSpPr/>
            <p:nvPr/>
          </p:nvSpPr>
          <p:spPr>
            <a:xfrm>
              <a:off x="1998" y="2256"/>
              <a:ext cx="0" cy="1467"/>
            </a:xfrm>
            <a:prstGeom prst="line">
              <a:avLst/>
            </a:prstGeom>
            <a:ln w="28575" cap="sq" cmpd="sng">
              <a:solidFill>
                <a:schemeClr val="tx1"/>
              </a:solidFill>
              <a:prstDash val="solid"/>
              <a:miter/>
              <a:headEnd type="none" w="med" len="med"/>
              <a:tailEnd type="none" w="med" len="med"/>
            </a:ln>
          </p:spPr>
        </p:sp>
      </p:grpSp>
      <p:grpSp>
        <p:nvGrpSpPr>
          <p:cNvPr id="4" name="Group 70"/>
          <p:cNvGrpSpPr/>
          <p:nvPr/>
        </p:nvGrpSpPr>
        <p:grpSpPr>
          <a:xfrm>
            <a:off x="3595688" y="2708920"/>
            <a:ext cx="1828800" cy="3657600"/>
            <a:chOff x="2265" y="1488"/>
            <a:chExt cx="1152" cy="2304"/>
          </a:xfrm>
        </p:grpSpPr>
        <p:sp>
          <p:nvSpPr>
            <p:cNvPr id="63563" name="Rectangle 71"/>
            <p:cNvSpPr/>
            <p:nvPr/>
          </p:nvSpPr>
          <p:spPr>
            <a:xfrm>
              <a:off x="2265" y="1488"/>
              <a:ext cx="1104" cy="230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63564" name="Text Box 72"/>
            <p:cNvSpPr txBox="1"/>
            <p:nvPr/>
          </p:nvSpPr>
          <p:spPr>
            <a:xfrm>
              <a:off x="2313" y="1536"/>
              <a:ext cx="1104"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1800" b="0">
                  <a:ea typeface="楷体_GB2312" pitchFamily="49" charset="-122"/>
                </a:rPr>
                <a:t>页0到5的</a:t>
              </a:r>
              <a:r>
                <a:rPr lang="en-US" altLang="zh-CN" sz="1800" b="0">
                  <a:ea typeface="楷体_GB2312" pitchFamily="49" charset="-122"/>
                </a:rPr>
                <a:t>R</a:t>
              </a:r>
              <a:r>
                <a:rPr lang="zh-CN" altLang="en-US" sz="1800" b="0">
                  <a:ea typeface="楷体_GB2312" pitchFamily="49" charset="-122"/>
                </a:rPr>
                <a:t>位，时钟周期2</a:t>
              </a:r>
            </a:p>
          </p:txBody>
        </p:sp>
        <p:sp>
          <p:nvSpPr>
            <p:cNvPr id="63565" name="Rectangle 73"/>
            <p:cNvSpPr/>
            <p:nvPr/>
          </p:nvSpPr>
          <p:spPr>
            <a:xfrm>
              <a:off x="3081"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566" name="Rectangle 74"/>
            <p:cNvSpPr/>
            <p:nvPr/>
          </p:nvSpPr>
          <p:spPr>
            <a:xfrm>
              <a:off x="2937"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567" name="Rectangle 75"/>
            <p:cNvSpPr/>
            <p:nvPr/>
          </p:nvSpPr>
          <p:spPr>
            <a:xfrm>
              <a:off x="2793"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568" name="Rectangle 76"/>
            <p:cNvSpPr/>
            <p:nvPr/>
          </p:nvSpPr>
          <p:spPr>
            <a:xfrm>
              <a:off x="2649"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569" name="Rectangle 77"/>
            <p:cNvSpPr/>
            <p:nvPr/>
          </p:nvSpPr>
          <p:spPr>
            <a:xfrm>
              <a:off x="2505"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570" name="Rectangle 78"/>
            <p:cNvSpPr/>
            <p:nvPr/>
          </p:nvSpPr>
          <p:spPr>
            <a:xfrm>
              <a:off x="2361"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571" name="Line 79"/>
            <p:cNvSpPr/>
            <p:nvPr/>
          </p:nvSpPr>
          <p:spPr>
            <a:xfrm>
              <a:off x="2361" y="1978"/>
              <a:ext cx="864" cy="0"/>
            </a:xfrm>
            <a:prstGeom prst="line">
              <a:avLst/>
            </a:prstGeom>
            <a:ln w="28575" cap="sq" cmpd="sng">
              <a:solidFill>
                <a:schemeClr val="tx1"/>
              </a:solidFill>
              <a:prstDash val="solid"/>
              <a:miter/>
              <a:headEnd type="none" w="med" len="med"/>
              <a:tailEnd type="none" w="med" len="med"/>
            </a:ln>
          </p:spPr>
        </p:sp>
        <p:sp>
          <p:nvSpPr>
            <p:cNvPr id="63572" name="Line 80"/>
            <p:cNvSpPr/>
            <p:nvPr/>
          </p:nvSpPr>
          <p:spPr>
            <a:xfrm>
              <a:off x="2361" y="2202"/>
              <a:ext cx="864" cy="0"/>
            </a:xfrm>
            <a:prstGeom prst="line">
              <a:avLst/>
            </a:prstGeom>
            <a:ln w="28575" cap="sq" cmpd="sng">
              <a:solidFill>
                <a:schemeClr val="tx1"/>
              </a:solidFill>
              <a:prstDash val="solid"/>
              <a:miter/>
              <a:headEnd type="none" w="med" len="med"/>
              <a:tailEnd type="none" w="med" len="med"/>
            </a:ln>
          </p:spPr>
        </p:sp>
        <p:sp>
          <p:nvSpPr>
            <p:cNvPr id="63573" name="Line 81"/>
            <p:cNvSpPr/>
            <p:nvPr/>
          </p:nvSpPr>
          <p:spPr>
            <a:xfrm>
              <a:off x="2361" y="1978"/>
              <a:ext cx="0" cy="224"/>
            </a:xfrm>
            <a:prstGeom prst="line">
              <a:avLst/>
            </a:prstGeom>
            <a:ln w="28575" cap="sq" cmpd="sng">
              <a:solidFill>
                <a:schemeClr val="tx1"/>
              </a:solidFill>
              <a:prstDash val="solid"/>
              <a:miter/>
              <a:headEnd type="none" w="med" len="med"/>
              <a:tailEnd type="none" w="med" len="med"/>
            </a:ln>
          </p:spPr>
        </p:sp>
        <p:sp>
          <p:nvSpPr>
            <p:cNvPr id="63574" name="Line 82"/>
            <p:cNvSpPr/>
            <p:nvPr/>
          </p:nvSpPr>
          <p:spPr>
            <a:xfrm>
              <a:off x="2505" y="1978"/>
              <a:ext cx="0" cy="224"/>
            </a:xfrm>
            <a:prstGeom prst="line">
              <a:avLst/>
            </a:prstGeom>
            <a:ln w="12700" cap="flat" cmpd="sng">
              <a:solidFill>
                <a:schemeClr val="tx1"/>
              </a:solidFill>
              <a:prstDash val="solid"/>
              <a:miter/>
              <a:headEnd type="none" w="med" len="med"/>
              <a:tailEnd type="none" w="med" len="med"/>
            </a:ln>
          </p:spPr>
        </p:sp>
        <p:sp>
          <p:nvSpPr>
            <p:cNvPr id="63575" name="Line 83"/>
            <p:cNvSpPr/>
            <p:nvPr/>
          </p:nvSpPr>
          <p:spPr>
            <a:xfrm>
              <a:off x="2649" y="1978"/>
              <a:ext cx="0" cy="224"/>
            </a:xfrm>
            <a:prstGeom prst="line">
              <a:avLst/>
            </a:prstGeom>
            <a:ln w="12700" cap="flat" cmpd="sng">
              <a:solidFill>
                <a:schemeClr val="tx1"/>
              </a:solidFill>
              <a:prstDash val="solid"/>
              <a:miter/>
              <a:headEnd type="none" w="med" len="med"/>
              <a:tailEnd type="none" w="med" len="med"/>
            </a:ln>
          </p:spPr>
        </p:sp>
        <p:sp>
          <p:nvSpPr>
            <p:cNvPr id="63576" name="Line 84"/>
            <p:cNvSpPr/>
            <p:nvPr/>
          </p:nvSpPr>
          <p:spPr>
            <a:xfrm>
              <a:off x="2793" y="1978"/>
              <a:ext cx="0" cy="224"/>
            </a:xfrm>
            <a:prstGeom prst="line">
              <a:avLst/>
            </a:prstGeom>
            <a:ln w="12700" cap="flat" cmpd="sng">
              <a:solidFill>
                <a:schemeClr val="tx1"/>
              </a:solidFill>
              <a:prstDash val="solid"/>
              <a:miter/>
              <a:headEnd type="none" w="med" len="med"/>
              <a:tailEnd type="none" w="med" len="med"/>
            </a:ln>
          </p:spPr>
        </p:sp>
        <p:sp>
          <p:nvSpPr>
            <p:cNvPr id="63577" name="Line 85"/>
            <p:cNvSpPr/>
            <p:nvPr/>
          </p:nvSpPr>
          <p:spPr>
            <a:xfrm>
              <a:off x="2937" y="1978"/>
              <a:ext cx="0" cy="224"/>
            </a:xfrm>
            <a:prstGeom prst="line">
              <a:avLst/>
            </a:prstGeom>
            <a:ln w="12700" cap="flat" cmpd="sng">
              <a:solidFill>
                <a:schemeClr val="tx1"/>
              </a:solidFill>
              <a:prstDash val="solid"/>
              <a:miter/>
              <a:headEnd type="none" w="med" len="med"/>
              <a:tailEnd type="none" w="med" len="med"/>
            </a:ln>
          </p:spPr>
        </p:sp>
        <p:sp>
          <p:nvSpPr>
            <p:cNvPr id="63578" name="Line 86"/>
            <p:cNvSpPr/>
            <p:nvPr/>
          </p:nvSpPr>
          <p:spPr>
            <a:xfrm>
              <a:off x="3081" y="1978"/>
              <a:ext cx="0" cy="224"/>
            </a:xfrm>
            <a:prstGeom prst="line">
              <a:avLst/>
            </a:prstGeom>
            <a:ln w="12700" cap="flat" cmpd="sng">
              <a:solidFill>
                <a:schemeClr val="tx1"/>
              </a:solidFill>
              <a:prstDash val="solid"/>
              <a:miter/>
              <a:headEnd type="none" w="med" len="med"/>
              <a:tailEnd type="none" w="med" len="med"/>
            </a:ln>
          </p:spPr>
        </p:sp>
        <p:sp>
          <p:nvSpPr>
            <p:cNvPr id="63579" name="Line 87"/>
            <p:cNvSpPr/>
            <p:nvPr/>
          </p:nvSpPr>
          <p:spPr>
            <a:xfrm>
              <a:off x="3225" y="1978"/>
              <a:ext cx="0" cy="224"/>
            </a:xfrm>
            <a:prstGeom prst="line">
              <a:avLst/>
            </a:prstGeom>
            <a:ln w="28575" cap="sq" cmpd="sng">
              <a:solidFill>
                <a:schemeClr val="tx1"/>
              </a:solidFill>
              <a:prstDash val="solid"/>
              <a:miter/>
              <a:headEnd type="none" w="med" len="med"/>
              <a:tailEnd type="none" w="med" len="med"/>
            </a:ln>
          </p:spPr>
        </p:sp>
        <p:sp>
          <p:nvSpPr>
            <p:cNvPr id="63580" name="Rectangle 88"/>
            <p:cNvSpPr/>
            <p:nvPr/>
          </p:nvSpPr>
          <p:spPr>
            <a:xfrm>
              <a:off x="2409" y="3493"/>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10100000</a:t>
              </a:r>
            </a:p>
          </p:txBody>
        </p:sp>
        <p:sp>
          <p:nvSpPr>
            <p:cNvPr id="63581" name="Rectangle 89"/>
            <p:cNvSpPr/>
            <p:nvPr/>
          </p:nvSpPr>
          <p:spPr>
            <a:xfrm>
              <a:off x="2409" y="3242"/>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01100000</a:t>
              </a:r>
            </a:p>
          </p:txBody>
        </p:sp>
        <p:sp>
          <p:nvSpPr>
            <p:cNvPr id="63582" name="Rectangle 90"/>
            <p:cNvSpPr/>
            <p:nvPr/>
          </p:nvSpPr>
          <p:spPr>
            <a:xfrm>
              <a:off x="2409" y="2989"/>
              <a:ext cx="720" cy="253"/>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10000000</a:t>
              </a:r>
            </a:p>
          </p:txBody>
        </p:sp>
        <p:sp>
          <p:nvSpPr>
            <p:cNvPr id="63583" name="Rectangle 91"/>
            <p:cNvSpPr/>
            <p:nvPr/>
          </p:nvSpPr>
          <p:spPr>
            <a:xfrm>
              <a:off x="2409" y="2737"/>
              <a:ext cx="720" cy="252"/>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00100000</a:t>
              </a:r>
            </a:p>
          </p:txBody>
        </p:sp>
        <p:sp>
          <p:nvSpPr>
            <p:cNvPr id="63584" name="Rectangle 92"/>
            <p:cNvSpPr/>
            <p:nvPr/>
          </p:nvSpPr>
          <p:spPr>
            <a:xfrm>
              <a:off x="2409" y="2486"/>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11000000</a:t>
              </a:r>
            </a:p>
          </p:txBody>
        </p:sp>
        <p:sp>
          <p:nvSpPr>
            <p:cNvPr id="63585" name="Rectangle 93"/>
            <p:cNvSpPr/>
            <p:nvPr/>
          </p:nvSpPr>
          <p:spPr>
            <a:xfrm>
              <a:off x="2409" y="2256"/>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11100000</a:t>
              </a:r>
            </a:p>
          </p:txBody>
        </p:sp>
        <p:sp>
          <p:nvSpPr>
            <p:cNvPr id="63586" name="Line 94"/>
            <p:cNvSpPr/>
            <p:nvPr/>
          </p:nvSpPr>
          <p:spPr>
            <a:xfrm>
              <a:off x="2409" y="2256"/>
              <a:ext cx="720" cy="0"/>
            </a:xfrm>
            <a:prstGeom prst="line">
              <a:avLst/>
            </a:prstGeom>
            <a:ln w="28575" cap="sq" cmpd="sng">
              <a:solidFill>
                <a:schemeClr val="tx1"/>
              </a:solidFill>
              <a:prstDash val="solid"/>
              <a:miter/>
              <a:headEnd type="none" w="med" len="med"/>
              <a:tailEnd type="none" w="med" len="med"/>
            </a:ln>
          </p:spPr>
        </p:sp>
        <p:sp>
          <p:nvSpPr>
            <p:cNvPr id="63587" name="Line 95"/>
            <p:cNvSpPr/>
            <p:nvPr/>
          </p:nvSpPr>
          <p:spPr>
            <a:xfrm>
              <a:off x="2409" y="2486"/>
              <a:ext cx="720" cy="0"/>
            </a:xfrm>
            <a:prstGeom prst="line">
              <a:avLst/>
            </a:prstGeom>
            <a:ln w="12700" cap="flat" cmpd="sng">
              <a:solidFill>
                <a:schemeClr val="tx1"/>
              </a:solidFill>
              <a:prstDash val="solid"/>
              <a:miter/>
              <a:headEnd type="none" w="med" len="med"/>
              <a:tailEnd type="none" w="med" len="med"/>
            </a:ln>
          </p:spPr>
        </p:sp>
        <p:sp>
          <p:nvSpPr>
            <p:cNvPr id="63588" name="Line 96"/>
            <p:cNvSpPr/>
            <p:nvPr/>
          </p:nvSpPr>
          <p:spPr>
            <a:xfrm>
              <a:off x="2409" y="2737"/>
              <a:ext cx="720" cy="0"/>
            </a:xfrm>
            <a:prstGeom prst="line">
              <a:avLst/>
            </a:prstGeom>
            <a:ln w="12700" cap="flat" cmpd="sng">
              <a:solidFill>
                <a:schemeClr val="tx1"/>
              </a:solidFill>
              <a:prstDash val="solid"/>
              <a:miter/>
              <a:headEnd type="none" w="med" len="med"/>
              <a:tailEnd type="none" w="med" len="med"/>
            </a:ln>
          </p:spPr>
        </p:sp>
        <p:sp>
          <p:nvSpPr>
            <p:cNvPr id="63589" name="Line 97"/>
            <p:cNvSpPr/>
            <p:nvPr/>
          </p:nvSpPr>
          <p:spPr>
            <a:xfrm>
              <a:off x="2409" y="2989"/>
              <a:ext cx="720" cy="0"/>
            </a:xfrm>
            <a:prstGeom prst="line">
              <a:avLst/>
            </a:prstGeom>
            <a:ln w="12700" cap="flat" cmpd="sng">
              <a:solidFill>
                <a:schemeClr val="tx1"/>
              </a:solidFill>
              <a:prstDash val="solid"/>
              <a:miter/>
              <a:headEnd type="none" w="med" len="med"/>
              <a:tailEnd type="none" w="med" len="med"/>
            </a:ln>
          </p:spPr>
        </p:sp>
        <p:sp>
          <p:nvSpPr>
            <p:cNvPr id="63590" name="Line 98"/>
            <p:cNvSpPr/>
            <p:nvPr/>
          </p:nvSpPr>
          <p:spPr>
            <a:xfrm>
              <a:off x="2409" y="3242"/>
              <a:ext cx="720" cy="0"/>
            </a:xfrm>
            <a:prstGeom prst="line">
              <a:avLst/>
            </a:prstGeom>
            <a:ln w="12700" cap="flat" cmpd="sng">
              <a:solidFill>
                <a:schemeClr val="tx1"/>
              </a:solidFill>
              <a:prstDash val="solid"/>
              <a:miter/>
              <a:headEnd type="none" w="med" len="med"/>
              <a:tailEnd type="none" w="med" len="med"/>
            </a:ln>
          </p:spPr>
        </p:sp>
        <p:sp>
          <p:nvSpPr>
            <p:cNvPr id="63591" name="Line 99"/>
            <p:cNvSpPr/>
            <p:nvPr/>
          </p:nvSpPr>
          <p:spPr>
            <a:xfrm>
              <a:off x="2409" y="3493"/>
              <a:ext cx="720" cy="0"/>
            </a:xfrm>
            <a:prstGeom prst="line">
              <a:avLst/>
            </a:prstGeom>
            <a:ln w="12700" cap="flat" cmpd="sng">
              <a:solidFill>
                <a:schemeClr val="tx1"/>
              </a:solidFill>
              <a:prstDash val="solid"/>
              <a:miter/>
              <a:headEnd type="none" w="med" len="med"/>
              <a:tailEnd type="none" w="med" len="med"/>
            </a:ln>
          </p:spPr>
        </p:sp>
        <p:sp>
          <p:nvSpPr>
            <p:cNvPr id="63592" name="Line 100"/>
            <p:cNvSpPr/>
            <p:nvPr/>
          </p:nvSpPr>
          <p:spPr>
            <a:xfrm>
              <a:off x="2409" y="3723"/>
              <a:ext cx="720" cy="0"/>
            </a:xfrm>
            <a:prstGeom prst="line">
              <a:avLst/>
            </a:prstGeom>
            <a:ln w="28575" cap="sq" cmpd="sng">
              <a:solidFill>
                <a:schemeClr val="tx1"/>
              </a:solidFill>
              <a:prstDash val="solid"/>
              <a:miter/>
              <a:headEnd type="none" w="med" len="med"/>
              <a:tailEnd type="none" w="med" len="med"/>
            </a:ln>
          </p:spPr>
        </p:sp>
        <p:sp>
          <p:nvSpPr>
            <p:cNvPr id="63593" name="Line 101"/>
            <p:cNvSpPr/>
            <p:nvPr/>
          </p:nvSpPr>
          <p:spPr>
            <a:xfrm>
              <a:off x="2409" y="2256"/>
              <a:ext cx="0" cy="1467"/>
            </a:xfrm>
            <a:prstGeom prst="line">
              <a:avLst/>
            </a:prstGeom>
            <a:ln w="28575" cap="sq" cmpd="sng">
              <a:solidFill>
                <a:schemeClr val="tx1"/>
              </a:solidFill>
              <a:prstDash val="solid"/>
              <a:miter/>
              <a:headEnd type="none" w="med" len="med"/>
              <a:tailEnd type="none" w="med" len="med"/>
            </a:ln>
          </p:spPr>
        </p:sp>
        <p:sp>
          <p:nvSpPr>
            <p:cNvPr id="63594" name="Line 102"/>
            <p:cNvSpPr/>
            <p:nvPr/>
          </p:nvSpPr>
          <p:spPr>
            <a:xfrm>
              <a:off x="3129" y="2256"/>
              <a:ext cx="0" cy="1467"/>
            </a:xfrm>
            <a:prstGeom prst="line">
              <a:avLst/>
            </a:prstGeom>
            <a:ln w="28575" cap="sq" cmpd="sng">
              <a:solidFill>
                <a:schemeClr val="tx1"/>
              </a:solidFill>
              <a:prstDash val="solid"/>
              <a:miter/>
              <a:headEnd type="none" w="med" len="med"/>
              <a:tailEnd type="none" w="med" len="med"/>
            </a:ln>
          </p:spPr>
        </p:sp>
      </p:grpSp>
      <p:grpSp>
        <p:nvGrpSpPr>
          <p:cNvPr id="5" name="Group 103"/>
          <p:cNvGrpSpPr/>
          <p:nvPr/>
        </p:nvGrpSpPr>
        <p:grpSpPr>
          <a:xfrm>
            <a:off x="5395913" y="2708920"/>
            <a:ext cx="1828800" cy="3657600"/>
            <a:chOff x="3399" y="1488"/>
            <a:chExt cx="1152" cy="2304"/>
          </a:xfrm>
        </p:grpSpPr>
        <p:sp>
          <p:nvSpPr>
            <p:cNvPr id="63531" name="Rectangle 104"/>
            <p:cNvSpPr/>
            <p:nvPr/>
          </p:nvSpPr>
          <p:spPr>
            <a:xfrm>
              <a:off x="3399" y="1488"/>
              <a:ext cx="1104" cy="230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63532" name="Text Box 105"/>
            <p:cNvSpPr txBox="1"/>
            <p:nvPr/>
          </p:nvSpPr>
          <p:spPr>
            <a:xfrm>
              <a:off x="3447" y="1536"/>
              <a:ext cx="1104"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1800" b="0">
                  <a:ea typeface="楷体_GB2312" pitchFamily="49" charset="-122"/>
                </a:rPr>
                <a:t>页0到5的</a:t>
              </a:r>
              <a:r>
                <a:rPr lang="en-US" altLang="zh-CN" sz="1800" b="0">
                  <a:ea typeface="楷体_GB2312" pitchFamily="49" charset="-122"/>
                </a:rPr>
                <a:t>R</a:t>
              </a:r>
              <a:r>
                <a:rPr lang="zh-CN" altLang="en-US" sz="1800" b="0">
                  <a:ea typeface="楷体_GB2312" pitchFamily="49" charset="-122"/>
                </a:rPr>
                <a:t>位，时钟周期3</a:t>
              </a:r>
            </a:p>
          </p:txBody>
        </p:sp>
        <p:sp>
          <p:nvSpPr>
            <p:cNvPr id="63533" name="Rectangle 106"/>
            <p:cNvSpPr/>
            <p:nvPr/>
          </p:nvSpPr>
          <p:spPr>
            <a:xfrm>
              <a:off x="4215"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534" name="Rectangle 107"/>
            <p:cNvSpPr/>
            <p:nvPr/>
          </p:nvSpPr>
          <p:spPr>
            <a:xfrm>
              <a:off x="4071"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535" name="Rectangle 108"/>
            <p:cNvSpPr/>
            <p:nvPr/>
          </p:nvSpPr>
          <p:spPr>
            <a:xfrm>
              <a:off x="3927"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536" name="Rectangle 109"/>
            <p:cNvSpPr/>
            <p:nvPr/>
          </p:nvSpPr>
          <p:spPr>
            <a:xfrm>
              <a:off x="3783"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537" name="Rectangle 110"/>
            <p:cNvSpPr/>
            <p:nvPr/>
          </p:nvSpPr>
          <p:spPr>
            <a:xfrm>
              <a:off x="3639"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538" name="Rectangle 111"/>
            <p:cNvSpPr/>
            <p:nvPr/>
          </p:nvSpPr>
          <p:spPr>
            <a:xfrm>
              <a:off x="3495"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539" name="Line 112"/>
            <p:cNvSpPr/>
            <p:nvPr/>
          </p:nvSpPr>
          <p:spPr>
            <a:xfrm>
              <a:off x="3495" y="1978"/>
              <a:ext cx="864" cy="0"/>
            </a:xfrm>
            <a:prstGeom prst="line">
              <a:avLst/>
            </a:prstGeom>
            <a:ln w="28575" cap="sq" cmpd="sng">
              <a:solidFill>
                <a:schemeClr val="tx1"/>
              </a:solidFill>
              <a:prstDash val="solid"/>
              <a:miter/>
              <a:headEnd type="none" w="med" len="med"/>
              <a:tailEnd type="none" w="med" len="med"/>
            </a:ln>
          </p:spPr>
        </p:sp>
        <p:sp>
          <p:nvSpPr>
            <p:cNvPr id="63540" name="Line 113"/>
            <p:cNvSpPr/>
            <p:nvPr/>
          </p:nvSpPr>
          <p:spPr>
            <a:xfrm>
              <a:off x="3495" y="2202"/>
              <a:ext cx="864" cy="0"/>
            </a:xfrm>
            <a:prstGeom prst="line">
              <a:avLst/>
            </a:prstGeom>
            <a:ln w="28575" cap="sq" cmpd="sng">
              <a:solidFill>
                <a:schemeClr val="tx1"/>
              </a:solidFill>
              <a:prstDash val="solid"/>
              <a:miter/>
              <a:headEnd type="none" w="med" len="med"/>
              <a:tailEnd type="none" w="med" len="med"/>
            </a:ln>
          </p:spPr>
        </p:sp>
        <p:sp>
          <p:nvSpPr>
            <p:cNvPr id="63541" name="Line 114"/>
            <p:cNvSpPr/>
            <p:nvPr/>
          </p:nvSpPr>
          <p:spPr>
            <a:xfrm>
              <a:off x="3495" y="1978"/>
              <a:ext cx="0" cy="224"/>
            </a:xfrm>
            <a:prstGeom prst="line">
              <a:avLst/>
            </a:prstGeom>
            <a:ln w="28575" cap="sq" cmpd="sng">
              <a:solidFill>
                <a:schemeClr val="tx1"/>
              </a:solidFill>
              <a:prstDash val="solid"/>
              <a:miter/>
              <a:headEnd type="none" w="med" len="med"/>
              <a:tailEnd type="none" w="med" len="med"/>
            </a:ln>
          </p:spPr>
        </p:sp>
        <p:sp>
          <p:nvSpPr>
            <p:cNvPr id="63542" name="Line 115"/>
            <p:cNvSpPr/>
            <p:nvPr/>
          </p:nvSpPr>
          <p:spPr>
            <a:xfrm>
              <a:off x="3639" y="1978"/>
              <a:ext cx="0" cy="224"/>
            </a:xfrm>
            <a:prstGeom prst="line">
              <a:avLst/>
            </a:prstGeom>
            <a:ln w="12700" cap="flat" cmpd="sng">
              <a:solidFill>
                <a:schemeClr val="tx1"/>
              </a:solidFill>
              <a:prstDash val="solid"/>
              <a:miter/>
              <a:headEnd type="none" w="med" len="med"/>
              <a:tailEnd type="none" w="med" len="med"/>
            </a:ln>
          </p:spPr>
        </p:sp>
        <p:sp>
          <p:nvSpPr>
            <p:cNvPr id="63543" name="Line 116"/>
            <p:cNvSpPr/>
            <p:nvPr/>
          </p:nvSpPr>
          <p:spPr>
            <a:xfrm>
              <a:off x="3783" y="1978"/>
              <a:ext cx="0" cy="224"/>
            </a:xfrm>
            <a:prstGeom prst="line">
              <a:avLst/>
            </a:prstGeom>
            <a:ln w="12700" cap="flat" cmpd="sng">
              <a:solidFill>
                <a:schemeClr val="tx1"/>
              </a:solidFill>
              <a:prstDash val="solid"/>
              <a:miter/>
              <a:headEnd type="none" w="med" len="med"/>
              <a:tailEnd type="none" w="med" len="med"/>
            </a:ln>
          </p:spPr>
        </p:sp>
        <p:sp>
          <p:nvSpPr>
            <p:cNvPr id="63544" name="Line 117"/>
            <p:cNvSpPr/>
            <p:nvPr/>
          </p:nvSpPr>
          <p:spPr>
            <a:xfrm>
              <a:off x="3927" y="1978"/>
              <a:ext cx="0" cy="224"/>
            </a:xfrm>
            <a:prstGeom prst="line">
              <a:avLst/>
            </a:prstGeom>
            <a:ln w="12700" cap="flat" cmpd="sng">
              <a:solidFill>
                <a:schemeClr val="tx1"/>
              </a:solidFill>
              <a:prstDash val="solid"/>
              <a:miter/>
              <a:headEnd type="none" w="med" len="med"/>
              <a:tailEnd type="none" w="med" len="med"/>
            </a:ln>
          </p:spPr>
        </p:sp>
        <p:sp>
          <p:nvSpPr>
            <p:cNvPr id="63545" name="Line 118"/>
            <p:cNvSpPr/>
            <p:nvPr/>
          </p:nvSpPr>
          <p:spPr>
            <a:xfrm>
              <a:off x="4071" y="1978"/>
              <a:ext cx="0" cy="224"/>
            </a:xfrm>
            <a:prstGeom prst="line">
              <a:avLst/>
            </a:prstGeom>
            <a:ln w="12700" cap="flat" cmpd="sng">
              <a:solidFill>
                <a:schemeClr val="tx1"/>
              </a:solidFill>
              <a:prstDash val="solid"/>
              <a:miter/>
              <a:headEnd type="none" w="med" len="med"/>
              <a:tailEnd type="none" w="med" len="med"/>
            </a:ln>
          </p:spPr>
        </p:sp>
        <p:sp>
          <p:nvSpPr>
            <p:cNvPr id="63546" name="Line 119"/>
            <p:cNvSpPr/>
            <p:nvPr/>
          </p:nvSpPr>
          <p:spPr>
            <a:xfrm>
              <a:off x="4215" y="1978"/>
              <a:ext cx="0" cy="224"/>
            </a:xfrm>
            <a:prstGeom prst="line">
              <a:avLst/>
            </a:prstGeom>
            <a:ln w="12700" cap="flat" cmpd="sng">
              <a:solidFill>
                <a:schemeClr val="tx1"/>
              </a:solidFill>
              <a:prstDash val="solid"/>
              <a:miter/>
              <a:headEnd type="none" w="med" len="med"/>
              <a:tailEnd type="none" w="med" len="med"/>
            </a:ln>
          </p:spPr>
        </p:sp>
        <p:sp>
          <p:nvSpPr>
            <p:cNvPr id="63547" name="Line 120"/>
            <p:cNvSpPr/>
            <p:nvPr/>
          </p:nvSpPr>
          <p:spPr>
            <a:xfrm>
              <a:off x="4359" y="1978"/>
              <a:ext cx="0" cy="224"/>
            </a:xfrm>
            <a:prstGeom prst="line">
              <a:avLst/>
            </a:prstGeom>
            <a:ln w="28575" cap="sq" cmpd="sng">
              <a:solidFill>
                <a:schemeClr val="tx1"/>
              </a:solidFill>
              <a:prstDash val="solid"/>
              <a:miter/>
              <a:headEnd type="none" w="med" len="med"/>
              <a:tailEnd type="none" w="med" len="med"/>
            </a:ln>
          </p:spPr>
        </p:sp>
        <p:sp>
          <p:nvSpPr>
            <p:cNvPr id="63548" name="Rectangle 121"/>
            <p:cNvSpPr/>
            <p:nvPr/>
          </p:nvSpPr>
          <p:spPr>
            <a:xfrm>
              <a:off x="3543" y="3493"/>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01010000</a:t>
              </a:r>
            </a:p>
          </p:txBody>
        </p:sp>
        <p:sp>
          <p:nvSpPr>
            <p:cNvPr id="63549" name="Rectangle 122"/>
            <p:cNvSpPr/>
            <p:nvPr/>
          </p:nvSpPr>
          <p:spPr>
            <a:xfrm>
              <a:off x="3543" y="3242"/>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10110000</a:t>
              </a:r>
            </a:p>
          </p:txBody>
        </p:sp>
        <p:sp>
          <p:nvSpPr>
            <p:cNvPr id="63550" name="Rectangle 123"/>
            <p:cNvSpPr/>
            <p:nvPr/>
          </p:nvSpPr>
          <p:spPr>
            <a:xfrm>
              <a:off x="3543" y="2989"/>
              <a:ext cx="720" cy="253"/>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01000000</a:t>
              </a:r>
            </a:p>
          </p:txBody>
        </p:sp>
        <p:sp>
          <p:nvSpPr>
            <p:cNvPr id="63551" name="Rectangle 124"/>
            <p:cNvSpPr/>
            <p:nvPr/>
          </p:nvSpPr>
          <p:spPr>
            <a:xfrm>
              <a:off x="3543" y="2737"/>
              <a:ext cx="720" cy="252"/>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00010000</a:t>
              </a:r>
            </a:p>
          </p:txBody>
        </p:sp>
        <p:sp>
          <p:nvSpPr>
            <p:cNvPr id="63552" name="Rectangle 125"/>
            <p:cNvSpPr/>
            <p:nvPr/>
          </p:nvSpPr>
          <p:spPr>
            <a:xfrm>
              <a:off x="3543" y="2486"/>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01100000</a:t>
              </a:r>
            </a:p>
          </p:txBody>
        </p:sp>
        <p:sp>
          <p:nvSpPr>
            <p:cNvPr id="63553" name="Rectangle 126"/>
            <p:cNvSpPr/>
            <p:nvPr/>
          </p:nvSpPr>
          <p:spPr>
            <a:xfrm>
              <a:off x="3543" y="2256"/>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11110000</a:t>
              </a:r>
            </a:p>
          </p:txBody>
        </p:sp>
        <p:sp>
          <p:nvSpPr>
            <p:cNvPr id="63554" name="Line 127"/>
            <p:cNvSpPr/>
            <p:nvPr/>
          </p:nvSpPr>
          <p:spPr>
            <a:xfrm>
              <a:off x="3543" y="2256"/>
              <a:ext cx="720" cy="0"/>
            </a:xfrm>
            <a:prstGeom prst="line">
              <a:avLst/>
            </a:prstGeom>
            <a:ln w="28575" cap="sq" cmpd="sng">
              <a:solidFill>
                <a:schemeClr val="tx1"/>
              </a:solidFill>
              <a:prstDash val="solid"/>
              <a:miter/>
              <a:headEnd type="none" w="med" len="med"/>
              <a:tailEnd type="none" w="med" len="med"/>
            </a:ln>
          </p:spPr>
        </p:sp>
        <p:sp>
          <p:nvSpPr>
            <p:cNvPr id="63555" name="Line 128"/>
            <p:cNvSpPr/>
            <p:nvPr/>
          </p:nvSpPr>
          <p:spPr>
            <a:xfrm>
              <a:off x="3543" y="2486"/>
              <a:ext cx="720" cy="0"/>
            </a:xfrm>
            <a:prstGeom prst="line">
              <a:avLst/>
            </a:prstGeom>
            <a:ln w="12700" cap="flat" cmpd="sng">
              <a:solidFill>
                <a:schemeClr val="tx1"/>
              </a:solidFill>
              <a:prstDash val="solid"/>
              <a:miter/>
              <a:headEnd type="none" w="med" len="med"/>
              <a:tailEnd type="none" w="med" len="med"/>
            </a:ln>
          </p:spPr>
        </p:sp>
        <p:sp>
          <p:nvSpPr>
            <p:cNvPr id="63556" name="Line 129"/>
            <p:cNvSpPr/>
            <p:nvPr/>
          </p:nvSpPr>
          <p:spPr>
            <a:xfrm>
              <a:off x="3543" y="2737"/>
              <a:ext cx="720" cy="0"/>
            </a:xfrm>
            <a:prstGeom prst="line">
              <a:avLst/>
            </a:prstGeom>
            <a:ln w="12700" cap="flat" cmpd="sng">
              <a:solidFill>
                <a:schemeClr val="tx1"/>
              </a:solidFill>
              <a:prstDash val="solid"/>
              <a:miter/>
              <a:headEnd type="none" w="med" len="med"/>
              <a:tailEnd type="none" w="med" len="med"/>
            </a:ln>
          </p:spPr>
        </p:sp>
        <p:sp>
          <p:nvSpPr>
            <p:cNvPr id="63557" name="Line 130"/>
            <p:cNvSpPr/>
            <p:nvPr/>
          </p:nvSpPr>
          <p:spPr>
            <a:xfrm>
              <a:off x="3543" y="2989"/>
              <a:ext cx="720" cy="0"/>
            </a:xfrm>
            <a:prstGeom prst="line">
              <a:avLst/>
            </a:prstGeom>
            <a:ln w="12700" cap="flat" cmpd="sng">
              <a:solidFill>
                <a:schemeClr val="tx1"/>
              </a:solidFill>
              <a:prstDash val="solid"/>
              <a:miter/>
              <a:headEnd type="none" w="med" len="med"/>
              <a:tailEnd type="none" w="med" len="med"/>
            </a:ln>
          </p:spPr>
        </p:sp>
        <p:sp>
          <p:nvSpPr>
            <p:cNvPr id="63558" name="Line 131"/>
            <p:cNvSpPr/>
            <p:nvPr/>
          </p:nvSpPr>
          <p:spPr>
            <a:xfrm>
              <a:off x="3543" y="3242"/>
              <a:ext cx="720" cy="0"/>
            </a:xfrm>
            <a:prstGeom prst="line">
              <a:avLst/>
            </a:prstGeom>
            <a:ln w="12700" cap="flat" cmpd="sng">
              <a:solidFill>
                <a:schemeClr val="tx1"/>
              </a:solidFill>
              <a:prstDash val="solid"/>
              <a:miter/>
              <a:headEnd type="none" w="med" len="med"/>
              <a:tailEnd type="none" w="med" len="med"/>
            </a:ln>
          </p:spPr>
        </p:sp>
        <p:sp>
          <p:nvSpPr>
            <p:cNvPr id="63559" name="Line 132"/>
            <p:cNvSpPr/>
            <p:nvPr/>
          </p:nvSpPr>
          <p:spPr>
            <a:xfrm>
              <a:off x="3543" y="3493"/>
              <a:ext cx="720" cy="0"/>
            </a:xfrm>
            <a:prstGeom prst="line">
              <a:avLst/>
            </a:prstGeom>
            <a:ln w="12700" cap="flat" cmpd="sng">
              <a:solidFill>
                <a:schemeClr val="tx1"/>
              </a:solidFill>
              <a:prstDash val="solid"/>
              <a:miter/>
              <a:headEnd type="none" w="med" len="med"/>
              <a:tailEnd type="none" w="med" len="med"/>
            </a:ln>
          </p:spPr>
        </p:sp>
        <p:sp>
          <p:nvSpPr>
            <p:cNvPr id="63560" name="Line 133"/>
            <p:cNvSpPr/>
            <p:nvPr/>
          </p:nvSpPr>
          <p:spPr>
            <a:xfrm>
              <a:off x="3543" y="3723"/>
              <a:ext cx="720" cy="0"/>
            </a:xfrm>
            <a:prstGeom prst="line">
              <a:avLst/>
            </a:prstGeom>
            <a:ln w="28575" cap="sq" cmpd="sng">
              <a:solidFill>
                <a:schemeClr val="tx1"/>
              </a:solidFill>
              <a:prstDash val="solid"/>
              <a:miter/>
              <a:headEnd type="none" w="med" len="med"/>
              <a:tailEnd type="none" w="med" len="med"/>
            </a:ln>
          </p:spPr>
        </p:sp>
        <p:sp>
          <p:nvSpPr>
            <p:cNvPr id="63561" name="Line 134"/>
            <p:cNvSpPr/>
            <p:nvPr/>
          </p:nvSpPr>
          <p:spPr>
            <a:xfrm>
              <a:off x="3543" y="2256"/>
              <a:ext cx="0" cy="1467"/>
            </a:xfrm>
            <a:prstGeom prst="line">
              <a:avLst/>
            </a:prstGeom>
            <a:ln w="28575" cap="sq" cmpd="sng">
              <a:solidFill>
                <a:schemeClr val="tx1"/>
              </a:solidFill>
              <a:prstDash val="solid"/>
              <a:miter/>
              <a:headEnd type="none" w="med" len="med"/>
              <a:tailEnd type="none" w="med" len="med"/>
            </a:ln>
          </p:spPr>
        </p:sp>
        <p:sp>
          <p:nvSpPr>
            <p:cNvPr id="63562" name="Line 135"/>
            <p:cNvSpPr/>
            <p:nvPr/>
          </p:nvSpPr>
          <p:spPr>
            <a:xfrm>
              <a:off x="4263" y="2256"/>
              <a:ext cx="0" cy="1467"/>
            </a:xfrm>
            <a:prstGeom prst="line">
              <a:avLst/>
            </a:prstGeom>
            <a:ln w="28575" cap="sq" cmpd="sng">
              <a:solidFill>
                <a:schemeClr val="tx1"/>
              </a:solidFill>
              <a:prstDash val="solid"/>
              <a:miter/>
              <a:headEnd type="none" w="med" len="med"/>
              <a:tailEnd type="none" w="med" len="med"/>
            </a:ln>
          </p:spPr>
        </p:sp>
      </p:grpSp>
      <p:grpSp>
        <p:nvGrpSpPr>
          <p:cNvPr id="6" name="Group 136"/>
          <p:cNvGrpSpPr/>
          <p:nvPr/>
        </p:nvGrpSpPr>
        <p:grpSpPr>
          <a:xfrm>
            <a:off x="7239000" y="2708920"/>
            <a:ext cx="1828800" cy="3657600"/>
            <a:chOff x="4560" y="1488"/>
            <a:chExt cx="1152" cy="2304"/>
          </a:xfrm>
        </p:grpSpPr>
        <p:sp>
          <p:nvSpPr>
            <p:cNvPr id="63499" name="Rectangle 137"/>
            <p:cNvSpPr/>
            <p:nvPr/>
          </p:nvSpPr>
          <p:spPr>
            <a:xfrm>
              <a:off x="4560" y="1488"/>
              <a:ext cx="1104" cy="230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63500" name="Text Box 138"/>
            <p:cNvSpPr txBox="1"/>
            <p:nvPr/>
          </p:nvSpPr>
          <p:spPr>
            <a:xfrm>
              <a:off x="4608" y="1536"/>
              <a:ext cx="1104"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1800" b="0">
                  <a:ea typeface="楷体_GB2312" pitchFamily="49" charset="-122"/>
                </a:rPr>
                <a:t>页0到5的</a:t>
              </a:r>
              <a:r>
                <a:rPr lang="en-US" altLang="zh-CN" sz="1800" b="0">
                  <a:ea typeface="楷体_GB2312" pitchFamily="49" charset="-122"/>
                </a:rPr>
                <a:t>R</a:t>
              </a:r>
              <a:r>
                <a:rPr lang="zh-CN" altLang="en-US" sz="1800" b="0">
                  <a:ea typeface="楷体_GB2312" pitchFamily="49" charset="-122"/>
                </a:rPr>
                <a:t>位，时钟周期4</a:t>
              </a:r>
            </a:p>
          </p:txBody>
        </p:sp>
        <p:sp>
          <p:nvSpPr>
            <p:cNvPr id="63501" name="Rectangle 139"/>
            <p:cNvSpPr/>
            <p:nvPr/>
          </p:nvSpPr>
          <p:spPr>
            <a:xfrm>
              <a:off x="5376"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502" name="Rectangle 140"/>
            <p:cNvSpPr/>
            <p:nvPr/>
          </p:nvSpPr>
          <p:spPr>
            <a:xfrm>
              <a:off x="5232"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503" name="Rectangle 141"/>
            <p:cNvSpPr/>
            <p:nvPr/>
          </p:nvSpPr>
          <p:spPr>
            <a:xfrm>
              <a:off x="5088"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504" name="Rectangle 142"/>
            <p:cNvSpPr/>
            <p:nvPr/>
          </p:nvSpPr>
          <p:spPr>
            <a:xfrm>
              <a:off x="4944"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505" name="Rectangle 143"/>
            <p:cNvSpPr/>
            <p:nvPr/>
          </p:nvSpPr>
          <p:spPr>
            <a:xfrm>
              <a:off x="4800"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p>
          </p:txBody>
        </p:sp>
        <p:sp>
          <p:nvSpPr>
            <p:cNvPr id="63506" name="Rectangle 144"/>
            <p:cNvSpPr/>
            <p:nvPr/>
          </p:nvSpPr>
          <p:spPr>
            <a:xfrm>
              <a:off x="4656"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p>
          </p:txBody>
        </p:sp>
        <p:sp>
          <p:nvSpPr>
            <p:cNvPr id="63507" name="Line 145"/>
            <p:cNvSpPr/>
            <p:nvPr/>
          </p:nvSpPr>
          <p:spPr>
            <a:xfrm>
              <a:off x="4656" y="1978"/>
              <a:ext cx="864" cy="0"/>
            </a:xfrm>
            <a:prstGeom prst="line">
              <a:avLst/>
            </a:prstGeom>
            <a:ln w="28575" cap="sq" cmpd="sng">
              <a:solidFill>
                <a:schemeClr val="tx1"/>
              </a:solidFill>
              <a:prstDash val="solid"/>
              <a:miter/>
              <a:headEnd type="none" w="med" len="med"/>
              <a:tailEnd type="none" w="med" len="med"/>
            </a:ln>
          </p:spPr>
        </p:sp>
        <p:sp>
          <p:nvSpPr>
            <p:cNvPr id="63508" name="Line 146"/>
            <p:cNvSpPr/>
            <p:nvPr/>
          </p:nvSpPr>
          <p:spPr>
            <a:xfrm>
              <a:off x="4656" y="2202"/>
              <a:ext cx="864" cy="0"/>
            </a:xfrm>
            <a:prstGeom prst="line">
              <a:avLst/>
            </a:prstGeom>
            <a:ln w="28575" cap="sq" cmpd="sng">
              <a:solidFill>
                <a:schemeClr val="tx1"/>
              </a:solidFill>
              <a:prstDash val="solid"/>
              <a:miter/>
              <a:headEnd type="none" w="med" len="med"/>
              <a:tailEnd type="none" w="med" len="med"/>
            </a:ln>
          </p:spPr>
        </p:sp>
        <p:sp>
          <p:nvSpPr>
            <p:cNvPr id="63509" name="Line 147"/>
            <p:cNvSpPr/>
            <p:nvPr/>
          </p:nvSpPr>
          <p:spPr>
            <a:xfrm>
              <a:off x="4656" y="1978"/>
              <a:ext cx="0" cy="224"/>
            </a:xfrm>
            <a:prstGeom prst="line">
              <a:avLst/>
            </a:prstGeom>
            <a:ln w="28575" cap="sq" cmpd="sng">
              <a:solidFill>
                <a:schemeClr val="tx1"/>
              </a:solidFill>
              <a:prstDash val="solid"/>
              <a:miter/>
              <a:headEnd type="none" w="med" len="med"/>
              <a:tailEnd type="none" w="med" len="med"/>
            </a:ln>
          </p:spPr>
        </p:sp>
        <p:sp>
          <p:nvSpPr>
            <p:cNvPr id="63510" name="Line 148"/>
            <p:cNvSpPr/>
            <p:nvPr/>
          </p:nvSpPr>
          <p:spPr>
            <a:xfrm>
              <a:off x="4800" y="1978"/>
              <a:ext cx="0" cy="224"/>
            </a:xfrm>
            <a:prstGeom prst="line">
              <a:avLst/>
            </a:prstGeom>
            <a:ln w="12700" cap="flat" cmpd="sng">
              <a:solidFill>
                <a:schemeClr val="tx1"/>
              </a:solidFill>
              <a:prstDash val="solid"/>
              <a:miter/>
              <a:headEnd type="none" w="med" len="med"/>
              <a:tailEnd type="none" w="med" len="med"/>
            </a:ln>
          </p:spPr>
        </p:sp>
        <p:sp>
          <p:nvSpPr>
            <p:cNvPr id="63511" name="Line 149"/>
            <p:cNvSpPr/>
            <p:nvPr/>
          </p:nvSpPr>
          <p:spPr>
            <a:xfrm>
              <a:off x="4944" y="1978"/>
              <a:ext cx="0" cy="224"/>
            </a:xfrm>
            <a:prstGeom prst="line">
              <a:avLst/>
            </a:prstGeom>
            <a:ln w="12700" cap="flat" cmpd="sng">
              <a:solidFill>
                <a:schemeClr val="tx1"/>
              </a:solidFill>
              <a:prstDash val="solid"/>
              <a:miter/>
              <a:headEnd type="none" w="med" len="med"/>
              <a:tailEnd type="none" w="med" len="med"/>
            </a:ln>
          </p:spPr>
        </p:sp>
        <p:sp>
          <p:nvSpPr>
            <p:cNvPr id="63512" name="Line 150"/>
            <p:cNvSpPr/>
            <p:nvPr/>
          </p:nvSpPr>
          <p:spPr>
            <a:xfrm>
              <a:off x="5088" y="1978"/>
              <a:ext cx="0" cy="224"/>
            </a:xfrm>
            <a:prstGeom prst="line">
              <a:avLst/>
            </a:prstGeom>
            <a:ln w="12700" cap="flat" cmpd="sng">
              <a:solidFill>
                <a:schemeClr val="tx1"/>
              </a:solidFill>
              <a:prstDash val="solid"/>
              <a:miter/>
              <a:headEnd type="none" w="med" len="med"/>
              <a:tailEnd type="none" w="med" len="med"/>
            </a:ln>
          </p:spPr>
        </p:sp>
        <p:sp>
          <p:nvSpPr>
            <p:cNvPr id="63513" name="Line 151"/>
            <p:cNvSpPr/>
            <p:nvPr/>
          </p:nvSpPr>
          <p:spPr>
            <a:xfrm>
              <a:off x="5232" y="1978"/>
              <a:ext cx="0" cy="224"/>
            </a:xfrm>
            <a:prstGeom prst="line">
              <a:avLst/>
            </a:prstGeom>
            <a:ln w="12700" cap="flat" cmpd="sng">
              <a:solidFill>
                <a:schemeClr val="tx1"/>
              </a:solidFill>
              <a:prstDash val="solid"/>
              <a:miter/>
              <a:headEnd type="none" w="med" len="med"/>
              <a:tailEnd type="none" w="med" len="med"/>
            </a:ln>
          </p:spPr>
        </p:sp>
        <p:sp>
          <p:nvSpPr>
            <p:cNvPr id="63514" name="Line 152"/>
            <p:cNvSpPr/>
            <p:nvPr/>
          </p:nvSpPr>
          <p:spPr>
            <a:xfrm>
              <a:off x="5376" y="1978"/>
              <a:ext cx="0" cy="224"/>
            </a:xfrm>
            <a:prstGeom prst="line">
              <a:avLst/>
            </a:prstGeom>
            <a:ln w="12700" cap="flat" cmpd="sng">
              <a:solidFill>
                <a:schemeClr val="tx1"/>
              </a:solidFill>
              <a:prstDash val="solid"/>
              <a:miter/>
              <a:headEnd type="none" w="med" len="med"/>
              <a:tailEnd type="none" w="med" len="med"/>
            </a:ln>
          </p:spPr>
        </p:sp>
        <p:sp>
          <p:nvSpPr>
            <p:cNvPr id="63515" name="Line 153"/>
            <p:cNvSpPr/>
            <p:nvPr/>
          </p:nvSpPr>
          <p:spPr>
            <a:xfrm>
              <a:off x="5520" y="1978"/>
              <a:ext cx="0" cy="224"/>
            </a:xfrm>
            <a:prstGeom prst="line">
              <a:avLst/>
            </a:prstGeom>
            <a:ln w="28575" cap="sq" cmpd="sng">
              <a:solidFill>
                <a:schemeClr val="tx1"/>
              </a:solidFill>
              <a:prstDash val="solid"/>
              <a:miter/>
              <a:headEnd type="none" w="med" len="med"/>
              <a:tailEnd type="none" w="med" len="med"/>
            </a:ln>
          </p:spPr>
        </p:sp>
        <p:sp>
          <p:nvSpPr>
            <p:cNvPr id="63516" name="Rectangle 154"/>
            <p:cNvSpPr/>
            <p:nvPr/>
          </p:nvSpPr>
          <p:spPr>
            <a:xfrm>
              <a:off x="4704" y="3493"/>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00101000</a:t>
              </a:r>
            </a:p>
          </p:txBody>
        </p:sp>
        <p:sp>
          <p:nvSpPr>
            <p:cNvPr id="63517" name="Rectangle 155"/>
            <p:cNvSpPr/>
            <p:nvPr/>
          </p:nvSpPr>
          <p:spPr>
            <a:xfrm>
              <a:off x="4704" y="3242"/>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01011000</a:t>
              </a:r>
            </a:p>
          </p:txBody>
        </p:sp>
        <p:sp>
          <p:nvSpPr>
            <p:cNvPr id="63518" name="Rectangle 156"/>
            <p:cNvSpPr/>
            <p:nvPr/>
          </p:nvSpPr>
          <p:spPr>
            <a:xfrm>
              <a:off x="4704" y="2989"/>
              <a:ext cx="720" cy="253"/>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00100000</a:t>
              </a:r>
            </a:p>
          </p:txBody>
        </p:sp>
        <p:sp>
          <p:nvSpPr>
            <p:cNvPr id="63519" name="Rectangle 157"/>
            <p:cNvSpPr/>
            <p:nvPr/>
          </p:nvSpPr>
          <p:spPr>
            <a:xfrm>
              <a:off x="4704" y="2737"/>
              <a:ext cx="720" cy="252"/>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10001000</a:t>
              </a:r>
            </a:p>
          </p:txBody>
        </p:sp>
        <p:sp>
          <p:nvSpPr>
            <p:cNvPr id="63520" name="Rectangle 158"/>
            <p:cNvSpPr/>
            <p:nvPr/>
          </p:nvSpPr>
          <p:spPr>
            <a:xfrm>
              <a:off x="4704" y="2486"/>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10110000</a:t>
              </a:r>
            </a:p>
          </p:txBody>
        </p:sp>
        <p:sp>
          <p:nvSpPr>
            <p:cNvPr id="63521" name="Rectangle 159"/>
            <p:cNvSpPr/>
            <p:nvPr/>
          </p:nvSpPr>
          <p:spPr>
            <a:xfrm>
              <a:off x="4704" y="2256"/>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01111000</a:t>
              </a:r>
            </a:p>
          </p:txBody>
        </p:sp>
        <p:sp>
          <p:nvSpPr>
            <p:cNvPr id="63522" name="Line 160"/>
            <p:cNvSpPr/>
            <p:nvPr/>
          </p:nvSpPr>
          <p:spPr>
            <a:xfrm>
              <a:off x="4704" y="2256"/>
              <a:ext cx="720" cy="0"/>
            </a:xfrm>
            <a:prstGeom prst="line">
              <a:avLst/>
            </a:prstGeom>
            <a:ln w="28575" cap="sq" cmpd="sng">
              <a:solidFill>
                <a:schemeClr val="tx1"/>
              </a:solidFill>
              <a:prstDash val="solid"/>
              <a:miter/>
              <a:headEnd type="none" w="med" len="med"/>
              <a:tailEnd type="none" w="med" len="med"/>
            </a:ln>
          </p:spPr>
        </p:sp>
        <p:sp>
          <p:nvSpPr>
            <p:cNvPr id="63523" name="Line 161"/>
            <p:cNvSpPr/>
            <p:nvPr/>
          </p:nvSpPr>
          <p:spPr>
            <a:xfrm>
              <a:off x="4704" y="2486"/>
              <a:ext cx="720" cy="0"/>
            </a:xfrm>
            <a:prstGeom prst="line">
              <a:avLst/>
            </a:prstGeom>
            <a:ln w="12700" cap="flat" cmpd="sng">
              <a:solidFill>
                <a:schemeClr val="tx1"/>
              </a:solidFill>
              <a:prstDash val="solid"/>
              <a:miter/>
              <a:headEnd type="none" w="med" len="med"/>
              <a:tailEnd type="none" w="med" len="med"/>
            </a:ln>
          </p:spPr>
        </p:sp>
        <p:sp>
          <p:nvSpPr>
            <p:cNvPr id="63524" name="Line 162"/>
            <p:cNvSpPr/>
            <p:nvPr/>
          </p:nvSpPr>
          <p:spPr>
            <a:xfrm>
              <a:off x="4704" y="2737"/>
              <a:ext cx="720" cy="0"/>
            </a:xfrm>
            <a:prstGeom prst="line">
              <a:avLst/>
            </a:prstGeom>
            <a:ln w="12700" cap="flat" cmpd="sng">
              <a:solidFill>
                <a:schemeClr val="tx1"/>
              </a:solidFill>
              <a:prstDash val="solid"/>
              <a:miter/>
              <a:headEnd type="none" w="med" len="med"/>
              <a:tailEnd type="none" w="med" len="med"/>
            </a:ln>
          </p:spPr>
        </p:sp>
        <p:sp>
          <p:nvSpPr>
            <p:cNvPr id="63525" name="Line 163"/>
            <p:cNvSpPr/>
            <p:nvPr/>
          </p:nvSpPr>
          <p:spPr>
            <a:xfrm>
              <a:off x="4704" y="2989"/>
              <a:ext cx="720" cy="0"/>
            </a:xfrm>
            <a:prstGeom prst="line">
              <a:avLst/>
            </a:prstGeom>
            <a:ln w="12700" cap="flat" cmpd="sng">
              <a:solidFill>
                <a:schemeClr val="tx1"/>
              </a:solidFill>
              <a:prstDash val="solid"/>
              <a:miter/>
              <a:headEnd type="none" w="med" len="med"/>
              <a:tailEnd type="none" w="med" len="med"/>
            </a:ln>
          </p:spPr>
        </p:sp>
        <p:sp>
          <p:nvSpPr>
            <p:cNvPr id="63526" name="Line 164"/>
            <p:cNvSpPr/>
            <p:nvPr/>
          </p:nvSpPr>
          <p:spPr>
            <a:xfrm>
              <a:off x="4704" y="3242"/>
              <a:ext cx="720" cy="0"/>
            </a:xfrm>
            <a:prstGeom prst="line">
              <a:avLst/>
            </a:prstGeom>
            <a:ln w="12700" cap="flat" cmpd="sng">
              <a:solidFill>
                <a:schemeClr val="tx1"/>
              </a:solidFill>
              <a:prstDash val="solid"/>
              <a:miter/>
              <a:headEnd type="none" w="med" len="med"/>
              <a:tailEnd type="none" w="med" len="med"/>
            </a:ln>
          </p:spPr>
        </p:sp>
        <p:sp>
          <p:nvSpPr>
            <p:cNvPr id="63527" name="Line 165"/>
            <p:cNvSpPr/>
            <p:nvPr/>
          </p:nvSpPr>
          <p:spPr>
            <a:xfrm>
              <a:off x="4704" y="3493"/>
              <a:ext cx="720" cy="0"/>
            </a:xfrm>
            <a:prstGeom prst="line">
              <a:avLst/>
            </a:prstGeom>
            <a:ln w="12700" cap="flat" cmpd="sng">
              <a:solidFill>
                <a:schemeClr val="tx1"/>
              </a:solidFill>
              <a:prstDash val="solid"/>
              <a:miter/>
              <a:headEnd type="none" w="med" len="med"/>
              <a:tailEnd type="none" w="med" len="med"/>
            </a:ln>
          </p:spPr>
        </p:sp>
        <p:sp>
          <p:nvSpPr>
            <p:cNvPr id="63528" name="Line 166"/>
            <p:cNvSpPr/>
            <p:nvPr/>
          </p:nvSpPr>
          <p:spPr>
            <a:xfrm>
              <a:off x="4704" y="3723"/>
              <a:ext cx="720" cy="0"/>
            </a:xfrm>
            <a:prstGeom prst="line">
              <a:avLst/>
            </a:prstGeom>
            <a:ln w="28575" cap="sq" cmpd="sng">
              <a:solidFill>
                <a:schemeClr val="tx1"/>
              </a:solidFill>
              <a:prstDash val="solid"/>
              <a:miter/>
              <a:headEnd type="none" w="med" len="med"/>
              <a:tailEnd type="none" w="med" len="med"/>
            </a:ln>
          </p:spPr>
        </p:sp>
        <p:sp>
          <p:nvSpPr>
            <p:cNvPr id="63529" name="Line 167"/>
            <p:cNvSpPr/>
            <p:nvPr/>
          </p:nvSpPr>
          <p:spPr>
            <a:xfrm>
              <a:off x="4704" y="2256"/>
              <a:ext cx="0" cy="1467"/>
            </a:xfrm>
            <a:prstGeom prst="line">
              <a:avLst/>
            </a:prstGeom>
            <a:ln w="28575" cap="sq" cmpd="sng">
              <a:solidFill>
                <a:schemeClr val="tx1"/>
              </a:solidFill>
              <a:prstDash val="solid"/>
              <a:miter/>
              <a:headEnd type="none" w="med" len="med"/>
              <a:tailEnd type="none" w="med" len="med"/>
            </a:ln>
          </p:spPr>
        </p:sp>
        <p:sp>
          <p:nvSpPr>
            <p:cNvPr id="63530" name="Line 168"/>
            <p:cNvSpPr/>
            <p:nvPr/>
          </p:nvSpPr>
          <p:spPr>
            <a:xfrm>
              <a:off x="5424" y="2256"/>
              <a:ext cx="0" cy="1467"/>
            </a:xfrm>
            <a:prstGeom prst="line">
              <a:avLst/>
            </a:prstGeom>
            <a:ln w="28575" cap="sq" cmpd="sng">
              <a:solidFill>
                <a:schemeClr val="tx1"/>
              </a:solidFill>
              <a:prstDash val="solid"/>
              <a:miter/>
              <a:headEnd type="none" w="med" len="med"/>
              <a:tailEnd type="none" w="med" len="med"/>
            </a:ln>
          </p:spPr>
        </p:sp>
      </p:grpSp>
      <p:sp>
        <p:nvSpPr>
          <p:cNvPr id="389289" name="Line 169"/>
          <p:cNvSpPr/>
          <p:nvPr/>
        </p:nvSpPr>
        <p:spPr>
          <a:xfrm>
            <a:off x="7543800" y="6214120"/>
            <a:ext cx="990600" cy="0"/>
          </a:xfrm>
          <a:prstGeom prst="line">
            <a:avLst/>
          </a:prstGeom>
          <a:ln w="38100" cap="flat" cmpd="sng">
            <a:solidFill>
              <a:schemeClr val="hlink"/>
            </a:solidFill>
            <a:prstDash val="solid"/>
            <a:miter/>
            <a:headEnd type="none" w="med" len="med"/>
            <a:tailEnd type="none" w="med" len="med"/>
          </a:ln>
        </p:spPr>
      </p:sp>
      <p:sp>
        <p:nvSpPr>
          <p:cNvPr id="389290" name="Line 170"/>
          <p:cNvSpPr/>
          <p:nvPr/>
        </p:nvSpPr>
        <p:spPr>
          <a:xfrm>
            <a:off x="7543800" y="5452120"/>
            <a:ext cx="990600" cy="0"/>
          </a:xfrm>
          <a:prstGeom prst="line">
            <a:avLst/>
          </a:prstGeom>
          <a:ln w="38100" cap="flat" cmpd="sng">
            <a:solidFill>
              <a:schemeClr val="hlink"/>
            </a:solidFill>
            <a:prstDash val="solid"/>
            <a:miter/>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ou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ox(ou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ox(ou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389290"/>
                                        </p:tgtEl>
                                        <p:attrNameLst>
                                          <p:attrName>style.visibility</p:attrName>
                                        </p:attrNameLst>
                                      </p:cBhvr>
                                      <p:to>
                                        <p:strVal val="visible"/>
                                      </p:to>
                                    </p:set>
                                    <p:animEffect transition="in" filter="barn(outVertical)">
                                      <p:cBhvr>
                                        <p:cTn id="32" dur="500"/>
                                        <p:tgtEl>
                                          <p:spTgt spid="389290"/>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nodeType="clickEffect">
                                  <p:stCondLst>
                                    <p:cond delay="0"/>
                                  </p:stCondLst>
                                  <p:childTnLst>
                                    <p:set>
                                      <p:cBhvr>
                                        <p:cTn id="36" dur="1" fill="hold">
                                          <p:stCondLst>
                                            <p:cond delay="0"/>
                                          </p:stCondLst>
                                        </p:cTn>
                                        <p:tgtEl>
                                          <p:spTgt spid="389289"/>
                                        </p:tgtEl>
                                        <p:attrNameLst>
                                          <p:attrName>style.visibility</p:attrName>
                                        </p:attrNameLst>
                                      </p:cBhvr>
                                      <p:to>
                                        <p:strVal val="visible"/>
                                      </p:to>
                                    </p:set>
                                    <p:animEffect transition="in" filter="barn(outVertical)">
                                      <p:cBhvr>
                                        <p:cTn id="37" dur="500"/>
                                        <p:tgtEl>
                                          <p:spTgt spid="389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3"/>
          <p:cNvSpPr txBox="1">
            <a:spLocks noGrp="1"/>
          </p:cNvSpPr>
          <p:nvPr>
            <p:ph type="sldNum" sz="quarter" idx="12"/>
          </p:nvPr>
        </p:nvSpPr>
        <p:spPr>
          <a:xfrm>
            <a:off x="6731000" y="6308725"/>
            <a:ext cx="1905000" cy="457200"/>
          </a:xfrm>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48</a:t>
            </a:fld>
            <a:endParaRPr lang="zh-CN" altLang="en-US" sz="1400" b="0">
              <a:latin typeface="Tahoma" panose="020B0604030504040204" pitchFamily="34" charset="0"/>
              <a:ea typeface="宋体" panose="02010600030101010101" pitchFamily="2" charset="-122"/>
            </a:endParaRPr>
          </a:p>
        </p:txBody>
      </p:sp>
      <p:grpSp>
        <p:nvGrpSpPr>
          <p:cNvPr id="64514" name="Group 3"/>
          <p:cNvGrpSpPr/>
          <p:nvPr/>
        </p:nvGrpSpPr>
        <p:grpSpPr>
          <a:xfrm>
            <a:off x="228600" y="2781300"/>
            <a:ext cx="8610600" cy="2895600"/>
            <a:chOff x="96" y="1488"/>
            <a:chExt cx="5424" cy="1824"/>
          </a:xfrm>
        </p:grpSpPr>
        <p:sp>
          <p:nvSpPr>
            <p:cNvPr id="64662" name="Rectangle 4"/>
            <p:cNvSpPr/>
            <p:nvPr/>
          </p:nvSpPr>
          <p:spPr>
            <a:xfrm>
              <a:off x="511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p>
          </p:txBody>
        </p:sp>
        <p:sp>
          <p:nvSpPr>
            <p:cNvPr id="64663" name="Rectangle 5"/>
            <p:cNvSpPr/>
            <p:nvPr/>
          </p:nvSpPr>
          <p:spPr>
            <a:xfrm>
              <a:off x="4715"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p>
          </p:txBody>
        </p:sp>
        <p:sp>
          <p:nvSpPr>
            <p:cNvPr id="64664" name="Rectangle 6"/>
            <p:cNvSpPr/>
            <p:nvPr/>
          </p:nvSpPr>
          <p:spPr>
            <a:xfrm>
              <a:off x="4313"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p>
          </p:txBody>
        </p:sp>
        <p:sp>
          <p:nvSpPr>
            <p:cNvPr id="64665" name="Rectangle 7"/>
            <p:cNvSpPr/>
            <p:nvPr/>
          </p:nvSpPr>
          <p:spPr>
            <a:xfrm>
              <a:off x="3910"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64666" name="Rectangle 8"/>
            <p:cNvSpPr/>
            <p:nvPr/>
          </p:nvSpPr>
          <p:spPr>
            <a:xfrm>
              <a:off x="350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64667" name="Rectangle 9"/>
            <p:cNvSpPr/>
            <p:nvPr/>
          </p:nvSpPr>
          <p:spPr>
            <a:xfrm>
              <a:off x="310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p>
          </p:txBody>
        </p:sp>
        <p:sp>
          <p:nvSpPr>
            <p:cNvPr id="64668" name="Rectangle 10"/>
            <p:cNvSpPr/>
            <p:nvPr/>
          </p:nvSpPr>
          <p:spPr>
            <a:xfrm>
              <a:off x="2702" y="1814"/>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64669" name="Rectangle 11"/>
            <p:cNvSpPr/>
            <p:nvPr/>
          </p:nvSpPr>
          <p:spPr>
            <a:xfrm>
              <a:off x="2300"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64670" name="Rectangle 12"/>
            <p:cNvSpPr/>
            <p:nvPr/>
          </p:nvSpPr>
          <p:spPr>
            <a:xfrm>
              <a:off x="189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p>
          </p:txBody>
        </p:sp>
        <p:sp>
          <p:nvSpPr>
            <p:cNvPr id="64671" name="Rectangle 13"/>
            <p:cNvSpPr/>
            <p:nvPr/>
          </p:nvSpPr>
          <p:spPr>
            <a:xfrm>
              <a:off x="1495"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p>
          </p:txBody>
        </p:sp>
        <p:sp>
          <p:nvSpPr>
            <p:cNvPr id="64672" name="Rectangle 14"/>
            <p:cNvSpPr/>
            <p:nvPr/>
          </p:nvSpPr>
          <p:spPr>
            <a:xfrm>
              <a:off x="1093"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64673" name="Rectangle 15"/>
            <p:cNvSpPr/>
            <p:nvPr/>
          </p:nvSpPr>
          <p:spPr>
            <a:xfrm>
              <a:off x="672" y="1814"/>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64674" name="Rectangle 16"/>
            <p:cNvSpPr/>
            <p:nvPr/>
          </p:nvSpPr>
          <p:spPr>
            <a:xfrm>
              <a:off x="96" y="1814"/>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P</a:t>
              </a:r>
            </a:p>
          </p:txBody>
        </p:sp>
        <p:sp>
          <p:nvSpPr>
            <p:cNvPr id="64675" name="Rectangle 17"/>
            <p:cNvSpPr/>
            <p:nvPr/>
          </p:nvSpPr>
          <p:spPr>
            <a:xfrm>
              <a:off x="511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12</a:t>
              </a:r>
            </a:p>
          </p:txBody>
        </p:sp>
        <p:sp>
          <p:nvSpPr>
            <p:cNvPr id="64676" name="Rectangle 18"/>
            <p:cNvSpPr/>
            <p:nvPr/>
          </p:nvSpPr>
          <p:spPr>
            <a:xfrm>
              <a:off x="4715"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11</a:t>
              </a:r>
            </a:p>
          </p:txBody>
        </p:sp>
        <p:sp>
          <p:nvSpPr>
            <p:cNvPr id="64677" name="Rectangle 19"/>
            <p:cNvSpPr/>
            <p:nvPr/>
          </p:nvSpPr>
          <p:spPr>
            <a:xfrm>
              <a:off x="4313"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10</a:t>
              </a:r>
            </a:p>
          </p:txBody>
        </p:sp>
        <p:sp>
          <p:nvSpPr>
            <p:cNvPr id="64678" name="Rectangle 20"/>
            <p:cNvSpPr/>
            <p:nvPr/>
          </p:nvSpPr>
          <p:spPr>
            <a:xfrm>
              <a:off x="3910"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9</a:t>
              </a:r>
            </a:p>
          </p:txBody>
        </p:sp>
        <p:sp>
          <p:nvSpPr>
            <p:cNvPr id="64679" name="Rectangle 21"/>
            <p:cNvSpPr/>
            <p:nvPr/>
          </p:nvSpPr>
          <p:spPr>
            <a:xfrm>
              <a:off x="350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8</a:t>
              </a:r>
            </a:p>
          </p:txBody>
        </p:sp>
        <p:sp>
          <p:nvSpPr>
            <p:cNvPr id="64680" name="Rectangle 22"/>
            <p:cNvSpPr/>
            <p:nvPr/>
          </p:nvSpPr>
          <p:spPr>
            <a:xfrm>
              <a:off x="310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7</a:t>
              </a:r>
            </a:p>
          </p:txBody>
        </p:sp>
        <p:sp>
          <p:nvSpPr>
            <p:cNvPr id="64681" name="Rectangle 23"/>
            <p:cNvSpPr/>
            <p:nvPr/>
          </p:nvSpPr>
          <p:spPr>
            <a:xfrm>
              <a:off x="2702" y="1488"/>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6</a:t>
              </a:r>
            </a:p>
          </p:txBody>
        </p:sp>
        <p:sp>
          <p:nvSpPr>
            <p:cNvPr id="64682" name="Rectangle 24"/>
            <p:cNvSpPr/>
            <p:nvPr/>
          </p:nvSpPr>
          <p:spPr>
            <a:xfrm>
              <a:off x="2300"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p>
          </p:txBody>
        </p:sp>
        <p:sp>
          <p:nvSpPr>
            <p:cNvPr id="64683" name="Rectangle 25"/>
            <p:cNvSpPr/>
            <p:nvPr/>
          </p:nvSpPr>
          <p:spPr>
            <a:xfrm>
              <a:off x="189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64684" name="Rectangle 26"/>
            <p:cNvSpPr/>
            <p:nvPr/>
          </p:nvSpPr>
          <p:spPr>
            <a:xfrm>
              <a:off x="1495"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64685" name="Rectangle 27"/>
            <p:cNvSpPr/>
            <p:nvPr/>
          </p:nvSpPr>
          <p:spPr>
            <a:xfrm>
              <a:off x="1093"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p>
          </p:txBody>
        </p:sp>
        <p:sp>
          <p:nvSpPr>
            <p:cNvPr id="64686" name="Rectangle 28"/>
            <p:cNvSpPr/>
            <p:nvPr/>
          </p:nvSpPr>
          <p:spPr>
            <a:xfrm>
              <a:off x="672" y="1488"/>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p>
          </p:txBody>
        </p:sp>
        <p:sp>
          <p:nvSpPr>
            <p:cNvPr id="64687" name="Rectangle 29"/>
            <p:cNvSpPr/>
            <p:nvPr/>
          </p:nvSpPr>
          <p:spPr>
            <a:xfrm>
              <a:off x="96" y="1488"/>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sz="2400" b="0">
                  <a:ea typeface="楷体_GB2312" pitchFamily="49" charset="-122"/>
                </a:rPr>
                <a:t>时刻</a:t>
              </a:r>
            </a:p>
          </p:txBody>
        </p:sp>
        <p:sp>
          <p:nvSpPr>
            <p:cNvPr id="64688" name="Line 30"/>
            <p:cNvSpPr/>
            <p:nvPr/>
          </p:nvSpPr>
          <p:spPr>
            <a:xfrm>
              <a:off x="96" y="1488"/>
              <a:ext cx="5424" cy="0"/>
            </a:xfrm>
            <a:prstGeom prst="line">
              <a:avLst/>
            </a:prstGeom>
            <a:ln w="28575" cap="sq" cmpd="sng">
              <a:solidFill>
                <a:schemeClr val="tx1"/>
              </a:solidFill>
              <a:prstDash val="solid"/>
              <a:miter/>
              <a:headEnd type="none" w="med" len="med"/>
              <a:tailEnd type="none" w="med" len="med"/>
            </a:ln>
          </p:spPr>
        </p:sp>
        <p:sp>
          <p:nvSpPr>
            <p:cNvPr id="64689" name="Line 31"/>
            <p:cNvSpPr/>
            <p:nvPr/>
          </p:nvSpPr>
          <p:spPr>
            <a:xfrm>
              <a:off x="96" y="1814"/>
              <a:ext cx="5424" cy="0"/>
            </a:xfrm>
            <a:prstGeom prst="line">
              <a:avLst/>
            </a:prstGeom>
            <a:ln w="12700" cap="flat" cmpd="sng">
              <a:solidFill>
                <a:schemeClr val="tx1"/>
              </a:solidFill>
              <a:prstDash val="solid"/>
              <a:miter/>
              <a:headEnd type="none" w="med" len="med"/>
              <a:tailEnd type="none" w="med" len="med"/>
            </a:ln>
          </p:spPr>
        </p:sp>
        <p:sp>
          <p:nvSpPr>
            <p:cNvPr id="64690" name="Line 32"/>
            <p:cNvSpPr/>
            <p:nvPr/>
          </p:nvSpPr>
          <p:spPr>
            <a:xfrm>
              <a:off x="96" y="2140"/>
              <a:ext cx="5424" cy="0"/>
            </a:xfrm>
            <a:prstGeom prst="line">
              <a:avLst/>
            </a:prstGeom>
            <a:ln w="28575" cap="sq" cmpd="sng">
              <a:solidFill>
                <a:schemeClr val="tx1"/>
              </a:solidFill>
              <a:prstDash val="solid"/>
              <a:miter/>
              <a:headEnd type="none" w="med" len="med"/>
              <a:tailEnd type="none" w="med" len="med"/>
            </a:ln>
          </p:spPr>
        </p:sp>
        <p:sp>
          <p:nvSpPr>
            <p:cNvPr id="64691" name="Line 33"/>
            <p:cNvSpPr/>
            <p:nvPr/>
          </p:nvSpPr>
          <p:spPr>
            <a:xfrm>
              <a:off x="96" y="1488"/>
              <a:ext cx="0" cy="652"/>
            </a:xfrm>
            <a:prstGeom prst="line">
              <a:avLst/>
            </a:prstGeom>
            <a:ln w="28575" cap="sq" cmpd="sng">
              <a:solidFill>
                <a:schemeClr val="tx1"/>
              </a:solidFill>
              <a:prstDash val="solid"/>
              <a:miter/>
              <a:headEnd type="none" w="med" len="med"/>
              <a:tailEnd type="none" w="med" len="med"/>
            </a:ln>
          </p:spPr>
        </p:sp>
        <p:sp>
          <p:nvSpPr>
            <p:cNvPr id="64692" name="Line 34"/>
            <p:cNvSpPr/>
            <p:nvPr/>
          </p:nvSpPr>
          <p:spPr>
            <a:xfrm>
              <a:off x="672" y="1488"/>
              <a:ext cx="0" cy="652"/>
            </a:xfrm>
            <a:prstGeom prst="line">
              <a:avLst/>
            </a:prstGeom>
            <a:ln w="12700" cap="flat" cmpd="sng">
              <a:solidFill>
                <a:schemeClr val="tx1"/>
              </a:solidFill>
              <a:prstDash val="solid"/>
              <a:miter/>
              <a:headEnd type="none" w="med" len="med"/>
              <a:tailEnd type="none" w="med" len="med"/>
            </a:ln>
          </p:spPr>
        </p:sp>
        <p:sp>
          <p:nvSpPr>
            <p:cNvPr id="64693" name="Line 35"/>
            <p:cNvSpPr/>
            <p:nvPr/>
          </p:nvSpPr>
          <p:spPr>
            <a:xfrm>
              <a:off x="1093" y="1488"/>
              <a:ext cx="0" cy="652"/>
            </a:xfrm>
            <a:prstGeom prst="line">
              <a:avLst/>
            </a:prstGeom>
            <a:ln w="12700" cap="flat" cmpd="sng">
              <a:solidFill>
                <a:schemeClr val="tx1"/>
              </a:solidFill>
              <a:prstDash val="solid"/>
              <a:miter/>
              <a:headEnd type="none" w="med" len="med"/>
              <a:tailEnd type="none" w="med" len="med"/>
            </a:ln>
          </p:spPr>
        </p:sp>
        <p:sp>
          <p:nvSpPr>
            <p:cNvPr id="64694" name="Line 36"/>
            <p:cNvSpPr/>
            <p:nvPr/>
          </p:nvSpPr>
          <p:spPr>
            <a:xfrm>
              <a:off x="1495" y="1488"/>
              <a:ext cx="0" cy="652"/>
            </a:xfrm>
            <a:prstGeom prst="line">
              <a:avLst/>
            </a:prstGeom>
            <a:ln w="12700" cap="flat" cmpd="sng">
              <a:solidFill>
                <a:schemeClr val="tx1"/>
              </a:solidFill>
              <a:prstDash val="solid"/>
              <a:miter/>
              <a:headEnd type="none" w="med" len="med"/>
              <a:tailEnd type="none" w="med" len="med"/>
            </a:ln>
          </p:spPr>
        </p:sp>
        <p:sp>
          <p:nvSpPr>
            <p:cNvPr id="64695" name="Line 37"/>
            <p:cNvSpPr/>
            <p:nvPr/>
          </p:nvSpPr>
          <p:spPr>
            <a:xfrm>
              <a:off x="1898" y="1488"/>
              <a:ext cx="0" cy="652"/>
            </a:xfrm>
            <a:prstGeom prst="line">
              <a:avLst/>
            </a:prstGeom>
            <a:ln w="12700" cap="flat" cmpd="sng">
              <a:solidFill>
                <a:schemeClr val="tx1"/>
              </a:solidFill>
              <a:prstDash val="solid"/>
              <a:miter/>
              <a:headEnd type="none" w="med" len="med"/>
              <a:tailEnd type="none" w="med" len="med"/>
            </a:ln>
          </p:spPr>
        </p:sp>
        <p:sp>
          <p:nvSpPr>
            <p:cNvPr id="64696" name="Line 38"/>
            <p:cNvSpPr/>
            <p:nvPr/>
          </p:nvSpPr>
          <p:spPr>
            <a:xfrm>
              <a:off x="2300" y="1488"/>
              <a:ext cx="0" cy="652"/>
            </a:xfrm>
            <a:prstGeom prst="line">
              <a:avLst/>
            </a:prstGeom>
            <a:ln w="12700" cap="flat" cmpd="sng">
              <a:solidFill>
                <a:schemeClr val="tx1"/>
              </a:solidFill>
              <a:prstDash val="solid"/>
              <a:miter/>
              <a:headEnd type="none" w="med" len="med"/>
              <a:tailEnd type="none" w="med" len="med"/>
            </a:ln>
          </p:spPr>
        </p:sp>
        <p:sp>
          <p:nvSpPr>
            <p:cNvPr id="64697" name="Line 39"/>
            <p:cNvSpPr/>
            <p:nvPr/>
          </p:nvSpPr>
          <p:spPr>
            <a:xfrm>
              <a:off x="2702" y="1488"/>
              <a:ext cx="0" cy="652"/>
            </a:xfrm>
            <a:prstGeom prst="line">
              <a:avLst/>
            </a:prstGeom>
            <a:ln w="12700" cap="flat" cmpd="sng">
              <a:solidFill>
                <a:schemeClr val="tx1"/>
              </a:solidFill>
              <a:prstDash val="solid"/>
              <a:miter/>
              <a:headEnd type="none" w="med" len="med"/>
              <a:tailEnd type="none" w="med" len="med"/>
            </a:ln>
          </p:spPr>
        </p:sp>
        <p:sp>
          <p:nvSpPr>
            <p:cNvPr id="64698" name="Line 40"/>
            <p:cNvSpPr/>
            <p:nvPr/>
          </p:nvSpPr>
          <p:spPr>
            <a:xfrm>
              <a:off x="3106" y="1488"/>
              <a:ext cx="0" cy="652"/>
            </a:xfrm>
            <a:prstGeom prst="line">
              <a:avLst/>
            </a:prstGeom>
            <a:ln w="12700" cap="flat" cmpd="sng">
              <a:solidFill>
                <a:schemeClr val="tx1"/>
              </a:solidFill>
              <a:prstDash val="solid"/>
              <a:miter/>
              <a:headEnd type="none" w="med" len="med"/>
              <a:tailEnd type="none" w="med" len="med"/>
            </a:ln>
          </p:spPr>
        </p:sp>
        <p:sp>
          <p:nvSpPr>
            <p:cNvPr id="64699" name="Line 41"/>
            <p:cNvSpPr/>
            <p:nvPr/>
          </p:nvSpPr>
          <p:spPr>
            <a:xfrm>
              <a:off x="3508" y="1488"/>
              <a:ext cx="0" cy="652"/>
            </a:xfrm>
            <a:prstGeom prst="line">
              <a:avLst/>
            </a:prstGeom>
            <a:ln w="12700" cap="flat" cmpd="sng">
              <a:solidFill>
                <a:schemeClr val="tx1"/>
              </a:solidFill>
              <a:prstDash val="solid"/>
              <a:miter/>
              <a:headEnd type="none" w="med" len="med"/>
              <a:tailEnd type="none" w="med" len="med"/>
            </a:ln>
          </p:spPr>
        </p:sp>
        <p:sp>
          <p:nvSpPr>
            <p:cNvPr id="64700" name="Line 42"/>
            <p:cNvSpPr/>
            <p:nvPr/>
          </p:nvSpPr>
          <p:spPr>
            <a:xfrm>
              <a:off x="3910" y="1488"/>
              <a:ext cx="0" cy="652"/>
            </a:xfrm>
            <a:prstGeom prst="line">
              <a:avLst/>
            </a:prstGeom>
            <a:ln w="12700" cap="flat" cmpd="sng">
              <a:solidFill>
                <a:schemeClr val="tx1"/>
              </a:solidFill>
              <a:prstDash val="solid"/>
              <a:miter/>
              <a:headEnd type="none" w="med" len="med"/>
              <a:tailEnd type="none" w="med" len="med"/>
            </a:ln>
          </p:spPr>
        </p:sp>
        <p:sp>
          <p:nvSpPr>
            <p:cNvPr id="64701" name="Line 43"/>
            <p:cNvSpPr/>
            <p:nvPr/>
          </p:nvSpPr>
          <p:spPr>
            <a:xfrm>
              <a:off x="4313" y="1488"/>
              <a:ext cx="0" cy="652"/>
            </a:xfrm>
            <a:prstGeom prst="line">
              <a:avLst/>
            </a:prstGeom>
            <a:ln w="12700" cap="flat" cmpd="sng">
              <a:solidFill>
                <a:schemeClr val="tx1"/>
              </a:solidFill>
              <a:prstDash val="solid"/>
              <a:miter/>
              <a:headEnd type="none" w="med" len="med"/>
              <a:tailEnd type="none" w="med" len="med"/>
            </a:ln>
          </p:spPr>
        </p:sp>
        <p:sp>
          <p:nvSpPr>
            <p:cNvPr id="64702" name="Line 44"/>
            <p:cNvSpPr/>
            <p:nvPr/>
          </p:nvSpPr>
          <p:spPr>
            <a:xfrm>
              <a:off x="4715" y="1488"/>
              <a:ext cx="0" cy="652"/>
            </a:xfrm>
            <a:prstGeom prst="line">
              <a:avLst/>
            </a:prstGeom>
            <a:ln w="12700" cap="flat" cmpd="sng">
              <a:solidFill>
                <a:schemeClr val="tx1"/>
              </a:solidFill>
              <a:prstDash val="solid"/>
              <a:miter/>
              <a:headEnd type="none" w="med" len="med"/>
              <a:tailEnd type="none" w="med" len="med"/>
            </a:ln>
          </p:spPr>
        </p:sp>
        <p:sp>
          <p:nvSpPr>
            <p:cNvPr id="64703" name="Line 45"/>
            <p:cNvSpPr/>
            <p:nvPr/>
          </p:nvSpPr>
          <p:spPr>
            <a:xfrm>
              <a:off x="5118" y="1488"/>
              <a:ext cx="0" cy="652"/>
            </a:xfrm>
            <a:prstGeom prst="line">
              <a:avLst/>
            </a:prstGeom>
            <a:ln w="12700" cap="flat" cmpd="sng">
              <a:solidFill>
                <a:schemeClr val="tx1"/>
              </a:solidFill>
              <a:prstDash val="solid"/>
              <a:miter/>
              <a:headEnd type="none" w="med" len="med"/>
              <a:tailEnd type="none" w="med" len="med"/>
            </a:ln>
          </p:spPr>
        </p:sp>
        <p:sp>
          <p:nvSpPr>
            <p:cNvPr id="64704" name="Line 46"/>
            <p:cNvSpPr/>
            <p:nvPr/>
          </p:nvSpPr>
          <p:spPr>
            <a:xfrm>
              <a:off x="5520" y="1488"/>
              <a:ext cx="0" cy="652"/>
            </a:xfrm>
            <a:prstGeom prst="line">
              <a:avLst/>
            </a:prstGeom>
            <a:ln w="28575" cap="sq" cmpd="sng">
              <a:solidFill>
                <a:schemeClr val="tx1"/>
              </a:solidFill>
              <a:prstDash val="solid"/>
              <a:miter/>
              <a:headEnd type="none" w="med" len="med"/>
              <a:tailEnd type="none" w="med" len="med"/>
            </a:ln>
          </p:spPr>
        </p:sp>
        <p:sp>
          <p:nvSpPr>
            <p:cNvPr id="64705" name="Rectangle 47"/>
            <p:cNvSpPr/>
            <p:nvPr/>
          </p:nvSpPr>
          <p:spPr>
            <a:xfrm>
              <a:off x="96" y="2968"/>
              <a:ext cx="576" cy="34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F</a:t>
              </a:r>
            </a:p>
          </p:txBody>
        </p:sp>
        <p:sp>
          <p:nvSpPr>
            <p:cNvPr id="64706" name="Rectangle 48"/>
            <p:cNvSpPr/>
            <p:nvPr/>
          </p:nvSpPr>
          <p:spPr>
            <a:xfrm>
              <a:off x="96" y="2152"/>
              <a:ext cx="576" cy="81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M</a:t>
              </a:r>
            </a:p>
          </p:txBody>
        </p:sp>
        <p:sp>
          <p:nvSpPr>
            <p:cNvPr id="64707" name="Line 49"/>
            <p:cNvSpPr/>
            <p:nvPr/>
          </p:nvSpPr>
          <p:spPr>
            <a:xfrm>
              <a:off x="96" y="2152"/>
              <a:ext cx="576" cy="0"/>
            </a:xfrm>
            <a:prstGeom prst="line">
              <a:avLst/>
            </a:prstGeom>
            <a:ln w="28575" cap="sq" cmpd="sng">
              <a:solidFill>
                <a:schemeClr val="tx1"/>
              </a:solidFill>
              <a:prstDash val="solid"/>
              <a:miter/>
              <a:headEnd type="none" w="med" len="med"/>
              <a:tailEnd type="none" w="med" len="med"/>
            </a:ln>
          </p:spPr>
        </p:sp>
        <p:sp>
          <p:nvSpPr>
            <p:cNvPr id="64708" name="Line 50"/>
            <p:cNvSpPr/>
            <p:nvPr/>
          </p:nvSpPr>
          <p:spPr>
            <a:xfrm>
              <a:off x="96" y="2968"/>
              <a:ext cx="576" cy="0"/>
            </a:xfrm>
            <a:prstGeom prst="line">
              <a:avLst/>
            </a:prstGeom>
            <a:ln w="12700" cap="flat" cmpd="sng">
              <a:solidFill>
                <a:schemeClr val="tx1"/>
              </a:solidFill>
              <a:prstDash val="solid"/>
              <a:miter/>
              <a:headEnd type="none" w="med" len="med"/>
              <a:tailEnd type="none" w="med" len="med"/>
            </a:ln>
          </p:spPr>
        </p:sp>
        <p:sp>
          <p:nvSpPr>
            <p:cNvPr id="64709" name="Line 51"/>
            <p:cNvSpPr/>
            <p:nvPr/>
          </p:nvSpPr>
          <p:spPr>
            <a:xfrm>
              <a:off x="96" y="3312"/>
              <a:ext cx="576" cy="0"/>
            </a:xfrm>
            <a:prstGeom prst="line">
              <a:avLst/>
            </a:prstGeom>
            <a:ln w="28575" cap="sq" cmpd="sng">
              <a:solidFill>
                <a:schemeClr val="tx1"/>
              </a:solidFill>
              <a:prstDash val="solid"/>
              <a:miter/>
              <a:headEnd type="none" w="med" len="med"/>
              <a:tailEnd type="none" w="med" len="med"/>
            </a:ln>
          </p:spPr>
        </p:sp>
        <p:sp>
          <p:nvSpPr>
            <p:cNvPr id="64710" name="Line 52"/>
            <p:cNvSpPr/>
            <p:nvPr/>
          </p:nvSpPr>
          <p:spPr>
            <a:xfrm>
              <a:off x="96" y="2152"/>
              <a:ext cx="0" cy="1160"/>
            </a:xfrm>
            <a:prstGeom prst="line">
              <a:avLst/>
            </a:prstGeom>
            <a:ln w="28575" cap="sq" cmpd="sng">
              <a:solidFill>
                <a:schemeClr val="tx1"/>
              </a:solidFill>
              <a:prstDash val="solid"/>
              <a:miter/>
              <a:headEnd type="none" w="med" len="med"/>
              <a:tailEnd type="none" w="med" len="med"/>
            </a:ln>
          </p:spPr>
        </p:sp>
        <p:sp>
          <p:nvSpPr>
            <p:cNvPr id="64711" name="Line 53"/>
            <p:cNvSpPr/>
            <p:nvPr/>
          </p:nvSpPr>
          <p:spPr>
            <a:xfrm>
              <a:off x="672" y="2152"/>
              <a:ext cx="0" cy="1160"/>
            </a:xfrm>
            <a:prstGeom prst="line">
              <a:avLst/>
            </a:prstGeom>
            <a:ln w="28575" cap="sq" cmpd="sng">
              <a:solidFill>
                <a:schemeClr val="tx1"/>
              </a:solidFill>
              <a:prstDash val="solid"/>
              <a:miter/>
              <a:headEnd type="none" w="med" len="med"/>
              <a:tailEnd type="none" w="med" len="med"/>
            </a:ln>
          </p:spPr>
        </p:sp>
      </p:grpSp>
      <p:graphicFrame>
        <p:nvGraphicFramePr>
          <p:cNvPr id="64515" name="表格 64514"/>
          <p:cNvGraphicFramePr/>
          <p:nvPr/>
        </p:nvGraphicFramePr>
        <p:xfrm>
          <a:off x="1143000" y="3835400"/>
          <a:ext cx="685800" cy="1843088"/>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4527" name="表格 64526"/>
          <p:cNvGraphicFramePr/>
          <p:nvPr/>
        </p:nvGraphicFramePr>
        <p:xfrm>
          <a:off x="1828800" y="3835400"/>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4539" name="表格 64538"/>
          <p:cNvGraphicFramePr/>
          <p:nvPr/>
        </p:nvGraphicFramePr>
        <p:xfrm>
          <a:off x="2438400" y="3835400"/>
          <a:ext cx="685800" cy="1843088"/>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4551" name="表格 64550"/>
          <p:cNvGraphicFramePr/>
          <p:nvPr/>
        </p:nvGraphicFramePr>
        <p:xfrm>
          <a:off x="3124200" y="3835400"/>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4563" name="表格 64562"/>
          <p:cNvGraphicFramePr/>
          <p:nvPr/>
        </p:nvGraphicFramePr>
        <p:xfrm>
          <a:off x="3733800" y="3835400"/>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4575" name="表格 64574"/>
          <p:cNvGraphicFramePr/>
          <p:nvPr/>
        </p:nvGraphicFramePr>
        <p:xfrm>
          <a:off x="4343400" y="3835400"/>
          <a:ext cx="685800" cy="1843088"/>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4587" name="表格 64586"/>
          <p:cNvGraphicFramePr/>
          <p:nvPr/>
        </p:nvGraphicFramePr>
        <p:xfrm>
          <a:off x="5029200" y="3833813"/>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4599" name="表格 64598"/>
          <p:cNvGraphicFramePr/>
          <p:nvPr/>
        </p:nvGraphicFramePr>
        <p:xfrm>
          <a:off x="5638800" y="3833813"/>
          <a:ext cx="685800" cy="1843088"/>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4611" name="表格 64610"/>
          <p:cNvGraphicFramePr/>
          <p:nvPr/>
        </p:nvGraphicFramePr>
        <p:xfrm>
          <a:off x="6324600" y="3833813"/>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4623" name="表格 64622"/>
          <p:cNvGraphicFramePr/>
          <p:nvPr/>
        </p:nvGraphicFramePr>
        <p:xfrm>
          <a:off x="6934200" y="3833813"/>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4635" name="表格 64634"/>
          <p:cNvGraphicFramePr/>
          <p:nvPr/>
        </p:nvGraphicFramePr>
        <p:xfrm>
          <a:off x="7543800" y="3833813"/>
          <a:ext cx="685800" cy="1843088"/>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4647" name="表格 64646"/>
          <p:cNvGraphicFramePr/>
          <p:nvPr/>
        </p:nvGraphicFramePr>
        <p:xfrm>
          <a:off x="8229600" y="3835400"/>
          <a:ext cx="609600" cy="1843088"/>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94438" name="Text Box 198"/>
          <p:cNvSpPr txBox="1"/>
          <p:nvPr/>
        </p:nvSpPr>
        <p:spPr>
          <a:xfrm>
            <a:off x="228600" y="5829300"/>
            <a:ext cx="8229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2400" b="0">
                <a:ea typeface="楷体_GB2312" pitchFamily="49" charset="-122"/>
              </a:rPr>
              <a:t>算出缺页中断次数</a:t>
            </a:r>
            <a:r>
              <a:rPr lang="en-US" altLang="zh-CN" sz="2400" b="0">
                <a:ea typeface="楷体_GB2312" pitchFamily="49" charset="-122"/>
              </a:rPr>
              <a:t>F=10</a:t>
            </a:r>
            <a:r>
              <a:rPr lang="zh-CN" altLang="en-US" sz="2400" b="0">
                <a:ea typeface="楷体_GB2312" pitchFamily="49" charset="-122"/>
              </a:rPr>
              <a:t>，缺页率</a:t>
            </a:r>
            <a:r>
              <a:rPr lang="en-US" altLang="zh-CN" sz="2400" b="0" i="1">
                <a:ea typeface="楷体_GB2312" pitchFamily="49" charset="-122"/>
              </a:rPr>
              <a:t>f </a:t>
            </a:r>
            <a:r>
              <a:rPr lang="en-US" altLang="zh-CN" sz="2400" b="0">
                <a:ea typeface="楷体_GB2312" pitchFamily="49" charset="-122"/>
              </a:rPr>
              <a:t>=10</a:t>
            </a:r>
            <a:r>
              <a:rPr lang="zh-CN" altLang="en-US" sz="2400" b="0">
                <a:ea typeface="楷体_GB2312" pitchFamily="49" charset="-122"/>
              </a:rPr>
              <a:t>／</a:t>
            </a:r>
            <a:r>
              <a:rPr lang="en-US" altLang="zh-CN" sz="2400" b="0">
                <a:ea typeface="楷体_GB2312" pitchFamily="49" charset="-122"/>
              </a:rPr>
              <a:t>12=83</a:t>
            </a:r>
            <a:r>
              <a:rPr lang="zh-CN" altLang="en-US" sz="2400" b="0">
                <a:ea typeface="楷体_GB2312" pitchFamily="49" charset="-122"/>
              </a:rPr>
              <a:t>％。</a:t>
            </a:r>
          </a:p>
        </p:txBody>
      </p:sp>
      <p:sp>
        <p:nvSpPr>
          <p:cNvPr id="64660" name="矩形 1"/>
          <p:cNvSpPr/>
          <p:nvPr/>
        </p:nvSpPr>
        <p:spPr>
          <a:xfrm>
            <a:off x="228600" y="1484313"/>
            <a:ext cx="8807450"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 typeface="Wingdings" panose="05000000000000000000" pitchFamily="2" charset="2"/>
              <a:buNone/>
            </a:pPr>
            <a:r>
              <a:rPr lang="zh-CN" altLang="en-US" sz="2400" b="0"/>
              <a:t>例</a:t>
            </a:r>
            <a:r>
              <a:rPr lang="en-US" altLang="zh-CN" sz="2400" b="0"/>
              <a:t>3.   </a:t>
            </a:r>
            <a:r>
              <a:rPr lang="zh-CN" altLang="en-US" sz="2400" b="0"/>
              <a:t>设</a:t>
            </a:r>
            <a:r>
              <a:rPr lang="en-US" altLang="zh-CN" sz="2400" b="0"/>
              <a:t>M=3</a:t>
            </a:r>
            <a:r>
              <a:rPr lang="zh-CN" altLang="en-US" sz="2400" b="0"/>
              <a:t>，置换算法为</a:t>
            </a:r>
            <a:r>
              <a:rPr lang="en-US" altLang="zh-CN" sz="2400" b="0"/>
              <a:t>LRU</a:t>
            </a:r>
            <a:r>
              <a:rPr lang="zh-CN" altLang="en-US" sz="2400" b="0"/>
              <a:t>。由于采用</a:t>
            </a:r>
            <a:r>
              <a:rPr lang="en-US" altLang="zh-CN" sz="2400" b="0"/>
              <a:t>LRU</a:t>
            </a:r>
            <a:r>
              <a:rPr lang="zh-CN" altLang="en-US" sz="2400" b="0"/>
              <a:t>算法，</a:t>
            </a:r>
            <a:r>
              <a:rPr lang="en-US" altLang="zh-CN" sz="2400" b="0"/>
              <a:t>M</a:t>
            </a:r>
            <a:r>
              <a:rPr lang="zh-CN" altLang="en-US" sz="2400" b="0"/>
              <a:t>中各列按访问的时间顺序排列，最近被访问的页面在最前。</a:t>
            </a:r>
          </a:p>
        </p:txBody>
      </p:sp>
      <p:sp>
        <p:nvSpPr>
          <p:cNvPr id="69" name="Rectangle 2"/>
          <p:cNvSpPr txBox="1">
            <a:spLocks noChangeArrowheads="1"/>
          </p:cNvSpPr>
          <p:nvPr/>
        </p:nvSpPr>
        <p:spPr>
          <a:xfrm>
            <a:off x="406400" y="557213"/>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nb-NO" altLang="zh-CN" sz="3600" b="0">
                <a:solidFill>
                  <a:schemeClr val="tx2"/>
                </a:solidFill>
                <a:latin typeface="Arial Black" panose="020B0A04020102020204" pitchFamily="34" charset="0"/>
              </a:rPr>
              <a:t>5.</a:t>
            </a:r>
            <a:r>
              <a:rPr lang="en-US" altLang="zh-CN" sz="3600" b="0">
                <a:solidFill>
                  <a:schemeClr val="tx2"/>
                </a:solidFill>
                <a:latin typeface="Arial Black" panose="020B0A04020102020204" pitchFamily="34" charset="0"/>
              </a:rPr>
              <a:t>8</a:t>
            </a:r>
            <a:r>
              <a:rPr lang="nb-NO" altLang="zh-CN" sz="3600" b="0">
                <a:solidFill>
                  <a:schemeClr val="tx2"/>
                </a:solidFill>
                <a:latin typeface="Arial Black" panose="020B0A04020102020204" pitchFamily="34" charset="0"/>
              </a:rPr>
              <a:t>.</a:t>
            </a:r>
            <a:r>
              <a:rPr lang="en-US" altLang="zh-CN" sz="3600" b="0">
                <a:solidFill>
                  <a:schemeClr val="tx2"/>
                </a:solidFill>
                <a:latin typeface="Arial Black" panose="020B0A04020102020204" pitchFamily="34" charset="0"/>
              </a:rPr>
              <a:t>4</a:t>
            </a:r>
            <a:r>
              <a:rPr lang="zh-CN" altLang="en-US" sz="3600" b="0">
                <a:solidFill>
                  <a:schemeClr val="tx2"/>
                </a:solidFill>
                <a:latin typeface="Arial Black" panose="020B0A04020102020204" pitchFamily="34" charset="0"/>
              </a:rPr>
              <a:t>页面置换算法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4515"/>
                                        </p:tgtEl>
                                        <p:attrNameLst>
                                          <p:attrName>style.visibility</p:attrName>
                                        </p:attrNameLst>
                                      </p:cBhvr>
                                      <p:to>
                                        <p:strVal val="visible"/>
                                      </p:to>
                                    </p:set>
                                    <p:anim calcmode="lin" valueType="num">
                                      <p:cBhvr additive="base">
                                        <p:cTn id="7" dur="500" fill="hold"/>
                                        <p:tgtEl>
                                          <p:spTgt spid="64515"/>
                                        </p:tgtEl>
                                        <p:attrNameLst>
                                          <p:attrName>ppt_x</p:attrName>
                                        </p:attrNameLst>
                                      </p:cBhvr>
                                      <p:tavLst>
                                        <p:tav tm="0">
                                          <p:val>
                                            <p:strVal val="1+#ppt_w/2"/>
                                          </p:val>
                                        </p:tav>
                                        <p:tav tm="100000">
                                          <p:val>
                                            <p:strVal val="#ppt_x"/>
                                          </p:val>
                                        </p:tav>
                                      </p:tavLst>
                                    </p:anim>
                                    <p:anim calcmode="lin" valueType="num">
                                      <p:cBhvr additive="base">
                                        <p:cTn id="8" dur="500" fill="hold"/>
                                        <p:tgtEl>
                                          <p:spTgt spid="645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4527"/>
                                        </p:tgtEl>
                                        <p:attrNameLst>
                                          <p:attrName>style.visibility</p:attrName>
                                        </p:attrNameLst>
                                      </p:cBhvr>
                                      <p:to>
                                        <p:strVal val="visible"/>
                                      </p:to>
                                    </p:set>
                                    <p:anim calcmode="lin" valueType="num">
                                      <p:cBhvr additive="base">
                                        <p:cTn id="13" dur="500" fill="hold"/>
                                        <p:tgtEl>
                                          <p:spTgt spid="64527"/>
                                        </p:tgtEl>
                                        <p:attrNameLst>
                                          <p:attrName>ppt_x</p:attrName>
                                        </p:attrNameLst>
                                      </p:cBhvr>
                                      <p:tavLst>
                                        <p:tav tm="0">
                                          <p:val>
                                            <p:strVal val="1+#ppt_w/2"/>
                                          </p:val>
                                        </p:tav>
                                        <p:tav tm="100000">
                                          <p:val>
                                            <p:strVal val="#ppt_x"/>
                                          </p:val>
                                        </p:tav>
                                      </p:tavLst>
                                    </p:anim>
                                    <p:anim calcmode="lin" valueType="num">
                                      <p:cBhvr additive="base">
                                        <p:cTn id="14" dur="500" fill="hold"/>
                                        <p:tgtEl>
                                          <p:spTgt spid="6452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64539"/>
                                        </p:tgtEl>
                                        <p:attrNameLst>
                                          <p:attrName>style.visibility</p:attrName>
                                        </p:attrNameLst>
                                      </p:cBhvr>
                                      <p:to>
                                        <p:strVal val="visible"/>
                                      </p:to>
                                    </p:set>
                                    <p:anim calcmode="lin" valueType="num">
                                      <p:cBhvr additive="base">
                                        <p:cTn id="19" dur="500" fill="hold"/>
                                        <p:tgtEl>
                                          <p:spTgt spid="64539"/>
                                        </p:tgtEl>
                                        <p:attrNameLst>
                                          <p:attrName>ppt_x</p:attrName>
                                        </p:attrNameLst>
                                      </p:cBhvr>
                                      <p:tavLst>
                                        <p:tav tm="0">
                                          <p:val>
                                            <p:strVal val="1+#ppt_w/2"/>
                                          </p:val>
                                        </p:tav>
                                        <p:tav tm="100000">
                                          <p:val>
                                            <p:strVal val="#ppt_x"/>
                                          </p:val>
                                        </p:tav>
                                      </p:tavLst>
                                    </p:anim>
                                    <p:anim calcmode="lin" valueType="num">
                                      <p:cBhvr additive="base">
                                        <p:cTn id="20" dur="500" fill="hold"/>
                                        <p:tgtEl>
                                          <p:spTgt spid="6453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64551"/>
                                        </p:tgtEl>
                                        <p:attrNameLst>
                                          <p:attrName>style.visibility</p:attrName>
                                        </p:attrNameLst>
                                      </p:cBhvr>
                                      <p:to>
                                        <p:strVal val="visible"/>
                                      </p:to>
                                    </p:set>
                                    <p:anim calcmode="lin" valueType="num">
                                      <p:cBhvr additive="base">
                                        <p:cTn id="25" dur="500" fill="hold"/>
                                        <p:tgtEl>
                                          <p:spTgt spid="64551"/>
                                        </p:tgtEl>
                                        <p:attrNameLst>
                                          <p:attrName>ppt_x</p:attrName>
                                        </p:attrNameLst>
                                      </p:cBhvr>
                                      <p:tavLst>
                                        <p:tav tm="0">
                                          <p:val>
                                            <p:strVal val="1+#ppt_w/2"/>
                                          </p:val>
                                        </p:tav>
                                        <p:tav tm="100000">
                                          <p:val>
                                            <p:strVal val="#ppt_x"/>
                                          </p:val>
                                        </p:tav>
                                      </p:tavLst>
                                    </p:anim>
                                    <p:anim calcmode="lin" valueType="num">
                                      <p:cBhvr additive="base">
                                        <p:cTn id="26" dur="500" fill="hold"/>
                                        <p:tgtEl>
                                          <p:spTgt spid="6455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64563"/>
                                        </p:tgtEl>
                                        <p:attrNameLst>
                                          <p:attrName>style.visibility</p:attrName>
                                        </p:attrNameLst>
                                      </p:cBhvr>
                                      <p:to>
                                        <p:strVal val="visible"/>
                                      </p:to>
                                    </p:set>
                                    <p:anim calcmode="lin" valueType="num">
                                      <p:cBhvr additive="base">
                                        <p:cTn id="31" dur="500" fill="hold"/>
                                        <p:tgtEl>
                                          <p:spTgt spid="64563"/>
                                        </p:tgtEl>
                                        <p:attrNameLst>
                                          <p:attrName>ppt_x</p:attrName>
                                        </p:attrNameLst>
                                      </p:cBhvr>
                                      <p:tavLst>
                                        <p:tav tm="0">
                                          <p:val>
                                            <p:strVal val="1+#ppt_w/2"/>
                                          </p:val>
                                        </p:tav>
                                        <p:tav tm="100000">
                                          <p:val>
                                            <p:strVal val="#ppt_x"/>
                                          </p:val>
                                        </p:tav>
                                      </p:tavLst>
                                    </p:anim>
                                    <p:anim calcmode="lin" valueType="num">
                                      <p:cBhvr additive="base">
                                        <p:cTn id="32" dur="500" fill="hold"/>
                                        <p:tgtEl>
                                          <p:spTgt spid="6456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64575"/>
                                        </p:tgtEl>
                                        <p:attrNameLst>
                                          <p:attrName>style.visibility</p:attrName>
                                        </p:attrNameLst>
                                      </p:cBhvr>
                                      <p:to>
                                        <p:strVal val="visible"/>
                                      </p:to>
                                    </p:set>
                                    <p:anim calcmode="lin" valueType="num">
                                      <p:cBhvr additive="base">
                                        <p:cTn id="37" dur="500" fill="hold"/>
                                        <p:tgtEl>
                                          <p:spTgt spid="64575"/>
                                        </p:tgtEl>
                                        <p:attrNameLst>
                                          <p:attrName>ppt_x</p:attrName>
                                        </p:attrNameLst>
                                      </p:cBhvr>
                                      <p:tavLst>
                                        <p:tav tm="0">
                                          <p:val>
                                            <p:strVal val="1+#ppt_w/2"/>
                                          </p:val>
                                        </p:tav>
                                        <p:tav tm="100000">
                                          <p:val>
                                            <p:strVal val="#ppt_x"/>
                                          </p:val>
                                        </p:tav>
                                      </p:tavLst>
                                    </p:anim>
                                    <p:anim calcmode="lin" valueType="num">
                                      <p:cBhvr additive="base">
                                        <p:cTn id="38" dur="500" fill="hold"/>
                                        <p:tgtEl>
                                          <p:spTgt spid="6457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64587"/>
                                        </p:tgtEl>
                                        <p:attrNameLst>
                                          <p:attrName>style.visibility</p:attrName>
                                        </p:attrNameLst>
                                      </p:cBhvr>
                                      <p:to>
                                        <p:strVal val="visible"/>
                                      </p:to>
                                    </p:set>
                                    <p:anim calcmode="lin" valueType="num">
                                      <p:cBhvr additive="base">
                                        <p:cTn id="43" dur="500" fill="hold"/>
                                        <p:tgtEl>
                                          <p:spTgt spid="64587"/>
                                        </p:tgtEl>
                                        <p:attrNameLst>
                                          <p:attrName>ppt_x</p:attrName>
                                        </p:attrNameLst>
                                      </p:cBhvr>
                                      <p:tavLst>
                                        <p:tav tm="0">
                                          <p:val>
                                            <p:strVal val="1+#ppt_w/2"/>
                                          </p:val>
                                        </p:tav>
                                        <p:tav tm="100000">
                                          <p:val>
                                            <p:strVal val="#ppt_x"/>
                                          </p:val>
                                        </p:tav>
                                      </p:tavLst>
                                    </p:anim>
                                    <p:anim calcmode="lin" valueType="num">
                                      <p:cBhvr additive="base">
                                        <p:cTn id="44" dur="500" fill="hold"/>
                                        <p:tgtEl>
                                          <p:spTgt spid="6458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64599"/>
                                        </p:tgtEl>
                                        <p:attrNameLst>
                                          <p:attrName>style.visibility</p:attrName>
                                        </p:attrNameLst>
                                      </p:cBhvr>
                                      <p:to>
                                        <p:strVal val="visible"/>
                                      </p:to>
                                    </p:set>
                                    <p:anim calcmode="lin" valueType="num">
                                      <p:cBhvr additive="base">
                                        <p:cTn id="49" dur="500" fill="hold"/>
                                        <p:tgtEl>
                                          <p:spTgt spid="64599"/>
                                        </p:tgtEl>
                                        <p:attrNameLst>
                                          <p:attrName>ppt_x</p:attrName>
                                        </p:attrNameLst>
                                      </p:cBhvr>
                                      <p:tavLst>
                                        <p:tav tm="0">
                                          <p:val>
                                            <p:strVal val="1+#ppt_w/2"/>
                                          </p:val>
                                        </p:tav>
                                        <p:tav tm="100000">
                                          <p:val>
                                            <p:strVal val="#ppt_x"/>
                                          </p:val>
                                        </p:tav>
                                      </p:tavLst>
                                    </p:anim>
                                    <p:anim calcmode="lin" valueType="num">
                                      <p:cBhvr additive="base">
                                        <p:cTn id="50" dur="500" fill="hold"/>
                                        <p:tgtEl>
                                          <p:spTgt spid="6459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64611"/>
                                        </p:tgtEl>
                                        <p:attrNameLst>
                                          <p:attrName>style.visibility</p:attrName>
                                        </p:attrNameLst>
                                      </p:cBhvr>
                                      <p:to>
                                        <p:strVal val="visible"/>
                                      </p:to>
                                    </p:set>
                                    <p:anim calcmode="lin" valueType="num">
                                      <p:cBhvr additive="base">
                                        <p:cTn id="55" dur="500" fill="hold"/>
                                        <p:tgtEl>
                                          <p:spTgt spid="64611"/>
                                        </p:tgtEl>
                                        <p:attrNameLst>
                                          <p:attrName>ppt_x</p:attrName>
                                        </p:attrNameLst>
                                      </p:cBhvr>
                                      <p:tavLst>
                                        <p:tav tm="0">
                                          <p:val>
                                            <p:strVal val="1+#ppt_w/2"/>
                                          </p:val>
                                        </p:tav>
                                        <p:tav tm="100000">
                                          <p:val>
                                            <p:strVal val="#ppt_x"/>
                                          </p:val>
                                        </p:tav>
                                      </p:tavLst>
                                    </p:anim>
                                    <p:anim calcmode="lin" valueType="num">
                                      <p:cBhvr additive="base">
                                        <p:cTn id="56" dur="500" fill="hold"/>
                                        <p:tgtEl>
                                          <p:spTgt spid="64611"/>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64623"/>
                                        </p:tgtEl>
                                        <p:attrNameLst>
                                          <p:attrName>style.visibility</p:attrName>
                                        </p:attrNameLst>
                                      </p:cBhvr>
                                      <p:to>
                                        <p:strVal val="visible"/>
                                      </p:to>
                                    </p:set>
                                    <p:anim calcmode="lin" valueType="num">
                                      <p:cBhvr additive="base">
                                        <p:cTn id="61" dur="500" fill="hold"/>
                                        <p:tgtEl>
                                          <p:spTgt spid="64623"/>
                                        </p:tgtEl>
                                        <p:attrNameLst>
                                          <p:attrName>ppt_x</p:attrName>
                                        </p:attrNameLst>
                                      </p:cBhvr>
                                      <p:tavLst>
                                        <p:tav tm="0">
                                          <p:val>
                                            <p:strVal val="1+#ppt_w/2"/>
                                          </p:val>
                                        </p:tav>
                                        <p:tav tm="100000">
                                          <p:val>
                                            <p:strVal val="#ppt_x"/>
                                          </p:val>
                                        </p:tav>
                                      </p:tavLst>
                                    </p:anim>
                                    <p:anim calcmode="lin" valueType="num">
                                      <p:cBhvr additive="base">
                                        <p:cTn id="62" dur="500" fill="hold"/>
                                        <p:tgtEl>
                                          <p:spTgt spid="64623"/>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nodeType="clickEffect">
                                  <p:stCondLst>
                                    <p:cond delay="0"/>
                                  </p:stCondLst>
                                  <p:childTnLst>
                                    <p:set>
                                      <p:cBhvr>
                                        <p:cTn id="66" dur="1" fill="hold">
                                          <p:stCondLst>
                                            <p:cond delay="0"/>
                                          </p:stCondLst>
                                        </p:cTn>
                                        <p:tgtEl>
                                          <p:spTgt spid="64635"/>
                                        </p:tgtEl>
                                        <p:attrNameLst>
                                          <p:attrName>style.visibility</p:attrName>
                                        </p:attrNameLst>
                                      </p:cBhvr>
                                      <p:to>
                                        <p:strVal val="visible"/>
                                      </p:to>
                                    </p:set>
                                    <p:anim calcmode="lin" valueType="num">
                                      <p:cBhvr additive="base">
                                        <p:cTn id="67" dur="500" fill="hold"/>
                                        <p:tgtEl>
                                          <p:spTgt spid="64635"/>
                                        </p:tgtEl>
                                        <p:attrNameLst>
                                          <p:attrName>ppt_x</p:attrName>
                                        </p:attrNameLst>
                                      </p:cBhvr>
                                      <p:tavLst>
                                        <p:tav tm="0">
                                          <p:val>
                                            <p:strVal val="1+#ppt_w/2"/>
                                          </p:val>
                                        </p:tav>
                                        <p:tav tm="100000">
                                          <p:val>
                                            <p:strVal val="#ppt_x"/>
                                          </p:val>
                                        </p:tav>
                                      </p:tavLst>
                                    </p:anim>
                                    <p:anim calcmode="lin" valueType="num">
                                      <p:cBhvr additive="base">
                                        <p:cTn id="68" dur="500" fill="hold"/>
                                        <p:tgtEl>
                                          <p:spTgt spid="6463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nodeType="clickEffect">
                                  <p:stCondLst>
                                    <p:cond delay="0"/>
                                  </p:stCondLst>
                                  <p:childTnLst>
                                    <p:set>
                                      <p:cBhvr>
                                        <p:cTn id="72" dur="1" fill="hold">
                                          <p:stCondLst>
                                            <p:cond delay="0"/>
                                          </p:stCondLst>
                                        </p:cTn>
                                        <p:tgtEl>
                                          <p:spTgt spid="64647"/>
                                        </p:tgtEl>
                                        <p:attrNameLst>
                                          <p:attrName>style.visibility</p:attrName>
                                        </p:attrNameLst>
                                      </p:cBhvr>
                                      <p:to>
                                        <p:strVal val="visible"/>
                                      </p:to>
                                    </p:set>
                                    <p:anim calcmode="lin" valueType="num">
                                      <p:cBhvr additive="base">
                                        <p:cTn id="73" dur="500" fill="hold"/>
                                        <p:tgtEl>
                                          <p:spTgt spid="64647"/>
                                        </p:tgtEl>
                                        <p:attrNameLst>
                                          <p:attrName>ppt_x</p:attrName>
                                        </p:attrNameLst>
                                      </p:cBhvr>
                                      <p:tavLst>
                                        <p:tav tm="0">
                                          <p:val>
                                            <p:strVal val="1+#ppt_w/2"/>
                                          </p:val>
                                        </p:tav>
                                        <p:tav tm="100000">
                                          <p:val>
                                            <p:strVal val="#ppt_x"/>
                                          </p:val>
                                        </p:tav>
                                      </p:tavLst>
                                    </p:anim>
                                    <p:anim calcmode="lin" valueType="num">
                                      <p:cBhvr additive="base">
                                        <p:cTn id="74" dur="500" fill="hold"/>
                                        <p:tgtEl>
                                          <p:spTgt spid="64647"/>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394438"/>
                                        </p:tgtEl>
                                        <p:attrNameLst>
                                          <p:attrName>style.visibility</p:attrName>
                                        </p:attrNameLst>
                                      </p:cBhvr>
                                      <p:to>
                                        <p:strVal val="visible"/>
                                      </p:to>
                                    </p:set>
                                    <p:anim calcmode="lin" valueType="num">
                                      <p:cBhvr additive="base">
                                        <p:cTn id="79" dur="500" fill="hold"/>
                                        <p:tgtEl>
                                          <p:spTgt spid="394438"/>
                                        </p:tgtEl>
                                        <p:attrNameLst>
                                          <p:attrName>ppt_x</p:attrName>
                                        </p:attrNameLst>
                                      </p:cBhvr>
                                      <p:tavLst>
                                        <p:tav tm="0">
                                          <p:val>
                                            <p:strVal val="1+#ppt_w/2"/>
                                          </p:val>
                                        </p:tav>
                                        <p:tav tm="100000">
                                          <p:val>
                                            <p:strVal val="#ppt_x"/>
                                          </p:val>
                                        </p:tav>
                                      </p:tavLst>
                                    </p:anim>
                                    <p:anim calcmode="lin" valueType="num">
                                      <p:cBhvr additive="base">
                                        <p:cTn id="80" dur="500" fill="hold"/>
                                        <p:tgtEl>
                                          <p:spTgt spid="3944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43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49</a:t>
            </a:fld>
            <a:endParaRPr lang="zh-CN" altLang="en-US" sz="1400" b="0">
              <a:latin typeface="Tahoma" panose="020B0604030504040204" pitchFamily="34" charset="0"/>
              <a:ea typeface="宋体" panose="02010600030101010101" pitchFamily="2" charset="-122"/>
            </a:endParaRPr>
          </a:p>
        </p:txBody>
      </p:sp>
      <p:sp>
        <p:nvSpPr>
          <p:cNvPr id="65538" name="Rectangle 3"/>
          <p:cNvSpPr>
            <a:spLocks noGrp="1"/>
          </p:cNvSpPr>
          <p:nvPr>
            <p:ph idx="1"/>
          </p:nvPr>
        </p:nvSpPr>
        <p:spPr>
          <a:xfrm>
            <a:off x="228600" y="1828800"/>
            <a:ext cx="8534400" cy="457200"/>
          </a:xfrm>
        </p:spPr>
        <p:txBody>
          <a:bodyPr vert="horz" wrap="square" lIns="91440" tIns="45720" rIns="91440" bIns="45720" anchor="t" anchorCtr="0"/>
          <a:lstStyle/>
          <a:p>
            <a:pPr eaLnBrk="1" hangingPunct="1">
              <a:buFont typeface="Wingdings" panose="05000000000000000000" pitchFamily="2" charset="2"/>
              <a:buNone/>
            </a:pPr>
            <a:r>
              <a:rPr lang="zh-CN" altLang="en-US" sz="2400" b="0"/>
              <a:t>例</a:t>
            </a:r>
            <a:r>
              <a:rPr lang="en-US" altLang="zh-CN" sz="2400" b="0"/>
              <a:t>4.  </a:t>
            </a:r>
            <a:r>
              <a:rPr lang="zh-CN" altLang="en-US" sz="2400" b="0"/>
              <a:t>设</a:t>
            </a:r>
            <a:r>
              <a:rPr lang="en-US" altLang="zh-CN" sz="2400" b="0"/>
              <a:t>M=4</a:t>
            </a:r>
            <a:r>
              <a:rPr lang="zh-CN" altLang="en-US" sz="2400" b="0"/>
              <a:t>，其余同例</a:t>
            </a:r>
            <a:r>
              <a:rPr lang="en-US" altLang="zh-CN" sz="2400" b="0"/>
              <a:t>3</a:t>
            </a:r>
            <a:r>
              <a:rPr lang="zh-CN" altLang="en-US" sz="2400" b="0"/>
              <a:t>。缺页中断次数和缺页率如表所示。</a:t>
            </a:r>
          </a:p>
        </p:txBody>
      </p:sp>
      <p:sp>
        <p:nvSpPr>
          <p:cNvPr id="65539" name="Line 4"/>
          <p:cNvSpPr/>
          <p:nvPr/>
        </p:nvSpPr>
        <p:spPr>
          <a:xfrm>
            <a:off x="228600" y="3402013"/>
            <a:ext cx="914400" cy="0"/>
          </a:xfrm>
          <a:prstGeom prst="line">
            <a:avLst/>
          </a:prstGeom>
          <a:ln w="28575" cap="sq" cmpd="sng">
            <a:solidFill>
              <a:schemeClr val="tx1"/>
            </a:solidFill>
            <a:prstDash val="solid"/>
            <a:miter/>
            <a:headEnd type="none" w="med" len="med"/>
            <a:tailEnd type="none" w="med" len="med"/>
          </a:ln>
        </p:spPr>
      </p:sp>
      <p:grpSp>
        <p:nvGrpSpPr>
          <p:cNvPr id="65540" name="Group 5"/>
          <p:cNvGrpSpPr/>
          <p:nvPr/>
        </p:nvGrpSpPr>
        <p:grpSpPr>
          <a:xfrm>
            <a:off x="228600" y="2362200"/>
            <a:ext cx="8610600" cy="3276600"/>
            <a:chOff x="144" y="1488"/>
            <a:chExt cx="5424" cy="2064"/>
          </a:xfrm>
        </p:grpSpPr>
        <p:sp>
          <p:nvSpPr>
            <p:cNvPr id="65711" name="Rectangle 6"/>
            <p:cNvSpPr/>
            <p:nvPr/>
          </p:nvSpPr>
          <p:spPr>
            <a:xfrm>
              <a:off x="516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p>
          </p:txBody>
        </p:sp>
        <p:sp>
          <p:nvSpPr>
            <p:cNvPr id="65712" name="Rectangle 7"/>
            <p:cNvSpPr/>
            <p:nvPr/>
          </p:nvSpPr>
          <p:spPr>
            <a:xfrm>
              <a:off x="4763"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p>
          </p:txBody>
        </p:sp>
        <p:sp>
          <p:nvSpPr>
            <p:cNvPr id="65713" name="Rectangle 8"/>
            <p:cNvSpPr/>
            <p:nvPr/>
          </p:nvSpPr>
          <p:spPr>
            <a:xfrm>
              <a:off x="4361"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p>
          </p:txBody>
        </p:sp>
        <p:sp>
          <p:nvSpPr>
            <p:cNvPr id="65714" name="Rectangle 9"/>
            <p:cNvSpPr/>
            <p:nvPr/>
          </p:nvSpPr>
          <p:spPr>
            <a:xfrm>
              <a:off x="3958"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65715" name="Rectangle 10"/>
            <p:cNvSpPr/>
            <p:nvPr/>
          </p:nvSpPr>
          <p:spPr>
            <a:xfrm>
              <a:off x="355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65716" name="Rectangle 11"/>
            <p:cNvSpPr/>
            <p:nvPr/>
          </p:nvSpPr>
          <p:spPr>
            <a:xfrm>
              <a:off x="3154"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p>
          </p:txBody>
        </p:sp>
        <p:sp>
          <p:nvSpPr>
            <p:cNvPr id="65717" name="Rectangle 12"/>
            <p:cNvSpPr/>
            <p:nvPr/>
          </p:nvSpPr>
          <p:spPr>
            <a:xfrm>
              <a:off x="2750" y="1814"/>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65718" name="Rectangle 13"/>
            <p:cNvSpPr/>
            <p:nvPr/>
          </p:nvSpPr>
          <p:spPr>
            <a:xfrm>
              <a:off x="234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65719" name="Rectangle 14"/>
            <p:cNvSpPr/>
            <p:nvPr/>
          </p:nvSpPr>
          <p:spPr>
            <a:xfrm>
              <a:off x="194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p>
          </p:txBody>
        </p:sp>
        <p:sp>
          <p:nvSpPr>
            <p:cNvPr id="65720" name="Rectangle 15"/>
            <p:cNvSpPr/>
            <p:nvPr/>
          </p:nvSpPr>
          <p:spPr>
            <a:xfrm>
              <a:off x="1543"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p>
          </p:txBody>
        </p:sp>
        <p:sp>
          <p:nvSpPr>
            <p:cNvPr id="65721" name="Rectangle 16"/>
            <p:cNvSpPr/>
            <p:nvPr/>
          </p:nvSpPr>
          <p:spPr>
            <a:xfrm>
              <a:off x="1141"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65722" name="Rectangle 17"/>
            <p:cNvSpPr/>
            <p:nvPr/>
          </p:nvSpPr>
          <p:spPr>
            <a:xfrm>
              <a:off x="720" y="1814"/>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65723" name="Rectangle 18"/>
            <p:cNvSpPr/>
            <p:nvPr/>
          </p:nvSpPr>
          <p:spPr>
            <a:xfrm>
              <a:off x="144" y="1814"/>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P</a:t>
              </a:r>
            </a:p>
          </p:txBody>
        </p:sp>
        <p:sp>
          <p:nvSpPr>
            <p:cNvPr id="65724" name="Rectangle 19"/>
            <p:cNvSpPr/>
            <p:nvPr/>
          </p:nvSpPr>
          <p:spPr>
            <a:xfrm>
              <a:off x="516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12</a:t>
              </a:r>
            </a:p>
          </p:txBody>
        </p:sp>
        <p:sp>
          <p:nvSpPr>
            <p:cNvPr id="65725" name="Rectangle 20"/>
            <p:cNvSpPr/>
            <p:nvPr/>
          </p:nvSpPr>
          <p:spPr>
            <a:xfrm>
              <a:off x="4763"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11</a:t>
              </a:r>
            </a:p>
          </p:txBody>
        </p:sp>
        <p:sp>
          <p:nvSpPr>
            <p:cNvPr id="65726" name="Rectangle 21"/>
            <p:cNvSpPr/>
            <p:nvPr/>
          </p:nvSpPr>
          <p:spPr>
            <a:xfrm>
              <a:off x="4361"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10</a:t>
              </a:r>
            </a:p>
          </p:txBody>
        </p:sp>
        <p:sp>
          <p:nvSpPr>
            <p:cNvPr id="65727" name="Rectangle 22"/>
            <p:cNvSpPr/>
            <p:nvPr/>
          </p:nvSpPr>
          <p:spPr>
            <a:xfrm>
              <a:off x="3958"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9</a:t>
              </a:r>
            </a:p>
          </p:txBody>
        </p:sp>
        <p:sp>
          <p:nvSpPr>
            <p:cNvPr id="65728" name="Rectangle 23"/>
            <p:cNvSpPr/>
            <p:nvPr/>
          </p:nvSpPr>
          <p:spPr>
            <a:xfrm>
              <a:off x="355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8</a:t>
              </a:r>
            </a:p>
          </p:txBody>
        </p:sp>
        <p:sp>
          <p:nvSpPr>
            <p:cNvPr id="65729" name="Rectangle 24"/>
            <p:cNvSpPr/>
            <p:nvPr/>
          </p:nvSpPr>
          <p:spPr>
            <a:xfrm>
              <a:off x="3154"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7</a:t>
              </a:r>
            </a:p>
          </p:txBody>
        </p:sp>
        <p:sp>
          <p:nvSpPr>
            <p:cNvPr id="65730" name="Rectangle 25"/>
            <p:cNvSpPr/>
            <p:nvPr/>
          </p:nvSpPr>
          <p:spPr>
            <a:xfrm>
              <a:off x="2750" y="1488"/>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6</a:t>
              </a:r>
            </a:p>
          </p:txBody>
        </p:sp>
        <p:sp>
          <p:nvSpPr>
            <p:cNvPr id="65731" name="Rectangle 26"/>
            <p:cNvSpPr/>
            <p:nvPr/>
          </p:nvSpPr>
          <p:spPr>
            <a:xfrm>
              <a:off x="234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p>
          </p:txBody>
        </p:sp>
        <p:sp>
          <p:nvSpPr>
            <p:cNvPr id="65732" name="Rectangle 27"/>
            <p:cNvSpPr/>
            <p:nvPr/>
          </p:nvSpPr>
          <p:spPr>
            <a:xfrm>
              <a:off x="194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p>
          </p:txBody>
        </p:sp>
        <p:sp>
          <p:nvSpPr>
            <p:cNvPr id="65733" name="Rectangle 28"/>
            <p:cNvSpPr/>
            <p:nvPr/>
          </p:nvSpPr>
          <p:spPr>
            <a:xfrm>
              <a:off x="1543"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p>
          </p:txBody>
        </p:sp>
        <p:sp>
          <p:nvSpPr>
            <p:cNvPr id="65734" name="Rectangle 29"/>
            <p:cNvSpPr/>
            <p:nvPr/>
          </p:nvSpPr>
          <p:spPr>
            <a:xfrm>
              <a:off x="1141"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p>
          </p:txBody>
        </p:sp>
        <p:sp>
          <p:nvSpPr>
            <p:cNvPr id="65735" name="Rectangle 30"/>
            <p:cNvSpPr/>
            <p:nvPr/>
          </p:nvSpPr>
          <p:spPr>
            <a:xfrm>
              <a:off x="720" y="1488"/>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p>
          </p:txBody>
        </p:sp>
        <p:sp>
          <p:nvSpPr>
            <p:cNvPr id="65736" name="Rectangle 31"/>
            <p:cNvSpPr/>
            <p:nvPr/>
          </p:nvSpPr>
          <p:spPr>
            <a:xfrm>
              <a:off x="144" y="1488"/>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sz="2400" b="0">
                  <a:ea typeface="楷体_GB2312" pitchFamily="49" charset="-122"/>
                </a:rPr>
                <a:t>时刻</a:t>
              </a:r>
            </a:p>
          </p:txBody>
        </p:sp>
        <p:sp>
          <p:nvSpPr>
            <p:cNvPr id="65737" name="Line 32"/>
            <p:cNvSpPr/>
            <p:nvPr/>
          </p:nvSpPr>
          <p:spPr>
            <a:xfrm>
              <a:off x="144" y="1488"/>
              <a:ext cx="5424" cy="0"/>
            </a:xfrm>
            <a:prstGeom prst="line">
              <a:avLst/>
            </a:prstGeom>
            <a:ln w="28575" cap="sq" cmpd="sng">
              <a:solidFill>
                <a:schemeClr val="tx1"/>
              </a:solidFill>
              <a:prstDash val="solid"/>
              <a:miter/>
              <a:headEnd type="none" w="med" len="med"/>
              <a:tailEnd type="none" w="med" len="med"/>
            </a:ln>
          </p:spPr>
        </p:sp>
        <p:sp>
          <p:nvSpPr>
            <p:cNvPr id="65738" name="Line 33"/>
            <p:cNvSpPr/>
            <p:nvPr/>
          </p:nvSpPr>
          <p:spPr>
            <a:xfrm>
              <a:off x="144" y="1814"/>
              <a:ext cx="5424" cy="0"/>
            </a:xfrm>
            <a:prstGeom prst="line">
              <a:avLst/>
            </a:prstGeom>
            <a:ln w="12700" cap="flat" cmpd="sng">
              <a:solidFill>
                <a:schemeClr val="tx1"/>
              </a:solidFill>
              <a:prstDash val="solid"/>
              <a:miter/>
              <a:headEnd type="none" w="med" len="med"/>
              <a:tailEnd type="none" w="med" len="med"/>
            </a:ln>
          </p:spPr>
        </p:sp>
        <p:sp>
          <p:nvSpPr>
            <p:cNvPr id="65739" name="Line 34"/>
            <p:cNvSpPr/>
            <p:nvPr/>
          </p:nvSpPr>
          <p:spPr>
            <a:xfrm>
              <a:off x="144" y="2140"/>
              <a:ext cx="5424" cy="0"/>
            </a:xfrm>
            <a:prstGeom prst="line">
              <a:avLst/>
            </a:prstGeom>
            <a:ln w="28575" cap="sq" cmpd="sng">
              <a:solidFill>
                <a:schemeClr val="tx1"/>
              </a:solidFill>
              <a:prstDash val="solid"/>
              <a:miter/>
              <a:headEnd type="none" w="med" len="med"/>
              <a:tailEnd type="none" w="med" len="med"/>
            </a:ln>
          </p:spPr>
        </p:sp>
        <p:sp>
          <p:nvSpPr>
            <p:cNvPr id="65740" name="Line 35"/>
            <p:cNvSpPr/>
            <p:nvPr/>
          </p:nvSpPr>
          <p:spPr>
            <a:xfrm>
              <a:off x="144" y="1488"/>
              <a:ext cx="0" cy="652"/>
            </a:xfrm>
            <a:prstGeom prst="line">
              <a:avLst/>
            </a:prstGeom>
            <a:ln w="28575" cap="sq" cmpd="sng">
              <a:solidFill>
                <a:schemeClr val="tx1"/>
              </a:solidFill>
              <a:prstDash val="solid"/>
              <a:miter/>
              <a:headEnd type="none" w="med" len="med"/>
              <a:tailEnd type="none" w="med" len="med"/>
            </a:ln>
          </p:spPr>
        </p:sp>
        <p:sp>
          <p:nvSpPr>
            <p:cNvPr id="65741" name="Line 36"/>
            <p:cNvSpPr/>
            <p:nvPr/>
          </p:nvSpPr>
          <p:spPr>
            <a:xfrm>
              <a:off x="720" y="1488"/>
              <a:ext cx="0" cy="652"/>
            </a:xfrm>
            <a:prstGeom prst="line">
              <a:avLst/>
            </a:prstGeom>
            <a:ln w="12700" cap="flat" cmpd="sng">
              <a:solidFill>
                <a:schemeClr val="tx1"/>
              </a:solidFill>
              <a:prstDash val="solid"/>
              <a:miter/>
              <a:headEnd type="none" w="med" len="med"/>
              <a:tailEnd type="none" w="med" len="med"/>
            </a:ln>
          </p:spPr>
        </p:sp>
        <p:sp>
          <p:nvSpPr>
            <p:cNvPr id="65742" name="Line 37"/>
            <p:cNvSpPr/>
            <p:nvPr/>
          </p:nvSpPr>
          <p:spPr>
            <a:xfrm>
              <a:off x="1141" y="1488"/>
              <a:ext cx="0" cy="652"/>
            </a:xfrm>
            <a:prstGeom prst="line">
              <a:avLst/>
            </a:prstGeom>
            <a:ln w="12700" cap="flat" cmpd="sng">
              <a:solidFill>
                <a:schemeClr val="tx1"/>
              </a:solidFill>
              <a:prstDash val="solid"/>
              <a:miter/>
              <a:headEnd type="none" w="med" len="med"/>
              <a:tailEnd type="none" w="med" len="med"/>
            </a:ln>
          </p:spPr>
        </p:sp>
        <p:sp>
          <p:nvSpPr>
            <p:cNvPr id="65743" name="Line 38"/>
            <p:cNvSpPr/>
            <p:nvPr/>
          </p:nvSpPr>
          <p:spPr>
            <a:xfrm>
              <a:off x="1543" y="1488"/>
              <a:ext cx="0" cy="652"/>
            </a:xfrm>
            <a:prstGeom prst="line">
              <a:avLst/>
            </a:prstGeom>
            <a:ln w="12700" cap="flat" cmpd="sng">
              <a:solidFill>
                <a:schemeClr val="tx1"/>
              </a:solidFill>
              <a:prstDash val="solid"/>
              <a:miter/>
              <a:headEnd type="none" w="med" len="med"/>
              <a:tailEnd type="none" w="med" len="med"/>
            </a:ln>
          </p:spPr>
        </p:sp>
        <p:sp>
          <p:nvSpPr>
            <p:cNvPr id="65744" name="Line 39"/>
            <p:cNvSpPr/>
            <p:nvPr/>
          </p:nvSpPr>
          <p:spPr>
            <a:xfrm>
              <a:off x="1946" y="1488"/>
              <a:ext cx="0" cy="652"/>
            </a:xfrm>
            <a:prstGeom prst="line">
              <a:avLst/>
            </a:prstGeom>
            <a:ln w="12700" cap="flat" cmpd="sng">
              <a:solidFill>
                <a:schemeClr val="tx1"/>
              </a:solidFill>
              <a:prstDash val="solid"/>
              <a:miter/>
              <a:headEnd type="none" w="med" len="med"/>
              <a:tailEnd type="none" w="med" len="med"/>
            </a:ln>
          </p:spPr>
        </p:sp>
        <p:sp>
          <p:nvSpPr>
            <p:cNvPr id="65745" name="Line 40"/>
            <p:cNvSpPr/>
            <p:nvPr/>
          </p:nvSpPr>
          <p:spPr>
            <a:xfrm>
              <a:off x="2348" y="1488"/>
              <a:ext cx="0" cy="652"/>
            </a:xfrm>
            <a:prstGeom prst="line">
              <a:avLst/>
            </a:prstGeom>
            <a:ln w="12700" cap="flat" cmpd="sng">
              <a:solidFill>
                <a:schemeClr val="tx1"/>
              </a:solidFill>
              <a:prstDash val="solid"/>
              <a:miter/>
              <a:headEnd type="none" w="med" len="med"/>
              <a:tailEnd type="none" w="med" len="med"/>
            </a:ln>
          </p:spPr>
        </p:sp>
        <p:sp>
          <p:nvSpPr>
            <p:cNvPr id="65746" name="Line 41"/>
            <p:cNvSpPr/>
            <p:nvPr/>
          </p:nvSpPr>
          <p:spPr>
            <a:xfrm>
              <a:off x="2750" y="1488"/>
              <a:ext cx="0" cy="652"/>
            </a:xfrm>
            <a:prstGeom prst="line">
              <a:avLst/>
            </a:prstGeom>
            <a:ln w="12700" cap="flat" cmpd="sng">
              <a:solidFill>
                <a:schemeClr val="tx1"/>
              </a:solidFill>
              <a:prstDash val="solid"/>
              <a:miter/>
              <a:headEnd type="none" w="med" len="med"/>
              <a:tailEnd type="none" w="med" len="med"/>
            </a:ln>
          </p:spPr>
        </p:sp>
        <p:sp>
          <p:nvSpPr>
            <p:cNvPr id="65747" name="Line 42"/>
            <p:cNvSpPr/>
            <p:nvPr/>
          </p:nvSpPr>
          <p:spPr>
            <a:xfrm>
              <a:off x="3154" y="1488"/>
              <a:ext cx="0" cy="652"/>
            </a:xfrm>
            <a:prstGeom prst="line">
              <a:avLst/>
            </a:prstGeom>
            <a:ln w="12700" cap="flat" cmpd="sng">
              <a:solidFill>
                <a:schemeClr val="tx1"/>
              </a:solidFill>
              <a:prstDash val="solid"/>
              <a:miter/>
              <a:headEnd type="none" w="med" len="med"/>
              <a:tailEnd type="none" w="med" len="med"/>
            </a:ln>
          </p:spPr>
        </p:sp>
        <p:sp>
          <p:nvSpPr>
            <p:cNvPr id="65748" name="Line 43"/>
            <p:cNvSpPr/>
            <p:nvPr/>
          </p:nvSpPr>
          <p:spPr>
            <a:xfrm>
              <a:off x="3556" y="1488"/>
              <a:ext cx="0" cy="652"/>
            </a:xfrm>
            <a:prstGeom prst="line">
              <a:avLst/>
            </a:prstGeom>
            <a:ln w="12700" cap="flat" cmpd="sng">
              <a:solidFill>
                <a:schemeClr val="tx1"/>
              </a:solidFill>
              <a:prstDash val="solid"/>
              <a:miter/>
              <a:headEnd type="none" w="med" len="med"/>
              <a:tailEnd type="none" w="med" len="med"/>
            </a:ln>
          </p:spPr>
        </p:sp>
        <p:sp>
          <p:nvSpPr>
            <p:cNvPr id="65749" name="Line 44"/>
            <p:cNvSpPr/>
            <p:nvPr/>
          </p:nvSpPr>
          <p:spPr>
            <a:xfrm>
              <a:off x="3958" y="1488"/>
              <a:ext cx="0" cy="652"/>
            </a:xfrm>
            <a:prstGeom prst="line">
              <a:avLst/>
            </a:prstGeom>
            <a:ln w="12700" cap="flat" cmpd="sng">
              <a:solidFill>
                <a:schemeClr val="tx1"/>
              </a:solidFill>
              <a:prstDash val="solid"/>
              <a:miter/>
              <a:headEnd type="none" w="med" len="med"/>
              <a:tailEnd type="none" w="med" len="med"/>
            </a:ln>
          </p:spPr>
        </p:sp>
        <p:sp>
          <p:nvSpPr>
            <p:cNvPr id="65750" name="Line 45"/>
            <p:cNvSpPr/>
            <p:nvPr/>
          </p:nvSpPr>
          <p:spPr>
            <a:xfrm>
              <a:off x="4361" y="1488"/>
              <a:ext cx="0" cy="652"/>
            </a:xfrm>
            <a:prstGeom prst="line">
              <a:avLst/>
            </a:prstGeom>
            <a:ln w="12700" cap="flat" cmpd="sng">
              <a:solidFill>
                <a:schemeClr val="tx1"/>
              </a:solidFill>
              <a:prstDash val="solid"/>
              <a:miter/>
              <a:headEnd type="none" w="med" len="med"/>
              <a:tailEnd type="none" w="med" len="med"/>
            </a:ln>
          </p:spPr>
        </p:sp>
        <p:sp>
          <p:nvSpPr>
            <p:cNvPr id="65751" name="Line 46"/>
            <p:cNvSpPr/>
            <p:nvPr/>
          </p:nvSpPr>
          <p:spPr>
            <a:xfrm>
              <a:off x="4763" y="1488"/>
              <a:ext cx="0" cy="652"/>
            </a:xfrm>
            <a:prstGeom prst="line">
              <a:avLst/>
            </a:prstGeom>
            <a:ln w="12700" cap="flat" cmpd="sng">
              <a:solidFill>
                <a:schemeClr val="tx1"/>
              </a:solidFill>
              <a:prstDash val="solid"/>
              <a:miter/>
              <a:headEnd type="none" w="med" len="med"/>
              <a:tailEnd type="none" w="med" len="med"/>
            </a:ln>
          </p:spPr>
        </p:sp>
        <p:sp>
          <p:nvSpPr>
            <p:cNvPr id="65752" name="Line 47"/>
            <p:cNvSpPr/>
            <p:nvPr/>
          </p:nvSpPr>
          <p:spPr>
            <a:xfrm>
              <a:off x="5166" y="1488"/>
              <a:ext cx="0" cy="652"/>
            </a:xfrm>
            <a:prstGeom prst="line">
              <a:avLst/>
            </a:prstGeom>
            <a:ln w="12700" cap="flat" cmpd="sng">
              <a:solidFill>
                <a:schemeClr val="tx1"/>
              </a:solidFill>
              <a:prstDash val="solid"/>
              <a:miter/>
              <a:headEnd type="none" w="med" len="med"/>
              <a:tailEnd type="none" w="med" len="med"/>
            </a:ln>
          </p:spPr>
        </p:sp>
        <p:sp>
          <p:nvSpPr>
            <p:cNvPr id="65753" name="Line 48"/>
            <p:cNvSpPr/>
            <p:nvPr/>
          </p:nvSpPr>
          <p:spPr>
            <a:xfrm>
              <a:off x="5568" y="1488"/>
              <a:ext cx="0" cy="652"/>
            </a:xfrm>
            <a:prstGeom prst="line">
              <a:avLst/>
            </a:prstGeom>
            <a:ln w="28575" cap="sq" cmpd="sng">
              <a:solidFill>
                <a:schemeClr val="tx1"/>
              </a:solidFill>
              <a:prstDash val="solid"/>
              <a:miter/>
              <a:headEnd type="none" w="med" len="med"/>
              <a:tailEnd type="none" w="med" len="med"/>
            </a:ln>
          </p:spPr>
        </p:sp>
        <p:sp>
          <p:nvSpPr>
            <p:cNvPr id="65754" name="Rectangle 49"/>
            <p:cNvSpPr/>
            <p:nvPr/>
          </p:nvSpPr>
          <p:spPr>
            <a:xfrm>
              <a:off x="144" y="3199"/>
              <a:ext cx="576" cy="34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F</a:t>
              </a:r>
            </a:p>
          </p:txBody>
        </p:sp>
        <p:sp>
          <p:nvSpPr>
            <p:cNvPr id="65755" name="Rectangle 50"/>
            <p:cNvSpPr/>
            <p:nvPr/>
          </p:nvSpPr>
          <p:spPr>
            <a:xfrm>
              <a:off x="144" y="2143"/>
              <a:ext cx="576" cy="98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M</a:t>
              </a:r>
            </a:p>
          </p:txBody>
        </p:sp>
        <p:sp>
          <p:nvSpPr>
            <p:cNvPr id="65756" name="Line 51"/>
            <p:cNvSpPr/>
            <p:nvPr/>
          </p:nvSpPr>
          <p:spPr>
            <a:xfrm>
              <a:off x="144" y="3199"/>
              <a:ext cx="576" cy="0"/>
            </a:xfrm>
            <a:prstGeom prst="line">
              <a:avLst/>
            </a:prstGeom>
            <a:ln w="12700" cap="flat" cmpd="sng">
              <a:solidFill>
                <a:schemeClr val="tx1"/>
              </a:solidFill>
              <a:prstDash val="solid"/>
              <a:miter/>
              <a:headEnd type="none" w="med" len="med"/>
              <a:tailEnd type="none" w="med" len="med"/>
            </a:ln>
          </p:spPr>
        </p:sp>
        <p:sp>
          <p:nvSpPr>
            <p:cNvPr id="65757" name="Line 52"/>
            <p:cNvSpPr/>
            <p:nvPr/>
          </p:nvSpPr>
          <p:spPr>
            <a:xfrm>
              <a:off x="144" y="3552"/>
              <a:ext cx="576" cy="0"/>
            </a:xfrm>
            <a:prstGeom prst="line">
              <a:avLst/>
            </a:prstGeom>
            <a:ln w="28575" cap="sq" cmpd="sng">
              <a:solidFill>
                <a:schemeClr val="tx1"/>
              </a:solidFill>
              <a:prstDash val="solid"/>
              <a:miter/>
              <a:headEnd type="none" w="med" len="med"/>
              <a:tailEnd type="none" w="med" len="med"/>
            </a:ln>
          </p:spPr>
        </p:sp>
        <p:sp>
          <p:nvSpPr>
            <p:cNvPr id="65758" name="Line 53"/>
            <p:cNvSpPr/>
            <p:nvPr/>
          </p:nvSpPr>
          <p:spPr>
            <a:xfrm>
              <a:off x="144" y="2143"/>
              <a:ext cx="0" cy="1400"/>
            </a:xfrm>
            <a:prstGeom prst="line">
              <a:avLst/>
            </a:prstGeom>
            <a:ln w="28575" cap="sq" cmpd="sng">
              <a:solidFill>
                <a:schemeClr val="tx1"/>
              </a:solidFill>
              <a:prstDash val="solid"/>
              <a:miter/>
              <a:headEnd type="none" w="med" len="med"/>
              <a:tailEnd type="none" w="med" len="med"/>
            </a:ln>
          </p:spPr>
        </p:sp>
        <p:sp>
          <p:nvSpPr>
            <p:cNvPr id="65759" name="Line 54"/>
            <p:cNvSpPr/>
            <p:nvPr/>
          </p:nvSpPr>
          <p:spPr>
            <a:xfrm>
              <a:off x="720" y="2143"/>
              <a:ext cx="0" cy="1400"/>
            </a:xfrm>
            <a:prstGeom prst="line">
              <a:avLst/>
            </a:prstGeom>
            <a:ln w="28575" cap="sq" cmpd="sng">
              <a:solidFill>
                <a:schemeClr val="tx1"/>
              </a:solidFill>
              <a:prstDash val="solid"/>
              <a:miter/>
              <a:headEnd type="none" w="med" len="med"/>
              <a:tailEnd type="none" w="med" len="med"/>
            </a:ln>
          </p:spPr>
        </p:sp>
      </p:grpSp>
      <p:graphicFrame>
        <p:nvGraphicFramePr>
          <p:cNvPr id="65541" name="表格 65540"/>
          <p:cNvGraphicFramePr/>
          <p:nvPr/>
        </p:nvGraphicFramePr>
        <p:xfrm>
          <a:off x="1143000" y="3416300"/>
          <a:ext cx="685800" cy="2239963"/>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5555" name="表格 65554"/>
          <p:cNvGraphicFramePr/>
          <p:nvPr/>
        </p:nvGraphicFramePr>
        <p:xfrm>
          <a:off x="1828800" y="3416300"/>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5569" name="表格 65568"/>
          <p:cNvGraphicFramePr/>
          <p:nvPr/>
        </p:nvGraphicFramePr>
        <p:xfrm>
          <a:off x="2438400" y="3416300"/>
          <a:ext cx="685800" cy="2239963"/>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5583" name="表格 65582"/>
          <p:cNvGraphicFramePr/>
          <p:nvPr/>
        </p:nvGraphicFramePr>
        <p:xfrm>
          <a:off x="3124200" y="3416300"/>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5597" name="表格 65596"/>
          <p:cNvGraphicFramePr/>
          <p:nvPr/>
        </p:nvGraphicFramePr>
        <p:xfrm>
          <a:off x="3733800" y="3416300"/>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5611" name="表格 65610"/>
          <p:cNvGraphicFramePr/>
          <p:nvPr/>
        </p:nvGraphicFramePr>
        <p:xfrm>
          <a:off x="4343400" y="3416300"/>
          <a:ext cx="685800" cy="2239963"/>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5625" name="表格 65624"/>
          <p:cNvGraphicFramePr/>
          <p:nvPr/>
        </p:nvGraphicFramePr>
        <p:xfrm>
          <a:off x="5029200" y="3414713"/>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5639" name="表格 65638"/>
          <p:cNvGraphicFramePr/>
          <p:nvPr/>
        </p:nvGraphicFramePr>
        <p:xfrm>
          <a:off x="5638800" y="3414713"/>
          <a:ext cx="685800" cy="2239963"/>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5653" name="表格 65652"/>
          <p:cNvGraphicFramePr/>
          <p:nvPr/>
        </p:nvGraphicFramePr>
        <p:xfrm>
          <a:off x="6324600" y="3414713"/>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60305040502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5667" name="表格 65666"/>
          <p:cNvGraphicFramePr/>
          <p:nvPr/>
        </p:nvGraphicFramePr>
        <p:xfrm>
          <a:off x="6934200" y="3414713"/>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5681" name="表格 65680"/>
          <p:cNvGraphicFramePr/>
          <p:nvPr/>
        </p:nvGraphicFramePr>
        <p:xfrm>
          <a:off x="7543800" y="3414713"/>
          <a:ext cx="685800" cy="2239963"/>
        </p:xfrm>
        <a:graphic>
          <a:graphicData uri="http://schemas.openxmlformats.org/drawingml/2006/table">
            <a:tbl>
              <a:tblPr/>
              <a:tblGrid>
                <a:gridCol w="6858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4-</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5695" name="表格 65694"/>
          <p:cNvGraphicFramePr/>
          <p:nvPr/>
        </p:nvGraphicFramePr>
        <p:xfrm>
          <a:off x="8229600" y="3416300"/>
          <a:ext cx="609600" cy="2239963"/>
        </p:xfrm>
        <a:graphic>
          <a:graphicData uri="http://schemas.openxmlformats.org/drawingml/2006/table">
            <a:tbl>
              <a:tblPr/>
              <a:tblGrid>
                <a:gridCol w="609600">
                  <a:extLst>
                    <a:ext uri="{9D8B030D-6E8A-4147-A177-3AD203B41FA5}">
                      <a16:colId xmlns:a16="http://schemas.microsoft.com/office/drawing/2014/main" val="20000"/>
                    </a:ext>
                  </a:extLst>
                </a:gridCol>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5+</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1</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2</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3-</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603050405020304" pitchFamily="18" charset="0"/>
                          <a:ea typeface="楷体_GB2312" pitchFamily="49" charset="-122"/>
                        </a:rPr>
                        <a:t>+</a:t>
                      </a: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95487" name="Text Box 223"/>
          <p:cNvSpPr txBox="1"/>
          <p:nvPr/>
        </p:nvSpPr>
        <p:spPr>
          <a:xfrm>
            <a:off x="228600" y="5638800"/>
            <a:ext cx="8229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2400" b="0">
                <a:ea typeface="楷体_GB2312" pitchFamily="49" charset="-122"/>
              </a:rPr>
              <a:t>由表可以算出缺页中断次数</a:t>
            </a:r>
            <a:r>
              <a:rPr lang="en-US" altLang="zh-CN" sz="2400" b="0">
                <a:ea typeface="楷体_GB2312" pitchFamily="49" charset="-122"/>
              </a:rPr>
              <a:t>F=8</a:t>
            </a:r>
            <a:r>
              <a:rPr lang="zh-CN" altLang="en-US" sz="2400" b="0">
                <a:ea typeface="楷体_GB2312" pitchFamily="49" charset="-122"/>
              </a:rPr>
              <a:t>，而缺页率：</a:t>
            </a:r>
            <a:r>
              <a:rPr lang="en-US" altLang="zh-CN" sz="2400" b="0">
                <a:ea typeface="楷体_GB2312" pitchFamily="49" charset="-122"/>
              </a:rPr>
              <a:t>8</a:t>
            </a:r>
            <a:r>
              <a:rPr lang="zh-CN" altLang="en-US" sz="2400" b="0">
                <a:ea typeface="楷体_GB2312" pitchFamily="49" charset="-122"/>
              </a:rPr>
              <a:t>／</a:t>
            </a:r>
            <a:r>
              <a:rPr lang="en-US" altLang="zh-CN" sz="2400" b="0">
                <a:ea typeface="楷体_GB2312" pitchFamily="49" charset="-122"/>
              </a:rPr>
              <a:t>12=67%</a:t>
            </a:r>
            <a:r>
              <a:rPr lang="zh-CN" altLang="en-US" sz="2400" b="0">
                <a:ea typeface="楷体_GB2312" pitchFamily="49" charset="-122"/>
              </a:rPr>
              <a:t>。</a:t>
            </a:r>
          </a:p>
        </p:txBody>
      </p:sp>
      <p:sp>
        <p:nvSpPr>
          <p:cNvPr id="68" name="Rectangle 2"/>
          <p:cNvSpPr txBox="1">
            <a:spLocks noChangeArrowheads="1"/>
          </p:cNvSpPr>
          <p:nvPr/>
        </p:nvSpPr>
        <p:spPr>
          <a:xfrm>
            <a:off x="406400" y="557213"/>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nb-NO" altLang="zh-CN" sz="3600" b="0">
                <a:solidFill>
                  <a:schemeClr val="tx2"/>
                </a:solidFill>
                <a:latin typeface="Arial Black" panose="020B0A04020102020204" pitchFamily="34" charset="0"/>
              </a:rPr>
              <a:t>5.</a:t>
            </a:r>
            <a:r>
              <a:rPr lang="en-US" altLang="zh-CN" sz="3600" b="0">
                <a:solidFill>
                  <a:schemeClr val="tx2"/>
                </a:solidFill>
                <a:latin typeface="Arial Black" panose="020B0A04020102020204" pitchFamily="34" charset="0"/>
              </a:rPr>
              <a:t>8</a:t>
            </a:r>
            <a:r>
              <a:rPr lang="nb-NO" altLang="zh-CN" sz="3600" b="0">
                <a:solidFill>
                  <a:schemeClr val="tx2"/>
                </a:solidFill>
                <a:latin typeface="Arial Black" panose="020B0A04020102020204" pitchFamily="34" charset="0"/>
              </a:rPr>
              <a:t>.</a:t>
            </a:r>
            <a:r>
              <a:rPr lang="en-US" altLang="zh-CN" sz="3600" b="0">
                <a:solidFill>
                  <a:schemeClr val="tx2"/>
                </a:solidFill>
                <a:latin typeface="Arial Black" panose="020B0A04020102020204" pitchFamily="34" charset="0"/>
              </a:rPr>
              <a:t>4</a:t>
            </a:r>
            <a:r>
              <a:rPr lang="zh-CN" altLang="en-US" sz="3600" b="0">
                <a:solidFill>
                  <a:schemeClr val="tx2"/>
                </a:solidFill>
                <a:latin typeface="Arial Black" panose="020B0A04020102020204" pitchFamily="34" charset="0"/>
              </a:rPr>
              <a:t>页面置换算法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5541"/>
                                        </p:tgtEl>
                                        <p:attrNameLst>
                                          <p:attrName>style.visibility</p:attrName>
                                        </p:attrNameLst>
                                      </p:cBhvr>
                                      <p:to>
                                        <p:strVal val="visible"/>
                                      </p:to>
                                    </p:set>
                                    <p:anim calcmode="lin" valueType="num">
                                      <p:cBhvr additive="base">
                                        <p:cTn id="7" dur="500" fill="hold"/>
                                        <p:tgtEl>
                                          <p:spTgt spid="65541"/>
                                        </p:tgtEl>
                                        <p:attrNameLst>
                                          <p:attrName>ppt_x</p:attrName>
                                        </p:attrNameLst>
                                      </p:cBhvr>
                                      <p:tavLst>
                                        <p:tav tm="0">
                                          <p:val>
                                            <p:strVal val="1+#ppt_w/2"/>
                                          </p:val>
                                        </p:tav>
                                        <p:tav tm="100000">
                                          <p:val>
                                            <p:strVal val="#ppt_x"/>
                                          </p:val>
                                        </p:tav>
                                      </p:tavLst>
                                    </p:anim>
                                    <p:anim calcmode="lin" valueType="num">
                                      <p:cBhvr additive="base">
                                        <p:cTn id="8" dur="500" fill="hold"/>
                                        <p:tgtEl>
                                          <p:spTgt spid="655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5555"/>
                                        </p:tgtEl>
                                        <p:attrNameLst>
                                          <p:attrName>style.visibility</p:attrName>
                                        </p:attrNameLst>
                                      </p:cBhvr>
                                      <p:to>
                                        <p:strVal val="visible"/>
                                      </p:to>
                                    </p:set>
                                    <p:anim calcmode="lin" valueType="num">
                                      <p:cBhvr additive="base">
                                        <p:cTn id="13" dur="500" fill="hold"/>
                                        <p:tgtEl>
                                          <p:spTgt spid="65555"/>
                                        </p:tgtEl>
                                        <p:attrNameLst>
                                          <p:attrName>ppt_x</p:attrName>
                                        </p:attrNameLst>
                                      </p:cBhvr>
                                      <p:tavLst>
                                        <p:tav tm="0">
                                          <p:val>
                                            <p:strVal val="1+#ppt_w/2"/>
                                          </p:val>
                                        </p:tav>
                                        <p:tav tm="100000">
                                          <p:val>
                                            <p:strVal val="#ppt_x"/>
                                          </p:val>
                                        </p:tav>
                                      </p:tavLst>
                                    </p:anim>
                                    <p:anim calcmode="lin" valueType="num">
                                      <p:cBhvr additive="base">
                                        <p:cTn id="14" dur="500" fill="hold"/>
                                        <p:tgtEl>
                                          <p:spTgt spid="6555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65569"/>
                                        </p:tgtEl>
                                        <p:attrNameLst>
                                          <p:attrName>style.visibility</p:attrName>
                                        </p:attrNameLst>
                                      </p:cBhvr>
                                      <p:to>
                                        <p:strVal val="visible"/>
                                      </p:to>
                                    </p:set>
                                    <p:anim calcmode="lin" valueType="num">
                                      <p:cBhvr additive="base">
                                        <p:cTn id="19" dur="500" fill="hold"/>
                                        <p:tgtEl>
                                          <p:spTgt spid="65569"/>
                                        </p:tgtEl>
                                        <p:attrNameLst>
                                          <p:attrName>ppt_x</p:attrName>
                                        </p:attrNameLst>
                                      </p:cBhvr>
                                      <p:tavLst>
                                        <p:tav tm="0">
                                          <p:val>
                                            <p:strVal val="1+#ppt_w/2"/>
                                          </p:val>
                                        </p:tav>
                                        <p:tav tm="100000">
                                          <p:val>
                                            <p:strVal val="#ppt_x"/>
                                          </p:val>
                                        </p:tav>
                                      </p:tavLst>
                                    </p:anim>
                                    <p:anim calcmode="lin" valueType="num">
                                      <p:cBhvr additive="base">
                                        <p:cTn id="20" dur="500" fill="hold"/>
                                        <p:tgtEl>
                                          <p:spTgt spid="6556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65583"/>
                                        </p:tgtEl>
                                        <p:attrNameLst>
                                          <p:attrName>style.visibility</p:attrName>
                                        </p:attrNameLst>
                                      </p:cBhvr>
                                      <p:to>
                                        <p:strVal val="visible"/>
                                      </p:to>
                                    </p:set>
                                    <p:anim calcmode="lin" valueType="num">
                                      <p:cBhvr additive="base">
                                        <p:cTn id="25" dur="500" fill="hold"/>
                                        <p:tgtEl>
                                          <p:spTgt spid="65583"/>
                                        </p:tgtEl>
                                        <p:attrNameLst>
                                          <p:attrName>ppt_x</p:attrName>
                                        </p:attrNameLst>
                                      </p:cBhvr>
                                      <p:tavLst>
                                        <p:tav tm="0">
                                          <p:val>
                                            <p:strVal val="1+#ppt_w/2"/>
                                          </p:val>
                                        </p:tav>
                                        <p:tav tm="100000">
                                          <p:val>
                                            <p:strVal val="#ppt_x"/>
                                          </p:val>
                                        </p:tav>
                                      </p:tavLst>
                                    </p:anim>
                                    <p:anim calcmode="lin" valueType="num">
                                      <p:cBhvr additive="base">
                                        <p:cTn id="26" dur="500" fill="hold"/>
                                        <p:tgtEl>
                                          <p:spTgt spid="6558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65597"/>
                                        </p:tgtEl>
                                        <p:attrNameLst>
                                          <p:attrName>style.visibility</p:attrName>
                                        </p:attrNameLst>
                                      </p:cBhvr>
                                      <p:to>
                                        <p:strVal val="visible"/>
                                      </p:to>
                                    </p:set>
                                    <p:anim calcmode="lin" valueType="num">
                                      <p:cBhvr additive="base">
                                        <p:cTn id="31" dur="500" fill="hold"/>
                                        <p:tgtEl>
                                          <p:spTgt spid="65597"/>
                                        </p:tgtEl>
                                        <p:attrNameLst>
                                          <p:attrName>ppt_x</p:attrName>
                                        </p:attrNameLst>
                                      </p:cBhvr>
                                      <p:tavLst>
                                        <p:tav tm="0">
                                          <p:val>
                                            <p:strVal val="1+#ppt_w/2"/>
                                          </p:val>
                                        </p:tav>
                                        <p:tav tm="100000">
                                          <p:val>
                                            <p:strVal val="#ppt_x"/>
                                          </p:val>
                                        </p:tav>
                                      </p:tavLst>
                                    </p:anim>
                                    <p:anim calcmode="lin" valueType="num">
                                      <p:cBhvr additive="base">
                                        <p:cTn id="32" dur="500" fill="hold"/>
                                        <p:tgtEl>
                                          <p:spTgt spid="6559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65611"/>
                                        </p:tgtEl>
                                        <p:attrNameLst>
                                          <p:attrName>style.visibility</p:attrName>
                                        </p:attrNameLst>
                                      </p:cBhvr>
                                      <p:to>
                                        <p:strVal val="visible"/>
                                      </p:to>
                                    </p:set>
                                    <p:anim calcmode="lin" valueType="num">
                                      <p:cBhvr additive="base">
                                        <p:cTn id="37" dur="500" fill="hold"/>
                                        <p:tgtEl>
                                          <p:spTgt spid="65611"/>
                                        </p:tgtEl>
                                        <p:attrNameLst>
                                          <p:attrName>ppt_x</p:attrName>
                                        </p:attrNameLst>
                                      </p:cBhvr>
                                      <p:tavLst>
                                        <p:tav tm="0">
                                          <p:val>
                                            <p:strVal val="1+#ppt_w/2"/>
                                          </p:val>
                                        </p:tav>
                                        <p:tav tm="100000">
                                          <p:val>
                                            <p:strVal val="#ppt_x"/>
                                          </p:val>
                                        </p:tav>
                                      </p:tavLst>
                                    </p:anim>
                                    <p:anim calcmode="lin" valueType="num">
                                      <p:cBhvr additive="base">
                                        <p:cTn id="38" dur="500" fill="hold"/>
                                        <p:tgtEl>
                                          <p:spTgt spid="6561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65625"/>
                                        </p:tgtEl>
                                        <p:attrNameLst>
                                          <p:attrName>style.visibility</p:attrName>
                                        </p:attrNameLst>
                                      </p:cBhvr>
                                      <p:to>
                                        <p:strVal val="visible"/>
                                      </p:to>
                                    </p:set>
                                    <p:anim calcmode="lin" valueType="num">
                                      <p:cBhvr additive="base">
                                        <p:cTn id="43" dur="500" fill="hold"/>
                                        <p:tgtEl>
                                          <p:spTgt spid="65625"/>
                                        </p:tgtEl>
                                        <p:attrNameLst>
                                          <p:attrName>ppt_x</p:attrName>
                                        </p:attrNameLst>
                                      </p:cBhvr>
                                      <p:tavLst>
                                        <p:tav tm="0">
                                          <p:val>
                                            <p:strVal val="1+#ppt_w/2"/>
                                          </p:val>
                                        </p:tav>
                                        <p:tav tm="100000">
                                          <p:val>
                                            <p:strVal val="#ppt_x"/>
                                          </p:val>
                                        </p:tav>
                                      </p:tavLst>
                                    </p:anim>
                                    <p:anim calcmode="lin" valueType="num">
                                      <p:cBhvr additive="base">
                                        <p:cTn id="44" dur="500" fill="hold"/>
                                        <p:tgtEl>
                                          <p:spTgt spid="6562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65639"/>
                                        </p:tgtEl>
                                        <p:attrNameLst>
                                          <p:attrName>style.visibility</p:attrName>
                                        </p:attrNameLst>
                                      </p:cBhvr>
                                      <p:to>
                                        <p:strVal val="visible"/>
                                      </p:to>
                                    </p:set>
                                    <p:anim calcmode="lin" valueType="num">
                                      <p:cBhvr additive="base">
                                        <p:cTn id="49" dur="500" fill="hold"/>
                                        <p:tgtEl>
                                          <p:spTgt spid="65639"/>
                                        </p:tgtEl>
                                        <p:attrNameLst>
                                          <p:attrName>ppt_x</p:attrName>
                                        </p:attrNameLst>
                                      </p:cBhvr>
                                      <p:tavLst>
                                        <p:tav tm="0">
                                          <p:val>
                                            <p:strVal val="1+#ppt_w/2"/>
                                          </p:val>
                                        </p:tav>
                                        <p:tav tm="100000">
                                          <p:val>
                                            <p:strVal val="#ppt_x"/>
                                          </p:val>
                                        </p:tav>
                                      </p:tavLst>
                                    </p:anim>
                                    <p:anim calcmode="lin" valueType="num">
                                      <p:cBhvr additive="base">
                                        <p:cTn id="50" dur="500" fill="hold"/>
                                        <p:tgtEl>
                                          <p:spTgt spid="6563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65653"/>
                                        </p:tgtEl>
                                        <p:attrNameLst>
                                          <p:attrName>style.visibility</p:attrName>
                                        </p:attrNameLst>
                                      </p:cBhvr>
                                      <p:to>
                                        <p:strVal val="visible"/>
                                      </p:to>
                                    </p:set>
                                    <p:anim calcmode="lin" valueType="num">
                                      <p:cBhvr additive="base">
                                        <p:cTn id="55" dur="500" fill="hold"/>
                                        <p:tgtEl>
                                          <p:spTgt spid="65653"/>
                                        </p:tgtEl>
                                        <p:attrNameLst>
                                          <p:attrName>ppt_x</p:attrName>
                                        </p:attrNameLst>
                                      </p:cBhvr>
                                      <p:tavLst>
                                        <p:tav tm="0">
                                          <p:val>
                                            <p:strVal val="1+#ppt_w/2"/>
                                          </p:val>
                                        </p:tav>
                                        <p:tav tm="100000">
                                          <p:val>
                                            <p:strVal val="#ppt_x"/>
                                          </p:val>
                                        </p:tav>
                                      </p:tavLst>
                                    </p:anim>
                                    <p:anim calcmode="lin" valueType="num">
                                      <p:cBhvr additive="base">
                                        <p:cTn id="56" dur="500" fill="hold"/>
                                        <p:tgtEl>
                                          <p:spTgt spid="6565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65667"/>
                                        </p:tgtEl>
                                        <p:attrNameLst>
                                          <p:attrName>style.visibility</p:attrName>
                                        </p:attrNameLst>
                                      </p:cBhvr>
                                      <p:to>
                                        <p:strVal val="visible"/>
                                      </p:to>
                                    </p:set>
                                    <p:anim calcmode="lin" valueType="num">
                                      <p:cBhvr additive="base">
                                        <p:cTn id="61" dur="500" fill="hold"/>
                                        <p:tgtEl>
                                          <p:spTgt spid="65667"/>
                                        </p:tgtEl>
                                        <p:attrNameLst>
                                          <p:attrName>ppt_x</p:attrName>
                                        </p:attrNameLst>
                                      </p:cBhvr>
                                      <p:tavLst>
                                        <p:tav tm="0">
                                          <p:val>
                                            <p:strVal val="1+#ppt_w/2"/>
                                          </p:val>
                                        </p:tav>
                                        <p:tav tm="100000">
                                          <p:val>
                                            <p:strVal val="#ppt_x"/>
                                          </p:val>
                                        </p:tav>
                                      </p:tavLst>
                                    </p:anim>
                                    <p:anim calcmode="lin" valueType="num">
                                      <p:cBhvr additive="base">
                                        <p:cTn id="62" dur="500" fill="hold"/>
                                        <p:tgtEl>
                                          <p:spTgt spid="65667"/>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nodeType="clickEffect">
                                  <p:stCondLst>
                                    <p:cond delay="0"/>
                                  </p:stCondLst>
                                  <p:childTnLst>
                                    <p:set>
                                      <p:cBhvr>
                                        <p:cTn id="66" dur="1" fill="hold">
                                          <p:stCondLst>
                                            <p:cond delay="0"/>
                                          </p:stCondLst>
                                        </p:cTn>
                                        <p:tgtEl>
                                          <p:spTgt spid="65681"/>
                                        </p:tgtEl>
                                        <p:attrNameLst>
                                          <p:attrName>style.visibility</p:attrName>
                                        </p:attrNameLst>
                                      </p:cBhvr>
                                      <p:to>
                                        <p:strVal val="visible"/>
                                      </p:to>
                                    </p:set>
                                    <p:anim calcmode="lin" valueType="num">
                                      <p:cBhvr additive="base">
                                        <p:cTn id="67" dur="500" fill="hold"/>
                                        <p:tgtEl>
                                          <p:spTgt spid="65681"/>
                                        </p:tgtEl>
                                        <p:attrNameLst>
                                          <p:attrName>ppt_x</p:attrName>
                                        </p:attrNameLst>
                                      </p:cBhvr>
                                      <p:tavLst>
                                        <p:tav tm="0">
                                          <p:val>
                                            <p:strVal val="1+#ppt_w/2"/>
                                          </p:val>
                                        </p:tav>
                                        <p:tav tm="100000">
                                          <p:val>
                                            <p:strVal val="#ppt_x"/>
                                          </p:val>
                                        </p:tav>
                                      </p:tavLst>
                                    </p:anim>
                                    <p:anim calcmode="lin" valueType="num">
                                      <p:cBhvr additive="base">
                                        <p:cTn id="68" dur="500" fill="hold"/>
                                        <p:tgtEl>
                                          <p:spTgt spid="65681"/>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nodeType="clickEffect">
                                  <p:stCondLst>
                                    <p:cond delay="0"/>
                                  </p:stCondLst>
                                  <p:childTnLst>
                                    <p:set>
                                      <p:cBhvr>
                                        <p:cTn id="72" dur="1" fill="hold">
                                          <p:stCondLst>
                                            <p:cond delay="0"/>
                                          </p:stCondLst>
                                        </p:cTn>
                                        <p:tgtEl>
                                          <p:spTgt spid="65695"/>
                                        </p:tgtEl>
                                        <p:attrNameLst>
                                          <p:attrName>style.visibility</p:attrName>
                                        </p:attrNameLst>
                                      </p:cBhvr>
                                      <p:to>
                                        <p:strVal val="visible"/>
                                      </p:to>
                                    </p:set>
                                    <p:anim calcmode="lin" valueType="num">
                                      <p:cBhvr additive="base">
                                        <p:cTn id="73" dur="500" fill="hold"/>
                                        <p:tgtEl>
                                          <p:spTgt spid="65695"/>
                                        </p:tgtEl>
                                        <p:attrNameLst>
                                          <p:attrName>ppt_x</p:attrName>
                                        </p:attrNameLst>
                                      </p:cBhvr>
                                      <p:tavLst>
                                        <p:tav tm="0">
                                          <p:val>
                                            <p:strVal val="1+#ppt_w/2"/>
                                          </p:val>
                                        </p:tav>
                                        <p:tav tm="100000">
                                          <p:val>
                                            <p:strVal val="#ppt_x"/>
                                          </p:val>
                                        </p:tav>
                                      </p:tavLst>
                                    </p:anim>
                                    <p:anim calcmode="lin" valueType="num">
                                      <p:cBhvr additive="base">
                                        <p:cTn id="74" dur="500" fill="hold"/>
                                        <p:tgtEl>
                                          <p:spTgt spid="65695"/>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395487"/>
                                        </p:tgtEl>
                                        <p:attrNameLst>
                                          <p:attrName>style.visibility</p:attrName>
                                        </p:attrNameLst>
                                      </p:cBhvr>
                                      <p:to>
                                        <p:strVal val="visible"/>
                                      </p:to>
                                    </p:set>
                                    <p:anim calcmode="lin" valueType="num">
                                      <p:cBhvr additive="base">
                                        <p:cTn id="79" dur="500" fill="hold"/>
                                        <p:tgtEl>
                                          <p:spTgt spid="395487"/>
                                        </p:tgtEl>
                                        <p:attrNameLst>
                                          <p:attrName>ppt_x</p:attrName>
                                        </p:attrNameLst>
                                      </p:cBhvr>
                                      <p:tavLst>
                                        <p:tav tm="0">
                                          <p:val>
                                            <p:strVal val="1+#ppt_w/2"/>
                                          </p:val>
                                        </p:tav>
                                        <p:tav tm="100000">
                                          <p:val>
                                            <p:strVal val="#ppt_x"/>
                                          </p:val>
                                        </p:tav>
                                      </p:tavLst>
                                    </p:anim>
                                    <p:anim calcmode="lin" valueType="num">
                                      <p:cBhvr additive="base">
                                        <p:cTn id="80" dur="500" fill="hold"/>
                                        <p:tgtEl>
                                          <p:spTgt spid="3954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48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50</a:t>
            </a:fld>
            <a:endParaRPr lang="zh-CN" altLang="en-US" sz="1400" b="0">
              <a:latin typeface="Tahoma" panose="020B0604030504040204" pitchFamily="34" charset="0"/>
              <a:ea typeface="宋体" panose="02010600030101010101" pitchFamily="2" charset="-122"/>
            </a:endParaRPr>
          </a:p>
        </p:txBody>
      </p:sp>
      <p:sp>
        <p:nvSpPr>
          <p:cNvPr id="66562"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66563" name="Rectangle 3"/>
          <p:cNvSpPr>
            <a:spLocks noGrp="1"/>
          </p:cNvSpPr>
          <p:nvPr>
            <p:ph idx="1"/>
          </p:nvPr>
        </p:nvSpPr>
        <p:spPr>
          <a:xfrm>
            <a:off x="-252412" y="1412875"/>
            <a:ext cx="5832475" cy="2736850"/>
          </a:xfrm>
        </p:spPr>
        <p:txBody>
          <a:bodyPr vert="horz" wrap="square" lIns="91440" tIns="45720" rIns="91440" bIns="45720" anchor="t" anchorCtr="0"/>
          <a:lstStyle/>
          <a:p>
            <a:pPr eaLnBrk="1" hangingPunct="1">
              <a:buFont typeface="Wingdings" panose="05000000000000000000" pitchFamily="2" charset="2"/>
              <a:buNone/>
            </a:pPr>
            <a:r>
              <a:rPr lang="zh-CN" altLang="en-US" sz="2400" b="0"/>
              <a:t>    设</a:t>
            </a:r>
            <a:r>
              <a:rPr lang="en-US" altLang="zh-CN" sz="2400" b="0"/>
              <a:t>G(P</a:t>
            </a:r>
            <a:r>
              <a:rPr lang="zh-CN" altLang="en-US" sz="2400" b="0"/>
              <a:t>，</a:t>
            </a:r>
            <a:r>
              <a:rPr lang="en-US" altLang="zh-CN" sz="2400" b="0"/>
              <a:t>M</a:t>
            </a:r>
            <a:r>
              <a:rPr lang="zh-CN" altLang="en-US" sz="2400" b="0"/>
              <a:t>，</a:t>
            </a:r>
            <a:r>
              <a:rPr lang="en-US" altLang="zh-CN" sz="2400" b="0"/>
              <a:t>t)</a:t>
            </a:r>
            <a:r>
              <a:rPr lang="zh-CN" altLang="en-US" sz="2400" b="0"/>
              <a:t>表示当页面走向为</a:t>
            </a:r>
            <a:r>
              <a:rPr lang="en-US" altLang="zh-CN" sz="2400" b="0"/>
              <a:t>P</a:t>
            </a:r>
            <a:r>
              <a:rPr lang="zh-CN" altLang="en-US" sz="2400" b="0"/>
              <a:t>，主存容量为</a:t>
            </a:r>
            <a:r>
              <a:rPr lang="en-US" altLang="zh-CN" sz="2400" b="0"/>
              <a:t>M</a:t>
            </a:r>
            <a:r>
              <a:rPr lang="zh-CN" altLang="en-US" sz="2400" b="0"/>
              <a:t>，在时刻</a:t>
            </a:r>
            <a:r>
              <a:rPr lang="en-US" altLang="zh-CN" sz="2400" b="0"/>
              <a:t>t</a:t>
            </a:r>
            <a:r>
              <a:rPr lang="zh-CN" altLang="en-US" sz="2400" b="0"/>
              <a:t>的页面集合。对于</a:t>
            </a:r>
            <a:r>
              <a:rPr lang="en-US" altLang="zh-CN" sz="2400" b="0"/>
              <a:t>LRU</a:t>
            </a:r>
            <a:r>
              <a:rPr lang="zh-CN" altLang="en-US" sz="2400" b="0"/>
              <a:t>算法，存在如下关系：即 </a:t>
            </a:r>
            <a:r>
              <a:rPr lang="en-US" altLang="zh-CN" sz="2400" b="0"/>
              <a:t>G(P</a:t>
            </a:r>
            <a:r>
              <a:rPr lang="zh-CN" altLang="en-US" sz="2400" b="0"/>
              <a:t>，</a:t>
            </a:r>
            <a:r>
              <a:rPr lang="en-US" altLang="zh-CN" sz="2400" b="0"/>
              <a:t>M</a:t>
            </a:r>
            <a:r>
              <a:rPr lang="zh-CN" altLang="en-US" sz="2400" b="0"/>
              <a:t>，</a:t>
            </a:r>
            <a:r>
              <a:rPr lang="en-US" altLang="zh-CN" sz="2400" b="0"/>
              <a:t>t)</a:t>
            </a:r>
            <a:r>
              <a:rPr lang="en-US" altLang="en-US" sz="2400" b="0">
                <a:sym typeface="Symbol" panose="05050102010706020507" pitchFamily="18" charset="2"/>
              </a:rPr>
              <a:t></a:t>
            </a:r>
            <a:r>
              <a:rPr lang="en-US" altLang="zh-CN" sz="2400" b="0"/>
              <a:t>G(P</a:t>
            </a:r>
            <a:r>
              <a:rPr lang="zh-CN" altLang="en-US" sz="2400" b="0"/>
              <a:t>，</a:t>
            </a:r>
            <a:r>
              <a:rPr lang="en-US" altLang="zh-CN" sz="2400" b="0"/>
              <a:t>M+1</a:t>
            </a:r>
            <a:r>
              <a:rPr lang="zh-CN" altLang="en-US" sz="2400" b="0"/>
              <a:t>，</a:t>
            </a:r>
            <a:r>
              <a:rPr lang="en-US" altLang="zh-CN" sz="2400" b="0"/>
              <a:t>t)</a:t>
            </a:r>
            <a:r>
              <a:rPr lang="zh-CN" altLang="en-US" sz="2400" b="0"/>
              <a:t>成立。即对于任何时刻</a:t>
            </a:r>
            <a:r>
              <a:rPr lang="en-US" altLang="zh-CN" sz="2400" b="0"/>
              <a:t>t(t=l</a:t>
            </a:r>
            <a:r>
              <a:rPr lang="zh-CN" altLang="en-US" sz="2400" b="0"/>
              <a:t>，</a:t>
            </a:r>
            <a:r>
              <a:rPr lang="en-US" altLang="zh-CN" sz="2400" b="0"/>
              <a:t>2</a:t>
            </a:r>
            <a:r>
              <a:rPr lang="zh-CN" altLang="en-US" sz="2400" b="0"/>
              <a:t>，</a:t>
            </a:r>
            <a:r>
              <a:rPr lang="en-US" altLang="zh-CN" sz="2400" b="0"/>
              <a:t>…</a:t>
            </a:r>
            <a:r>
              <a:rPr lang="zh-CN" altLang="en-US" sz="2400" b="0"/>
              <a:t>，</a:t>
            </a:r>
            <a:r>
              <a:rPr lang="en-US" altLang="zh-CN" sz="2400" b="0"/>
              <a:t>12)</a:t>
            </a:r>
            <a:r>
              <a:rPr lang="zh-CN" altLang="en-US" sz="2400" b="0"/>
              <a:t>，</a:t>
            </a:r>
            <a:r>
              <a:rPr lang="en-US" altLang="zh-CN" sz="2400" b="0"/>
              <a:t>G(P</a:t>
            </a:r>
            <a:r>
              <a:rPr lang="zh-CN" altLang="en-US" sz="2400" b="0"/>
              <a:t>，</a:t>
            </a:r>
            <a:r>
              <a:rPr lang="en-US" altLang="zh-CN" sz="2400" b="0"/>
              <a:t>M</a:t>
            </a:r>
            <a:r>
              <a:rPr lang="zh-CN" altLang="en-US" sz="2400" b="0"/>
              <a:t>，</a:t>
            </a:r>
            <a:r>
              <a:rPr lang="en-US" altLang="zh-CN" sz="2400" b="0"/>
              <a:t>t)</a:t>
            </a:r>
            <a:r>
              <a:rPr lang="zh-CN" altLang="en-US" sz="2400" b="0"/>
              <a:t>所选中的页号必定包含在</a:t>
            </a:r>
            <a:r>
              <a:rPr lang="en-US" altLang="zh-CN" sz="2400" b="0"/>
              <a:t>G(P</a:t>
            </a:r>
            <a:r>
              <a:rPr lang="zh-CN" altLang="en-US" sz="2400" b="0"/>
              <a:t>，</a:t>
            </a:r>
            <a:r>
              <a:rPr lang="en-US" altLang="zh-CN" sz="2400" b="0"/>
              <a:t>M +1</a:t>
            </a:r>
            <a:r>
              <a:rPr lang="zh-CN" altLang="en-US" sz="2400" b="0"/>
              <a:t>，</a:t>
            </a:r>
            <a:r>
              <a:rPr lang="en-US" altLang="zh-CN" sz="2400" b="0"/>
              <a:t>t)</a:t>
            </a:r>
            <a:r>
              <a:rPr lang="zh-CN" altLang="en-US" sz="2400" b="0"/>
              <a:t>中。</a:t>
            </a:r>
            <a:endParaRPr lang="en-US" altLang="zh-CN" sz="2400" b="0"/>
          </a:p>
          <a:p>
            <a:pPr eaLnBrk="1" hangingPunct="1">
              <a:buFont typeface="Wingdings" panose="05000000000000000000" pitchFamily="2" charset="2"/>
              <a:buNone/>
            </a:pPr>
            <a:r>
              <a:rPr lang="en-US" altLang="zh-CN" sz="2400" b="0"/>
              <a:t>    </a:t>
            </a:r>
            <a:r>
              <a:rPr lang="zh-CN" altLang="en-US" sz="2400" b="0">
                <a:solidFill>
                  <a:srgbClr val="FF0000"/>
                </a:solidFill>
              </a:rPr>
              <a:t>说明了增加主存容量不会增加缺页中断次数，然而对</a:t>
            </a:r>
            <a:r>
              <a:rPr lang="en-US" altLang="zh-CN" sz="2400" b="0">
                <a:solidFill>
                  <a:srgbClr val="FF0000"/>
                </a:solidFill>
              </a:rPr>
              <a:t>FIFO</a:t>
            </a:r>
            <a:r>
              <a:rPr lang="zh-CN" altLang="en-US" sz="2400" b="0">
                <a:solidFill>
                  <a:srgbClr val="FF0000"/>
                </a:solidFill>
              </a:rPr>
              <a:t>算法此关系并不成立</a:t>
            </a:r>
            <a:r>
              <a:rPr lang="zh-CN" altLang="en-US" sz="2400" b="0"/>
              <a:t>。</a:t>
            </a:r>
          </a:p>
        </p:txBody>
      </p:sp>
      <p:sp>
        <p:nvSpPr>
          <p:cNvPr id="66564" name="矩形 1"/>
          <p:cNvSpPr/>
          <p:nvPr/>
        </p:nvSpPr>
        <p:spPr>
          <a:xfrm>
            <a:off x="179388" y="4657725"/>
            <a:ext cx="8928100" cy="19399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t>LRU算法</a:t>
            </a:r>
            <a:endParaRPr lang="en-US" altLang="zh-CN" sz="2400" b="0"/>
          </a:p>
          <a:p>
            <a:pPr marL="0" lvl="0" indent="0">
              <a:spcBef>
                <a:spcPct val="0"/>
              </a:spcBef>
              <a:buClrTx/>
              <a:buFontTx/>
              <a:buNone/>
            </a:pPr>
            <a:r>
              <a:rPr lang="zh-CN" altLang="en-US" sz="2400" b="0"/>
              <a:t>优点</a:t>
            </a:r>
            <a:r>
              <a:rPr lang="en-US" altLang="zh-CN" sz="2400" b="0"/>
              <a:t>:</a:t>
            </a:r>
            <a:r>
              <a:rPr lang="zh-CN" altLang="en-US" sz="2400" b="0"/>
              <a:t>不会出现 Belady现象。性能较好，接近理想情况。</a:t>
            </a:r>
            <a:endParaRPr lang="en-US" altLang="zh-CN" sz="2400" b="0"/>
          </a:p>
          <a:p>
            <a:pPr marL="0" lvl="0" indent="0">
              <a:spcBef>
                <a:spcPct val="0"/>
              </a:spcBef>
              <a:buClrTx/>
              <a:buFontTx/>
              <a:buNone/>
            </a:pPr>
            <a:r>
              <a:rPr lang="zh-CN" altLang="en-US" sz="2400" b="0"/>
              <a:t>缺点是算法效率不高。</a:t>
            </a:r>
            <a:endParaRPr lang="en-US" altLang="zh-CN" sz="2400" b="0"/>
          </a:p>
          <a:p>
            <a:pPr marL="0" lvl="0" indent="0">
              <a:spcBef>
                <a:spcPct val="0"/>
              </a:spcBef>
              <a:buClrTx/>
              <a:buFontTx/>
              <a:buNone/>
            </a:pPr>
            <a:r>
              <a:rPr lang="zh-CN" altLang="en-US" sz="2400" b="0"/>
              <a:t>①需要对整个页表频繁进行维护。    </a:t>
            </a:r>
            <a:endParaRPr lang="en-US" altLang="zh-CN" sz="2400" b="0"/>
          </a:p>
          <a:p>
            <a:pPr marL="0" lvl="0" indent="0">
              <a:spcBef>
                <a:spcPct val="0"/>
              </a:spcBef>
              <a:buClrTx/>
              <a:buFontTx/>
              <a:buNone/>
            </a:pPr>
            <a:r>
              <a:rPr lang="zh-CN" altLang="en-US" sz="2400" b="0"/>
              <a:t>②比较是算法的基本操作，当页面较多时会消耗大量时间。</a:t>
            </a:r>
          </a:p>
        </p:txBody>
      </p:sp>
      <p:pic>
        <p:nvPicPr>
          <p:cNvPr id="66565" name="图片 1"/>
          <p:cNvPicPr>
            <a:picLocks noChangeAspect="1"/>
          </p:cNvPicPr>
          <p:nvPr/>
        </p:nvPicPr>
        <p:blipFill>
          <a:blip r:embed="rId2"/>
          <a:stretch>
            <a:fillRect/>
          </a:stretch>
        </p:blipFill>
        <p:spPr>
          <a:xfrm>
            <a:off x="5580063" y="1412875"/>
            <a:ext cx="3563937" cy="3119438"/>
          </a:xfrm>
          <a:prstGeom prst="rect">
            <a:avLst/>
          </a:prstGeom>
          <a:noFill/>
          <a:ln w="9525">
            <a:noFill/>
          </a:ln>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3"/>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51</a:t>
            </a:fld>
            <a:endParaRPr lang="zh-CN" altLang="en-US" sz="1400" b="0">
              <a:latin typeface="Tahoma" panose="020B0604030504040204" pitchFamily="34" charset="0"/>
              <a:ea typeface="宋体" panose="02010600030101010101" pitchFamily="2" charset="-122"/>
            </a:endParaRPr>
          </a:p>
        </p:txBody>
      </p:sp>
      <p:sp>
        <p:nvSpPr>
          <p:cNvPr id="67586" name="文本框 6"/>
          <p:cNvSpPr txBox="1"/>
          <p:nvPr>
            <p:custDataLst>
              <p:tags r:id="rId2"/>
            </p:custDataLst>
          </p:nvPr>
        </p:nvSpPr>
        <p:spPr>
          <a:xfrm>
            <a:off x="914400" y="635000"/>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panose="020B0503020204020204" charset="-122"/>
                <a:ea typeface="微软雅黑" panose="020B0503020204020204" charset="-122"/>
                <a:sym typeface="微软雅黑" panose="020B0503020204020204" charset="-122"/>
              </a:rPr>
              <a:t>请您编辑题干</a:t>
            </a:r>
          </a:p>
        </p:txBody>
      </p:sp>
      <p:sp>
        <p:nvSpPr>
          <p:cNvPr id="67587" name="矩形: 圆角 7"/>
          <p:cNvSpPr/>
          <p:nvPr>
            <p:custDataLst>
              <p:tags r:id="rId3"/>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solidFill>
                  <a:srgbClr val="FFFFFF"/>
                </a:solidFill>
                <a:latin typeface="微软雅黑" panose="020B0503020204020204" charset="-122"/>
                <a:ea typeface="微软雅黑" panose="020B0503020204020204" charset="-122"/>
                <a:sym typeface="微软雅黑" panose="020B0503020204020204" charset="-122"/>
              </a:rPr>
              <a:t>作答</a:t>
            </a:r>
          </a:p>
        </p:txBody>
      </p:sp>
      <p:sp>
        <p:nvSpPr>
          <p:cNvPr id="67588" name="矩形 13"/>
          <p:cNvSpPr/>
          <p:nvPr>
            <p:custDataLst>
              <p:tags r:id="rId4"/>
            </p:custDataLst>
          </p:nvPr>
        </p:nvSpPr>
        <p:spPr>
          <a:xfrm>
            <a:off x="0" y="5849938"/>
            <a:ext cx="9144000" cy="365125"/>
          </a:xfrm>
          <a:prstGeom prst="rect">
            <a:avLst/>
          </a:prstGeom>
          <a:solidFill>
            <a:srgbClr val="FBFAEF"/>
          </a:solidFill>
          <a:ln w="9525">
            <a:noFill/>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200" b="0">
                <a:solidFill>
                  <a:srgbClr val="F84F41"/>
                </a:solidFill>
                <a:latin typeface="微软雅黑" panose="020B0503020204020204" charset="-122"/>
                <a:ea typeface="微软雅黑" panose="020B0503020204020204" charset="-122"/>
                <a:sym typeface="微软雅黑" panose="020B0503020204020204" charset="-122"/>
              </a:rPr>
              <a:t>正常使用主观题需</a:t>
            </a:r>
            <a:r>
              <a:rPr lang="en-US" altLang="zh-CN" sz="1200" b="0">
                <a:solidFill>
                  <a:srgbClr val="F84F41"/>
                </a:solidFill>
                <a:latin typeface="微软雅黑" panose="020B0503020204020204" charset="-122"/>
                <a:ea typeface="微软雅黑" panose="020B0503020204020204" charset="-122"/>
                <a:sym typeface="微软雅黑" panose="020B0503020204020204" charset="-122"/>
              </a:rPr>
              <a:t>2.0</a:t>
            </a:r>
            <a:r>
              <a:rPr lang="zh-CN" altLang="en-US" sz="1200" b="0">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pic>
        <p:nvPicPr>
          <p:cNvPr id="154630" name="Picture 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22350" y="1333500"/>
            <a:ext cx="6878638"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67590" name="矩形 15"/>
          <p:cNvSpPr/>
          <p:nvPr>
            <p:custDataLst>
              <p:tags r:id="rId5"/>
            </p:custDataLst>
          </p:nvPr>
        </p:nvSpPr>
        <p:spPr>
          <a:xfrm>
            <a:off x="9525000" y="0"/>
            <a:ext cx="3840163" cy="6858000"/>
          </a:xfrm>
          <a:prstGeom prst="rect">
            <a:avLst/>
          </a:prstGeom>
          <a:solidFill>
            <a:srgbClr val="FFFFFF"/>
          </a:solidFill>
          <a:ln w="12700" cap="flat" cmpd="sng">
            <a:solidFill>
              <a:srgbClr val="9B9B9B"/>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solidFill>
                <a:srgbClr val="FFFFFF"/>
              </a:solidFill>
              <a:ea typeface="宋体" panose="02010600030101010101" pitchFamily="2" charset="-122"/>
            </a:endParaRPr>
          </a:p>
        </p:txBody>
      </p:sp>
      <p:sp>
        <p:nvSpPr>
          <p:cNvPr id="67591" name="文本框 20"/>
          <p:cNvSpPr txBox="1"/>
          <p:nvPr>
            <p:custDataLst>
              <p:tags r:id="rId6"/>
            </p:custDataLst>
          </p:nvPr>
        </p:nvSpPr>
        <p:spPr>
          <a:xfrm>
            <a:off x="9613900" y="6650038"/>
            <a:ext cx="3662363" cy="461962"/>
          </a:xfrm>
          <a:prstGeom prst="rect">
            <a:avLst/>
          </a:prstGeom>
          <a:solidFill>
            <a:srgbClr val="FBFAEF"/>
          </a:solidFill>
          <a:ln w="12700">
            <a:noFill/>
          </a:ln>
        </p:spPr>
        <p:txBody>
          <a:bodyPr anchor="ctr" anchorCtr="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200" b="0">
                <a:solidFill>
                  <a:srgbClr val="F84F41"/>
                </a:solidFill>
                <a:latin typeface="微软雅黑" panose="020B0503020204020204" charset="-122"/>
                <a:ea typeface="微软雅黑" panose="020B0503020204020204" charset="-122"/>
                <a:sym typeface="微软雅黑" panose="020B0503020204020204" charset="-122"/>
              </a:rPr>
              <a:t>可为此题添加文本、图片、公式等解析，且需将内容全部放在本区域内。正常使用需</a:t>
            </a:r>
            <a:r>
              <a:rPr lang="en-US" altLang="zh-CN" sz="1200" b="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b="0">
                <a:solidFill>
                  <a:srgbClr val="F84F41"/>
                </a:solidFill>
                <a:latin typeface="微软雅黑" panose="020B0503020204020204" charset="-122"/>
                <a:ea typeface="微软雅黑" panose="020B0503020204020204" charset="-122"/>
                <a:sym typeface="微软雅黑" panose="020B0503020204020204" charset="-122"/>
              </a:rPr>
              <a:t>以上版本</a:t>
            </a:r>
          </a:p>
        </p:txBody>
      </p:sp>
      <p:sp>
        <p:nvSpPr>
          <p:cNvPr id="67592" name="文本框 21"/>
          <p:cNvSpPr txBox="1"/>
          <p:nvPr>
            <p:custDataLst>
              <p:tags r:id="rId7"/>
            </p:custDataLst>
          </p:nvPr>
        </p:nvSpPr>
        <p:spPr>
          <a:xfrm>
            <a:off x="9779000" y="1270000"/>
            <a:ext cx="3332163" cy="1905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solidFill>
                  <a:srgbClr val="000000"/>
                </a:solidFill>
                <a:latin typeface="微软雅黑" panose="020B0503020204020204" charset="-122"/>
                <a:ea typeface="微软雅黑" panose="020B0503020204020204" charset="-122"/>
                <a:sym typeface="微软雅黑" panose="020B0503020204020204" charset="-122"/>
              </a:rPr>
              <a:t>此处添加答案解析</a:t>
            </a:r>
          </a:p>
        </p:txBody>
      </p:sp>
      <p:pic>
        <p:nvPicPr>
          <p:cNvPr id="23"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869488" y="1092200"/>
            <a:ext cx="2960688" cy="150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24" name="Picture 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861550" y="2879725"/>
            <a:ext cx="2962275" cy="153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25" name="Picture 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904413" y="4724400"/>
            <a:ext cx="2936875" cy="152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67596" name="组合 12"/>
          <p:cNvGrpSpPr/>
          <p:nvPr/>
        </p:nvGrpSpPr>
        <p:grpSpPr>
          <a:xfrm>
            <a:off x="0" y="0"/>
            <a:ext cx="9144000" cy="635000"/>
            <a:chOff x="0" y="0"/>
            <a:chExt cx="9144000" cy="635000"/>
          </a:xfrm>
        </p:grpSpPr>
        <p:sp>
          <p:nvSpPr>
            <p:cNvPr id="67602" name="TitleBackground"/>
            <p:cNvSpPr/>
            <p:nvPr>
              <p:custDataLst>
                <p:tags r:id="rId12"/>
              </p:custDataLst>
            </p:nvPr>
          </p:nvSpPr>
          <p:spPr>
            <a:xfrm>
              <a:off x="0" y="0"/>
              <a:ext cx="9144000" cy="635000"/>
            </a:xfrm>
            <a:prstGeom prst="rect">
              <a:avLst/>
            </a:prstGeom>
            <a:solidFill>
              <a:srgbClr val="F6F7F8"/>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67603" name="ColorBlock"/>
            <p:cNvSpPr/>
            <p:nvPr>
              <p:custDataLst>
                <p:tags r:id="rId13"/>
              </p:custDataLst>
            </p:nvPr>
          </p:nvSpPr>
          <p:spPr>
            <a:xfrm>
              <a:off x="0" y="0"/>
              <a:ext cx="190500" cy="635000"/>
            </a:xfrm>
            <a:prstGeom prst="rect">
              <a:avLst/>
            </a:prstGeom>
            <a:solidFill>
              <a:srgbClr val="639EF4"/>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67604" name="TypeText"/>
            <p:cNvSpPr txBox="1"/>
            <p:nvPr>
              <p:custDataLst>
                <p:tags r:id="rId14"/>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67605" name="TipText"/>
            <p:cNvSpPr txBox="1"/>
            <p:nvPr>
              <p:custDataLst>
                <p:tags r:id="rId15"/>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b="0">
                  <a:solidFill>
                    <a:srgbClr val="808080"/>
                  </a:solidFill>
                  <a:latin typeface="微软雅黑" panose="020B0503020204020204" charset="-122"/>
                  <a:ea typeface="微软雅黑" panose="020B0503020204020204" charset="-122"/>
                  <a:sym typeface="微软雅黑" panose="020B0503020204020204" charset="-122"/>
                </a:rPr>
                <a:t>分</a:t>
              </a:r>
            </a:p>
          </p:txBody>
        </p:sp>
      </p:grpSp>
      <p:grpSp>
        <p:nvGrpSpPr>
          <p:cNvPr id="67597" name="组合 19"/>
          <p:cNvGrpSpPr/>
          <p:nvPr/>
        </p:nvGrpSpPr>
        <p:grpSpPr>
          <a:xfrm>
            <a:off x="9537700" y="0"/>
            <a:ext cx="3814763" cy="647700"/>
            <a:chOff x="9537700" y="0"/>
            <a:chExt cx="3815080" cy="647700"/>
          </a:xfrm>
        </p:grpSpPr>
        <p:sp>
          <p:nvSpPr>
            <p:cNvPr id="67599" name="RemarkBack"/>
            <p:cNvSpPr/>
            <p:nvPr>
              <p:custDataLst>
                <p:tags r:id="rId9"/>
              </p:custDataLst>
            </p:nvPr>
          </p:nvSpPr>
          <p:spPr>
            <a:xfrm>
              <a:off x="9537700" y="12700"/>
              <a:ext cx="3815080" cy="635000"/>
            </a:xfrm>
            <a:prstGeom prst="rect">
              <a:avLst/>
            </a:prstGeom>
            <a:solidFill>
              <a:srgbClr val="F6F7F8"/>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67600" name="RemarkBlock"/>
            <p:cNvSpPr/>
            <p:nvPr>
              <p:custDataLst>
                <p:tags r:id="rId10"/>
              </p:custDataLst>
            </p:nvPr>
          </p:nvSpPr>
          <p:spPr>
            <a:xfrm>
              <a:off x="9537700" y="12700"/>
              <a:ext cx="190500" cy="635000"/>
            </a:xfrm>
            <a:prstGeom prst="rect">
              <a:avLst/>
            </a:prstGeom>
            <a:solidFill>
              <a:srgbClr val="639EF4"/>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67601" name="RemarkTitleText"/>
            <p:cNvSpPr txBox="1"/>
            <p:nvPr>
              <p:custDataLst>
                <p:tags r:id="rId11"/>
              </p:custDataLst>
            </p:nvPr>
          </p:nvSpPr>
          <p:spPr>
            <a:xfrm>
              <a:off x="9779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800" b="0">
                  <a:solidFill>
                    <a:srgbClr val="000000"/>
                  </a:solidFill>
                  <a:latin typeface="微软雅黑" panose="020B0503020204020204" charset="-122"/>
                  <a:ea typeface="微软雅黑" panose="020B0503020204020204" charset="-122"/>
                  <a:sym typeface="微软雅黑" panose="020B0503020204020204" charset="-122"/>
                </a:rPr>
                <a:t>答案解析</a:t>
              </a:r>
            </a:p>
          </p:txBody>
        </p:sp>
      </p:grpSp>
      <p:pic>
        <p:nvPicPr>
          <p:cNvPr id="67598" name="图片 5"/>
          <p:cNvPicPr/>
          <p:nvPr>
            <p:custDataLst>
              <p:tags r:id="rId8"/>
            </p:custDataLst>
          </p:nvPr>
        </p:nvPicPr>
        <p:blipFill>
          <a:blip r:embed="rId21"/>
          <a:stretch>
            <a:fillRect/>
          </a:stretch>
        </p:blipFill>
        <p:spPr>
          <a:xfrm>
            <a:off x="7594600" y="63500"/>
            <a:ext cx="1422400" cy="508000"/>
          </a:xfrm>
          <a:prstGeom prst="rect">
            <a:avLst/>
          </a:prstGeom>
          <a:noFill/>
          <a:ln w="9525">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52</a:t>
            </a:fld>
            <a:endParaRPr lang="zh-CN" altLang="en-US" sz="1400" b="0">
              <a:latin typeface="Tahoma" panose="020B0604030504040204" pitchFamily="34" charset="0"/>
              <a:ea typeface="宋体" panose="02010600030101010101" pitchFamily="2" charset="-122"/>
            </a:endParaRPr>
          </a:p>
        </p:txBody>
      </p:sp>
      <p:sp>
        <p:nvSpPr>
          <p:cNvPr id="68610"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118787" name="Rectangle 3"/>
          <p:cNvSpPr>
            <a:spLocks noGrp="1"/>
          </p:cNvSpPr>
          <p:nvPr>
            <p:ph idx="1"/>
          </p:nvPr>
        </p:nvSpPr>
        <p:spPr>
          <a:xfrm>
            <a:off x="1143000" y="1447800"/>
            <a:ext cx="7772400" cy="4648200"/>
          </a:xfrm>
        </p:spPr>
        <p:txBody>
          <a:bodyPr vert="horz" wrap="square" lIns="91440" tIns="45720" rIns="91440" bIns="45720" anchor="t" anchorCtr="0"/>
          <a:lstStyle/>
          <a:p>
            <a:pPr marL="0" indent="0" eaLnBrk="1" hangingPunct="1">
              <a:buFont typeface="Wingdings" panose="05000000000000000000" pitchFamily="2" charset="2"/>
              <a:buNone/>
            </a:pPr>
            <a:endParaRPr lang="en-US" altLang="zh-CN" sz="2400"/>
          </a:p>
        </p:txBody>
      </p:sp>
      <p:pic>
        <p:nvPicPr>
          <p:cNvPr id="15565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2350" y="1333500"/>
            <a:ext cx="6878638"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566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0863" y="3573463"/>
            <a:ext cx="5281613"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blinds(horizontal)">
                                      <p:cBhvr>
                                        <p:cTn id="7" dur="500"/>
                                        <p:tgtEl>
                                          <p:spTgt spid="118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6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bldLvl="2"/>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53</a:t>
            </a:fld>
            <a:endParaRPr lang="zh-CN" altLang="en-US" sz="1400" b="0">
              <a:latin typeface="Tahoma" panose="020B0604030504040204" pitchFamily="34" charset="0"/>
              <a:ea typeface="宋体" panose="02010600030101010101" pitchFamily="2" charset="-122"/>
            </a:endParaRPr>
          </a:p>
        </p:txBody>
      </p:sp>
      <p:sp>
        <p:nvSpPr>
          <p:cNvPr id="69634"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p>
        </p:txBody>
      </p:sp>
      <p:sp>
        <p:nvSpPr>
          <p:cNvPr id="118787" name="Rectangle 3"/>
          <p:cNvSpPr>
            <a:spLocks noGrp="1"/>
          </p:cNvSpPr>
          <p:nvPr>
            <p:ph idx="1"/>
          </p:nvPr>
        </p:nvSpPr>
        <p:spPr>
          <a:xfrm>
            <a:off x="1143000" y="1447800"/>
            <a:ext cx="7772400" cy="4648200"/>
          </a:xfrm>
        </p:spPr>
        <p:txBody>
          <a:bodyPr vert="horz" wrap="square" lIns="91440" tIns="45720" rIns="91440" bIns="45720" anchor="t" anchorCtr="0"/>
          <a:lstStyle/>
          <a:p>
            <a:pPr marL="0" indent="0" eaLnBrk="1" hangingPunct="1">
              <a:buFont typeface="Wingdings" panose="05000000000000000000" pitchFamily="2" charset="2"/>
              <a:buNone/>
            </a:pPr>
            <a:endParaRPr lang="en-US" altLang="zh-CN" sz="2400"/>
          </a:p>
        </p:txBody>
      </p:sp>
      <p:pic>
        <p:nvPicPr>
          <p:cNvPr id="157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3075" y="1268413"/>
            <a:ext cx="5060950" cy="2614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576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425" y="3910013"/>
            <a:ext cx="4983163" cy="259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blinds(horizontal)">
                                      <p:cBhvr>
                                        <p:cTn id="7" dur="500"/>
                                        <p:tgtEl>
                                          <p:spTgt spid="118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769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576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bldLvl="2"/>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3"/>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54</a:t>
            </a:fld>
            <a:endParaRPr lang="zh-CN" altLang="en-US" sz="1400" b="0">
              <a:latin typeface="Tahoma" panose="020B0604030504040204" pitchFamily="34" charset="0"/>
              <a:ea typeface="宋体" panose="02010600030101010101" pitchFamily="2" charset="-122"/>
            </a:endParaRPr>
          </a:p>
        </p:txBody>
      </p:sp>
      <p:sp>
        <p:nvSpPr>
          <p:cNvPr id="70658" name="文本框 6"/>
          <p:cNvSpPr txBox="1"/>
          <p:nvPr>
            <p:custDataLst>
              <p:tags r:id="rId2"/>
            </p:custDataLst>
          </p:nvPr>
        </p:nvSpPr>
        <p:spPr>
          <a:xfrm>
            <a:off x="914400" y="2438400"/>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ea typeface="宋体" panose="02010600030101010101" pitchFamily="2" charset="-122"/>
              </a:rPr>
              <a:t>请求分页管理系统中，假设某进程的页表内容如下表所示： </a:t>
            </a:r>
            <a:endParaRPr lang="zh-CN" altLang="en-US" sz="600" b="0">
              <a:ea typeface="宋体" panose="02010600030101010101" pitchFamily="2" charset="-122"/>
            </a:endParaRPr>
          </a:p>
          <a:p>
            <a:pPr marL="0" lvl="0" indent="0">
              <a:spcBef>
                <a:spcPct val="0"/>
              </a:spcBef>
              <a:buClrTx/>
              <a:buFontTx/>
              <a:buNone/>
            </a:pPr>
            <a:r>
              <a:rPr lang="zh-CN" altLang="en-US" sz="2000" b="0">
                <a:ea typeface="宋体" panose="02010600030101010101" pitchFamily="2" charset="-122"/>
              </a:rPr>
              <a:t>  页面大小为</a:t>
            </a:r>
            <a:r>
              <a:rPr lang="en-US" altLang="zh-CN" sz="2000" b="0">
                <a:ea typeface="宋体" panose="02010600030101010101" pitchFamily="2" charset="-122"/>
              </a:rPr>
              <a:t>4KB</a:t>
            </a:r>
            <a:r>
              <a:rPr lang="zh-CN" altLang="en-US" sz="2000" b="0">
                <a:ea typeface="宋体" panose="02010600030101010101" pitchFamily="2" charset="-122"/>
              </a:rPr>
              <a:t>，一次内存的访问时间是</a:t>
            </a:r>
            <a:r>
              <a:rPr lang="en-US" altLang="zh-CN" sz="2000" b="0">
                <a:ea typeface="宋体" panose="02010600030101010101" pitchFamily="2" charset="-122"/>
              </a:rPr>
              <a:t>100ns</a:t>
            </a:r>
            <a:r>
              <a:rPr lang="zh-CN" altLang="en-US" sz="2000" b="0">
                <a:ea typeface="宋体" panose="02010600030101010101" pitchFamily="2" charset="-122"/>
              </a:rPr>
              <a:t>，一次快表（</a:t>
            </a:r>
            <a:r>
              <a:rPr lang="en-US" altLang="zh-CN" sz="2000" b="0">
                <a:ea typeface="宋体" panose="02010600030101010101" pitchFamily="2" charset="-122"/>
              </a:rPr>
              <a:t>TLB</a:t>
            </a:r>
            <a:r>
              <a:rPr lang="zh-CN" altLang="en-US" sz="2000" b="0">
                <a:ea typeface="宋体" panose="02010600030101010101" pitchFamily="2" charset="-122"/>
              </a:rPr>
              <a:t>）的访问时间是</a:t>
            </a:r>
            <a:r>
              <a:rPr lang="en-US" altLang="zh-CN" sz="2000" b="0">
                <a:ea typeface="宋体" panose="02010600030101010101" pitchFamily="2" charset="-122"/>
              </a:rPr>
              <a:t>10ns</a:t>
            </a:r>
            <a:r>
              <a:rPr lang="zh-CN" altLang="en-US" sz="2000" b="0">
                <a:ea typeface="宋体" panose="02010600030101010101" pitchFamily="2" charset="-122"/>
              </a:rPr>
              <a:t>，处理一次缺页的平均时间为</a:t>
            </a:r>
            <a:r>
              <a:rPr lang="en-US" altLang="zh-CN" sz="2000" b="0">
                <a:ea typeface="宋体" panose="02010600030101010101" pitchFamily="2" charset="-122"/>
              </a:rPr>
              <a:t>10</a:t>
            </a:r>
            <a:r>
              <a:rPr lang="en-US" altLang="zh-CN" sz="2000" b="0" baseline="30000">
                <a:ea typeface="宋体" panose="02010600030101010101" pitchFamily="2" charset="-122"/>
              </a:rPr>
              <a:t>8</a:t>
            </a:r>
            <a:r>
              <a:rPr lang="en-US" altLang="zh-CN" sz="2000" b="0">
                <a:ea typeface="宋体" panose="02010600030101010101" pitchFamily="2" charset="-122"/>
              </a:rPr>
              <a:t>ns</a:t>
            </a:r>
            <a:r>
              <a:rPr lang="zh-CN" altLang="en-US" sz="2000" b="0">
                <a:ea typeface="宋体" panose="02010600030101010101" pitchFamily="2" charset="-122"/>
              </a:rPr>
              <a:t>（已含更新</a:t>
            </a:r>
            <a:r>
              <a:rPr lang="en-US" altLang="zh-CN" sz="2000" b="0">
                <a:ea typeface="宋体" panose="02010600030101010101" pitchFamily="2" charset="-122"/>
              </a:rPr>
              <a:t>TLB</a:t>
            </a:r>
            <a:r>
              <a:rPr lang="zh-CN" altLang="en-US" sz="2000" b="0">
                <a:ea typeface="宋体" panose="02010600030101010101" pitchFamily="2" charset="-122"/>
              </a:rPr>
              <a:t>和页表的时间），进程的驻留集大小固定为</a:t>
            </a:r>
            <a:r>
              <a:rPr lang="en-US" altLang="zh-CN" sz="2000" b="0">
                <a:ea typeface="宋体" panose="02010600030101010101" pitchFamily="2" charset="-122"/>
              </a:rPr>
              <a:t>2</a:t>
            </a:r>
            <a:r>
              <a:rPr lang="zh-CN" altLang="en-US" sz="2000" b="0">
                <a:ea typeface="宋体" panose="02010600030101010101" pitchFamily="2" charset="-122"/>
              </a:rPr>
              <a:t>，采用最近最少使用置换算法（</a:t>
            </a:r>
            <a:r>
              <a:rPr lang="en-US" altLang="zh-CN" sz="2000" b="0">
                <a:ea typeface="宋体" panose="02010600030101010101" pitchFamily="2" charset="-122"/>
              </a:rPr>
              <a:t>LRU</a:t>
            </a:r>
            <a:r>
              <a:rPr lang="zh-CN" altLang="en-US" sz="2000" b="0">
                <a:ea typeface="宋体" panose="02010600030101010101" pitchFamily="2" charset="-122"/>
              </a:rPr>
              <a:t>）和局部淘汰策略。假设：①</a:t>
            </a:r>
            <a:r>
              <a:rPr lang="en-US" altLang="zh-CN" sz="2000" b="0">
                <a:ea typeface="宋体" panose="02010600030101010101" pitchFamily="2" charset="-122"/>
              </a:rPr>
              <a:t>TLB</a:t>
            </a:r>
            <a:r>
              <a:rPr lang="zh-CN" altLang="en-US" sz="2000" b="0">
                <a:ea typeface="宋体" panose="02010600030101010101" pitchFamily="2" charset="-122"/>
              </a:rPr>
              <a:t>初始为空②地址转换时先访问</a:t>
            </a:r>
            <a:r>
              <a:rPr lang="en-US" altLang="zh-CN" sz="2000" b="0">
                <a:ea typeface="宋体" panose="02010600030101010101" pitchFamily="2" charset="-122"/>
              </a:rPr>
              <a:t>TLB</a:t>
            </a:r>
            <a:r>
              <a:rPr lang="zh-CN" altLang="en-US" sz="2000" b="0">
                <a:ea typeface="宋体" panose="02010600030101010101" pitchFamily="2" charset="-122"/>
              </a:rPr>
              <a:t>，若</a:t>
            </a:r>
            <a:r>
              <a:rPr lang="en-US" altLang="zh-CN" sz="2000" b="0">
                <a:ea typeface="宋体" panose="02010600030101010101" pitchFamily="2" charset="-122"/>
              </a:rPr>
              <a:t>TLB</a:t>
            </a:r>
            <a:r>
              <a:rPr lang="zh-CN" altLang="en-US" sz="2000" b="0">
                <a:ea typeface="宋体" panose="02010600030101010101" pitchFamily="2" charset="-122"/>
              </a:rPr>
              <a:t>未命中，再访问页表（忽略访问页表之后的</a:t>
            </a:r>
            <a:r>
              <a:rPr lang="en-US" altLang="zh-CN" sz="2000" b="0">
                <a:ea typeface="宋体" panose="02010600030101010101" pitchFamily="2" charset="-122"/>
              </a:rPr>
              <a:t>TLB</a:t>
            </a:r>
            <a:r>
              <a:rPr lang="zh-CN" altLang="en-US" sz="2000" b="0">
                <a:ea typeface="宋体" panose="02010600030101010101" pitchFamily="2" charset="-122"/>
              </a:rPr>
              <a:t>更新时间）；③有效位为</a:t>
            </a:r>
            <a:r>
              <a:rPr lang="en-US" altLang="zh-CN" sz="2000" b="0">
                <a:ea typeface="宋体" panose="02010600030101010101" pitchFamily="2" charset="-122"/>
              </a:rPr>
              <a:t>0</a:t>
            </a:r>
            <a:r>
              <a:rPr lang="zh-CN" altLang="en-US" sz="2000" b="0">
                <a:ea typeface="宋体" panose="02010600030101010101" pitchFamily="2" charset="-122"/>
              </a:rPr>
              <a:t>表示页面不在内存，产生缺页中断，缺页中断处理后，返回到产生缺页中断的指令处重新执行。设有虚地址访问序列</a:t>
            </a:r>
            <a:r>
              <a:rPr lang="en-US" altLang="zh-CN" sz="2000" b="0">
                <a:ea typeface="宋体" panose="02010600030101010101" pitchFamily="2" charset="-122"/>
              </a:rPr>
              <a:t>2362H</a:t>
            </a:r>
            <a:r>
              <a:rPr lang="zh-CN" altLang="en-US" sz="2000" b="0">
                <a:ea typeface="宋体" panose="02010600030101010101" pitchFamily="2" charset="-122"/>
              </a:rPr>
              <a:t>、</a:t>
            </a:r>
            <a:r>
              <a:rPr lang="en-US" altLang="zh-CN" sz="2000" b="0">
                <a:ea typeface="宋体" panose="02010600030101010101" pitchFamily="2" charset="-122"/>
              </a:rPr>
              <a:t>1565H</a:t>
            </a:r>
            <a:r>
              <a:rPr lang="zh-CN" altLang="en-US" sz="2000" b="0">
                <a:ea typeface="宋体" panose="02010600030101010101" pitchFamily="2" charset="-122"/>
              </a:rPr>
              <a:t>、</a:t>
            </a:r>
            <a:r>
              <a:rPr lang="en-US" altLang="zh-CN" sz="2000" b="0">
                <a:ea typeface="宋体" panose="02010600030101010101" pitchFamily="2" charset="-122"/>
              </a:rPr>
              <a:t>25A5H</a:t>
            </a:r>
            <a:r>
              <a:rPr lang="zh-CN" altLang="en-US" sz="2000" b="0">
                <a:ea typeface="宋体" panose="02010600030101010101" pitchFamily="2" charset="-122"/>
              </a:rPr>
              <a:t>，请问：  （</a:t>
            </a:r>
            <a:r>
              <a:rPr lang="en-US" altLang="zh-CN" sz="2000" b="0">
                <a:ea typeface="宋体" panose="02010600030101010101" pitchFamily="2" charset="-122"/>
              </a:rPr>
              <a:t>1</a:t>
            </a:r>
            <a:r>
              <a:rPr lang="zh-CN" altLang="en-US" sz="2000" b="0">
                <a:ea typeface="宋体" panose="02010600030101010101" pitchFamily="2" charset="-122"/>
              </a:rPr>
              <a:t>） 依次访问上述三个虚地址，各需多少时间？给出计算过程。 （</a:t>
            </a:r>
            <a:r>
              <a:rPr lang="en-US" altLang="zh-CN" sz="2000" b="0">
                <a:ea typeface="宋体" panose="02010600030101010101" pitchFamily="2" charset="-122"/>
              </a:rPr>
              <a:t>2</a:t>
            </a:r>
            <a:r>
              <a:rPr lang="zh-CN" altLang="en-US" sz="2000" b="0">
                <a:ea typeface="宋体" panose="02010600030101010101" pitchFamily="2" charset="-122"/>
              </a:rPr>
              <a:t>） 基于上述访问序列，虚地址</a:t>
            </a:r>
            <a:r>
              <a:rPr lang="en-US" altLang="zh-CN" sz="2000" b="0">
                <a:ea typeface="宋体" panose="02010600030101010101" pitchFamily="2" charset="-122"/>
              </a:rPr>
              <a:t>1565H</a:t>
            </a:r>
            <a:r>
              <a:rPr lang="zh-CN" altLang="en-US" sz="2000" b="0">
                <a:ea typeface="宋体" panose="02010600030101010101" pitchFamily="2" charset="-122"/>
              </a:rPr>
              <a:t>的物理地址是多少？请说明理由。</a:t>
            </a:r>
            <a:endParaRPr lang="zh-CN" altLang="en-US" sz="2000" b="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0659" name="矩形: 圆角 7"/>
          <p:cNvSpPr/>
          <p:nvPr>
            <p:custDataLst>
              <p:tags r:id="rId3"/>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solidFill>
                  <a:srgbClr val="FFFFFF"/>
                </a:solidFill>
                <a:latin typeface="微软雅黑" panose="020B0503020204020204" charset="-122"/>
                <a:ea typeface="微软雅黑" panose="020B0503020204020204" charset="-122"/>
                <a:sym typeface="微软雅黑" panose="020B0503020204020204" charset="-122"/>
              </a:rPr>
              <a:t>作答</a:t>
            </a:r>
          </a:p>
        </p:txBody>
      </p:sp>
      <p:sp>
        <p:nvSpPr>
          <p:cNvPr id="70660" name="矩形 13"/>
          <p:cNvSpPr/>
          <p:nvPr>
            <p:custDataLst>
              <p:tags r:id="rId4"/>
            </p:custDataLst>
          </p:nvPr>
        </p:nvSpPr>
        <p:spPr>
          <a:xfrm>
            <a:off x="0" y="5849938"/>
            <a:ext cx="9144000" cy="365125"/>
          </a:xfrm>
          <a:prstGeom prst="rect">
            <a:avLst/>
          </a:prstGeom>
          <a:solidFill>
            <a:srgbClr val="FBFAEF"/>
          </a:solidFill>
          <a:ln w="9525">
            <a:noFill/>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200" b="0">
                <a:solidFill>
                  <a:srgbClr val="F84F41"/>
                </a:solidFill>
                <a:latin typeface="微软雅黑" panose="020B0503020204020204" charset="-122"/>
                <a:ea typeface="微软雅黑" panose="020B0503020204020204" charset="-122"/>
                <a:sym typeface="微软雅黑" panose="020B0503020204020204" charset="-122"/>
              </a:rPr>
              <a:t>正常使用主观题需</a:t>
            </a:r>
            <a:r>
              <a:rPr lang="en-US" altLang="zh-CN" sz="1200" b="0">
                <a:solidFill>
                  <a:srgbClr val="F84F41"/>
                </a:solidFill>
                <a:latin typeface="微软雅黑" panose="020B0503020204020204" charset="-122"/>
                <a:ea typeface="微软雅黑" panose="020B0503020204020204" charset="-122"/>
                <a:sym typeface="微软雅黑" panose="020B0503020204020204" charset="-122"/>
              </a:rPr>
              <a:t>2.0</a:t>
            </a:r>
            <a:r>
              <a:rPr lang="zh-CN" altLang="en-US" sz="1200" b="0">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pic>
        <p:nvPicPr>
          <p:cNvPr id="70661" name="图片 14"/>
          <p:cNvPicPr>
            <a:picLocks noChangeAspect="1"/>
          </p:cNvPicPr>
          <p:nvPr/>
        </p:nvPicPr>
        <p:blipFill>
          <a:blip r:embed="rId17"/>
          <a:stretch>
            <a:fillRect/>
          </a:stretch>
        </p:blipFill>
        <p:spPr>
          <a:xfrm>
            <a:off x="1106488" y="5329238"/>
            <a:ext cx="3829050" cy="1133475"/>
          </a:xfrm>
          <a:prstGeom prst="rect">
            <a:avLst/>
          </a:prstGeom>
          <a:noFill/>
          <a:ln w="9525">
            <a:noFill/>
          </a:ln>
        </p:spPr>
      </p:pic>
      <p:sp>
        <p:nvSpPr>
          <p:cNvPr id="70662" name="矩形 15"/>
          <p:cNvSpPr/>
          <p:nvPr>
            <p:custDataLst>
              <p:tags r:id="rId5"/>
            </p:custDataLst>
          </p:nvPr>
        </p:nvSpPr>
        <p:spPr>
          <a:xfrm>
            <a:off x="9525000" y="0"/>
            <a:ext cx="3840163" cy="6858000"/>
          </a:xfrm>
          <a:prstGeom prst="rect">
            <a:avLst/>
          </a:prstGeom>
          <a:solidFill>
            <a:srgbClr val="FFFFFF"/>
          </a:solidFill>
          <a:ln w="12700" cap="flat" cmpd="sng">
            <a:solidFill>
              <a:srgbClr val="9B9B9B"/>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solidFill>
                <a:srgbClr val="FFFFFF"/>
              </a:solidFill>
              <a:ea typeface="宋体" panose="02010600030101010101" pitchFamily="2" charset="-122"/>
            </a:endParaRPr>
          </a:p>
        </p:txBody>
      </p:sp>
      <p:sp>
        <p:nvSpPr>
          <p:cNvPr id="70663" name="文本框 20"/>
          <p:cNvSpPr txBox="1"/>
          <p:nvPr>
            <p:custDataLst>
              <p:tags r:id="rId6"/>
            </p:custDataLst>
          </p:nvPr>
        </p:nvSpPr>
        <p:spPr>
          <a:xfrm>
            <a:off x="9613900" y="6650038"/>
            <a:ext cx="3662363" cy="461962"/>
          </a:xfrm>
          <a:prstGeom prst="rect">
            <a:avLst/>
          </a:prstGeom>
          <a:solidFill>
            <a:srgbClr val="FBFAEF"/>
          </a:solidFill>
          <a:ln w="12700">
            <a:noFill/>
          </a:ln>
        </p:spPr>
        <p:txBody>
          <a:bodyPr anchor="ctr" anchorCtr="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200" b="0">
                <a:solidFill>
                  <a:srgbClr val="F84F41"/>
                </a:solidFill>
                <a:latin typeface="微软雅黑" panose="020B0503020204020204" charset="-122"/>
                <a:ea typeface="微软雅黑" panose="020B0503020204020204" charset="-122"/>
                <a:sym typeface="微软雅黑" panose="020B0503020204020204" charset="-122"/>
              </a:rPr>
              <a:t>可为此题添加文本、图片、公式等解析，且需将内容全部放在本区域内。正常使用需</a:t>
            </a:r>
            <a:r>
              <a:rPr lang="en-US" altLang="zh-CN" sz="1200" b="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b="0">
                <a:solidFill>
                  <a:srgbClr val="F84F41"/>
                </a:solidFill>
                <a:latin typeface="微软雅黑" panose="020B0503020204020204" charset="-122"/>
                <a:ea typeface="微软雅黑" panose="020B0503020204020204" charset="-122"/>
                <a:sym typeface="微软雅黑" panose="020B0503020204020204" charset="-122"/>
              </a:rPr>
              <a:t>以上版本</a:t>
            </a:r>
          </a:p>
        </p:txBody>
      </p:sp>
      <p:sp>
        <p:nvSpPr>
          <p:cNvPr id="70664" name="文本框 21"/>
          <p:cNvSpPr txBox="1"/>
          <p:nvPr>
            <p:custDataLst>
              <p:tags r:id="rId7"/>
            </p:custDataLst>
          </p:nvPr>
        </p:nvSpPr>
        <p:spPr>
          <a:xfrm>
            <a:off x="9779000" y="635000"/>
            <a:ext cx="3332163" cy="5588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2000" b="0">
                <a:ea typeface="宋体" panose="02010600030101010101" pitchFamily="2" charset="-122"/>
              </a:rPr>
              <a:t>解：</a:t>
            </a:r>
            <a:r>
              <a:rPr lang="en-US" altLang="zh-CN" sz="2000" b="0">
                <a:ea typeface="宋体" panose="02010600030101010101" pitchFamily="2" charset="-122"/>
              </a:rPr>
              <a:t>(1)2362H</a:t>
            </a:r>
            <a:r>
              <a:rPr lang="zh-CN" altLang="en-US" sz="2000" b="0">
                <a:ea typeface="宋体" panose="02010600030101010101" pitchFamily="2" charset="-122"/>
              </a:rPr>
              <a:t>：页号</a:t>
            </a:r>
            <a:r>
              <a:rPr lang="en-US" altLang="zh-CN" sz="2000" b="0">
                <a:ea typeface="宋体" panose="02010600030101010101" pitchFamily="2" charset="-122"/>
              </a:rPr>
              <a:t>2</a:t>
            </a:r>
            <a:r>
              <a:rPr lang="zh-CN" altLang="en-US" sz="2000" b="0">
                <a:ea typeface="宋体" panose="02010600030101010101" pitchFamily="2" charset="-122"/>
              </a:rPr>
              <a:t>，页内地址</a:t>
            </a:r>
            <a:r>
              <a:rPr lang="en-US" altLang="zh-CN" sz="2000" b="0">
                <a:ea typeface="宋体" panose="02010600030101010101" pitchFamily="2" charset="-122"/>
              </a:rPr>
              <a:t>362H</a:t>
            </a:r>
            <a:r>
              <a:rPr lang="zh-CN" altLang="en-US" sz="2000" b="0">
                <a:ea typeface="宋体" panose="02010600030101010101" pitchFamily="2" charset="-122"/>
              </a:rPr>
              <a:t>。由页表知，此页在内存。访问时间：</a:t>
            </a:r>
            <a:r>
              <a:rPr lang="en-US" altLang="zh-CN" sz="2000" b="0">
                <a:ea typeface="宋体" panose="02010600030101010101" pitchFamily="2" charset="-122"/>
              </a:rPr>
              <a:t>10 ns +100 ns +100 ns =210ns </a:t>
            </a:r>
          </a:p>
          <a:p>
            <a:pPr marL="0" lvl="0" indent="0" eaLnBrk="1" hangingPunct="1">
              <a:spcBef>
                <a:spcPct val="0"/>
              </a:spcBef>
              <a:buClrTx/>
              <a:buFontTx/>
              <a:buNone/>
            </a:pPr>
            <a:r>
              <a:rPr lang="en-US" altLang="zh-CN" sz="2000" b="0">
                <a:ea typeface="宋体" panose="02010600030101010101" pitchFamily="2" charset="-122"/>
              </a:rPr>
              <a:t>1565H: </a:t>
            </a:r>
            <a:r>
              <a:rPr lang="zh-CN" altLang="en-US" sz="2000" b="0">
                <a:ea typeface="宋体" panose="02010600030101010101" pitchFamily="2" charset="-122"/>
              </a:rPr>
              <a:t>页号</a:t>
            </a:r>
            <a:r>
              <a:rPr lang="en-US" altLang="zh-CN" sz="2000" b="0">
                <a:ea typeface="宋体" panose="02010600030101010101" pitchFamily="2" charset="-122"/>
              </a:rPr>
              <a:t>1</a:t>
            </a:r>
            <a:r>
              <a:rPr lang="zh-CN" altLang="en-US" sz="2000" b="0">
                <a:ea typeface="宋体" panose="02010600030101010101" pitchFamily="2" charset="-122"/>
              </a:rPr>
              <a:t>，页内地址</a:t>
            </a:r>
            <a:r>
              <a:rPr lang="en-US" altLang="zh-CN" sz="2000" b="0">
                <a:ea typeface="宋体" panose="02010600030101010101" pitchFamily="2" charset="-122"/>
              </a:rPr>
              <a:t>565H</a:t>
            </a:r>
            <a:r>
              <a:rPr lang="zh-CN" altLang="en-US" sz="2000" b="0">
                <a:ea typeface="宋体" panose="02010600030101010101" pitchFamily="2" charset="-122"/>
              </a:rPr>
              <a:t>。由页表知，此页不在内存。访问时间：</a:t>
            </a:r>
            <a:r>
              <a:rPr lang="en-US" altLang="zh-CN" sz="2000" b="0">
                <a:ea typeface="宋体" panose="02010600030101010101" pitchFamily="2" charset="-122"/>
              </a:rPr>
              <a:t>10 ns +100 ns +10</a:t>
            </a:r>
            <a:r>
              <a:rPr lang="en-US" altLang="zh-CN" sz="2000" b="0" baseline="30000">
                <a:ea typeface="宋体" panose="02010600030101010101" pitchFamily="2" charset="-122"/>
              </a:rPr>
              <a:t>8</a:t>
            </a:r>
            <a:r>
              <a:rPr lang="en-US" altLang="zh-CN" sz="2000" b="0">
                <a:ea typeface="宋体" panose="02010600030101010101" pitchFamily="2" charset="-122"/>
              </a:rPr>
              <a:t>ns+100 ns≈10</a:t>
            </a:r>
            <a:r>
              <a:rPr lang="en-US" altLang="zh-CN" sz="2000" b="0" baseline="30000">
                <a:ea typeface="宋体" panose="02010600030101010101" pitchFamily="2" charset="-122"/>
              </a:rPr>
              <a:t>8</a:t>
            </a:r>
            <a:r>
              <a:rPr lang="en-US" altLang="zh-CN" sz="2000" b="0">
                <a:ea typeface="宋体" panose="02010600030101010101" pitchFamily="2" charset="-122"/>
              </a:rPr>
              <a:t> ns</a:t>
            </a:r>
          </a:p>
          <a:p>
            <a:pPr marL="0" lvl="0" indent="0" eaLnBrk="1" hangingPunct="1">
              <a:spcBef>
                <a:spcPct val="0"/>
              </a:spcBef>
              <a:buClrTx/>
              <a:buFontTx/>
              <a:buNone/>
            </a:pPr>
            <a:r>
              <a:rPr lang="en-US" altLang="zh-CN" sz="2000" b="0">
                <a:ea typeface="宋体" panose="02010600030101010101" pitchFamily="2" charset="-122"/>
              </a:rPr>
              <a:t>25A5H: </a:t>
            </a:r>
            <a:r>
              <a:rPr lang="zh-CN" altLang="en-US" sz="2000" b="0">
                <a:ea typeface="宋体" panose="02010600030101010101" pitchFamily="2" charset="-122"/>
              </a:rPr>
              <a:t>页号</a:t>
            </a:r>
            <a:r>
              <a:rPr lang="en-US" altLang="zh-CN" sz="2000" b="0">
                <a:ea typeface="宋体" panose="02010600030101010101" pitchFamily="2" charset="-122"/>
              </a:rPr>
              <a:t>2</a:t>
            </a:r>
            <a:r>
              <a:rPr lang="zh-CN" altLang="en-US" sz="2000" b="0">
                <a:ea typeface="宋体" panose="02010600030101010101" pitchFamily="2" charset="-122"/>
              </a:rPr>
              <a:t>，页内地址</a:t>
            </a:r>
            <a:r>
              <a:rPr lang="en-US" altLang="zh-CN" sz="2000" b="0">
                <a:ea typeface="宋体" panose="02010600030101010101" pitchFamily="2" charset="-122"/>
              </a:rPr>
              <a:t>5A5H</a:t>
            </a:r>
            <a:r>
              <a:rPr lang="zh-CN" altLang="en-US" sz="2000" b="0">
                <a:ea typeface="宋体" panose="02010600030101010101" pitchFamily="2" charset="-122"/>
              </a:rPr>
              <a:t>。由页表项已放入快表。访问时间：</a:t>
            </a:r>
            <a:r>
              <a:rPr lang="en-US" altLang="zh-CN" sz="2000" b="0">
                <a:ea typeface="宋体" panose="02010600030101010101" pitchFamily="2" charset="-122"/>
              </a:rPr>
              <a:t>10 ns +100 ns =110ns</a:t>
            </a:r>
          </a:p>
          <a:p>
            <a:pPr marL="0" lvl="0" indent="0" eaLnBrk="1" hangingPunct="1">
              <a:spcBef>
                <a:spcPct val="0"/>
              </a:spcBef>
              <a:buClrTx/>
              <a:buFontTx/>
              <a:buNone/>
            </a:pPr>
            <a:r>
              <a:rPr lang="en-US" altLang="zh-CN" sz="2000" b="0">
                <a:ea typeface="宋体" panose="02010600030101010101" pitchFamily="2" charset="-122"/>
              </a:rPr>
              <a:t>(2) 1565H: </a:t>
            </a:r>
            <a:r>
              <a:rPr lang="zh-CN" altLang="en-US" sz="2000" b="0">
                <a:ea typeface="宋体" panose="02010600030101010101" pitchFamily="2" charset="-122"/>
              </a:rPr>
              <a:t>页号</a:t>
            </a:r>
            <a:r>
              <a:rPr lang="en-US" altLang="zh-CN" sz="2000" b="0">
                <a:ea typeface="宋体" panose="02010600030101010101" pitchFamily="2" charset="-122"/>
              </a:rPr>
              <a:t>1</a:t>
            </a:r>
            <a:r>
              <a:rPr lang="zh-CN" altLang="en-US" sz="2000" b="0">
                <a:ea typeface="宋体" panose="02010600030101010101" pitchFamily="2" charset="-122"/>
              </a:rPr>
              <a:t>，页内地址</a:t>
            </a:r>
            <a:r>
              <a:rPr lang="en-US" altLang="zh-CN" sz="2000" b="0">
                <a:ea typeface="宋体" panose="02010600030101010101" pitchFamily="2" charset="-122"/>
              </a:rPr>
              <a:t>565H</a:t>
            </a:r>
            <a:r>
              <a:rPr lang="zh-CN" altLang="en-US" sz="2000" b="0">
                <a:ea typeface="宋体" panose="02010600030101010101" pitchFamily="2" charset="-122"/>
              </a:rPr>
              <a:t>。此页不在内存，把</a:t>
            </a:r>
            <a:r>
              <a:rPr lang="en-US" altLang="zh-CN" sz="2000" b="0">
                <a:ea typeface="宋体" panose="02010600030101010101" pitchFamily="2" charset="-122"/>
              </a:rPr>
              <a:t>0</a:t>
            </a:r>
            <a:r>
              <a:rPr lang="zh-CN" altLang="en-US" sz="2000" b="0">
                <a:ea typeface="宋体" panose="02010600030101010101" pitchFamily="2" charset="-122"/>
              </a:rPr>
              <a:t>号页面换出，</a:t>
            </a:r>
            <a:r>
              <a:rPr lang="en-US" altLang="zh-CN" sz="2000" b="0">
                <a:ea typeface="宋体" panose="02010600030101010101" pitchFamily="2" charset="-122"/>
              </a:rPr>
              <a:t>1</a:t>
            </a:r>
            <a:r>
              <a:rPr lang="zh-CN" altLang="en-US" sz="2000" b="0">
                <a:ea typeface="宋体" panose="02010600030101010101" pitchFamily="2" charset="-122"/>
              </a:rPr>
              <a:t>号页面放入</a:t>
            </a:r>
            <a:r>
              <a:rPr lang="en-US" altLang="zh-CN" sz="2000">
                <a:ea typeface="宋体" panose="02010600030101010101" pitchFamily="2" charset="-122"/>
              </a:rPr>
              <a:t>101H</a:t>
            </a:r>
            <a:r>
              <a:rPr lang="zh-CN" altLang="en-US" sz="2000">
                <a:ea typeface="宋体" panose="02010600030101010101" pitchFamily="2" charset="-122"/>
              </a:rPr>
              <a:t>页框，所以物理地址为</a:t>
            </a:r>
            <a:r>
              <a:rPr lang="en-US" altLang="zh-CN" sz="2000">
                <a:ea typeface="宋体" panose="02010600030101010101" pitchFamily="2" charset="-122"/>
              </a:rPr>
              <a:t>101565H</a:t>
            </a:r>
            <a:r>
              <a:rPr lang="zh-CN" altLang="en-US" sz="2000">
                <a:ea typeface="宋体" panose="02010600030101010101" pitchFamily="2" charset="-122"/>
              </a:rPr>
              <a:t>。</a:t>
            </a:r>
            <a:endParaRPr lang="zh-CN" altLang="en-US" sz="2000" b="0">
              <a:solidFill>
                <a:srgbClr val="000000"/>
              </a:solidFill>
              <a:latin typeface="微软雅黑" panose="020B0503020204020204" charset="-122"/>
              <a:ea typeface="微软雅黑" panose="020B0503020204020204" charset="-122"/>
              <a:sym typeface="微软雅黑" panose="020B0503020204020204" charset="-122"/>
            </a:endParaRPr>
          </a:p>
        </p:txBody>
      </p:sp>
      <p:grpSp>
        <p:nvGrpSpPr>
          <p:cNvPr id="70665" name="组合 12"/>
          <p:cNvGrpSpPr/>
          <p:nvPr/>
        </p:nvGrpSpPr>
        <p:grpSpPr>
          <a:xfrm>
            <a:off x="0" y="0"/>
            <a:ext cx="9144000" cy="635000"/>
            <a:chOff x="0" y="0"/>
            <a:chExt cx="9144000" cy="635000"/>
          </a:xfrm>
        </p:grpSpPr>
        <p:sp>
          <p:nvSpPr>
            <p:cNvPr id="70671" name="TitleBackground"/>
            <p:cNvSpPr/>
            <p:nvPr>
              <p:custDataLst>
                <p:tags r:id="rId12"/>
              </p:custDataLst>
            </p:nvPr>
          </p:nvSpPr>
          <p:spPr>
            <a:xfrm>
              <a:off x="0" y="0"/>
              <a:ext cx="9144000" cy="635000"/>
            </a:xfrm>
            <a:prstGeom prst="rect">
              <a:avLst/>
            </a:prstGeom>
            <a:solidFill>
              <a:srgbClr val="F6F7F8"/>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70672" name="ColorBlock"/>
            <p:cNvSpPr/>
            <p:nvPr>
              <p:custDataLst>
                <p:tags r:id="rId13"/>
              </p:custDataLst>
            </p:nvPr>
          </p:nvSpPr>
          <p:spPr>
            <a:xfrm>
              <a:off x="0" y="0"/>
              <a:ext cx="190500" cy="635000"/>
            </a:xfrm>
            <a:prstGeom prst="rect">
              <a:avLst/>
            </a:prstGeom>
            <a:solidFill>
              <a:srgbClr val="639EF4"/>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70673" name="TypeText"/>
            <p:cNvSpPr txBox="1"/>
            <p:nvPr>
              <p:custDataLst>
                <p:tags r:id="rId14"/>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70674" name="TipText"/>
            <p:cNvSpPr txBox="1"/>
            <p:nvPr>
              <p:custDataLst>
                <p:tags r:id="rId15"/>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b="0">
                  <a:solidFill>
                    <a:srgbClr val="808080"/>
                  </a:solidFill>
                  <a:latin typeface="微软雅黑" panose="020B0503020204020204" charset="-122"/>
                  <a:ea typeface="微软雅黑" panose="020B0503020204020204" charset="-122"/>
                  <a:sym typeface="微软雅黑" panose="020B0503020204020204" charset="-122"/>
                </a:rPr>
                <a:t>分</a:t>
              </a:r>
            </a:p>
          </p:txBody>
        </p:sp>
      </p:grpSp>
      <p:grpSp>
        <p:nvGrpSpPr>
          <p:cNvPr id="70666" name="组合 19"/>
          <p:cNvGrpSpPr/>
          <p:nvPr/>
        </p:nvGrpSpPr>
        <p:grpSpPr>
          <a:xfrm>
            <a:off x="9537700" y="0"/>
            <a:ext cx="3814763" cy="647700"/>
            <a:chOff x="9537700" y="0"/>
            <a:chExt cx="3815080" cy="647700"/>
          </a:xfrm>
        </p:grpSpPr>
        <p:sp>
          <p:nvSpPr>
            <p:cNvPr id="70668" name="RemarkBack"/>
            <p:cNvSpPr/>
            <p:nvPr>
              <p:custDataLst>
                <p:tags r:id="rId9"/>
              </p:custDataLst>
            </p:nvPr>
          </p:nvSpPr>
          <p:spPr>
            <a:xfrm>
              <a:off x="9537700" y="12700"/>
              <a:ext cx="3815080" cy="635000"/>
            </a:xfrm>
            <a:prstGeom prst="rect">
              <a:avLst/>
            </a:prstGeom>
            <a:solidFill>
              <a:srgbClr val="F6F7F8"/>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70669" name="RemarkBlock"/>
            <p:cNvSpPr/>
            <p:nvPr>
              <p:custDataLst>
                <p:tags r:id="rId10"/>
              </p:custDataLst>
            </p:nvPr>
          </p:nvSpPr>
          <p:spPr>
            <a:xfrm>
              <a:off x="9537700" y="12700"/>
              <a:ext cx="190500" cy="635000"/>
            </a:xfrm>
            <a:prstGeom prst="rect">
              <a:avLst/>
            </a:prstGeom>
            <a:solidFill>
              <a:srgbClr val="639EF4"/>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anose="02010600030101010101" pitchFamily="2" charset="-122"/>
              </a:endParaRPr>
            </a:p>
          </p:txBody>
        </p:sp>
        <p:sp>
          <p:nvSpPr>
            <p:cNvPr id="70670" name="RemarkTitleText"/>
            <p:cNvSpPr txBox="1"/>
            <p:nvPr>
              <p:custDataLst>
                <p:tags r:id="rId11"/>
              </p:custDataLst>
            </p:nvPr>
          </p:nvSpPr>
          <p:spPr>
            <a:xfrm>
              <a:off x="9779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800" b="0">
                  <a:solidFill>
                    <a:srgbClr val="000000"/>
                  </a:solidFill>
                  <a:latin typeface="微软雅黑" panose="020B0503020204020204" charset="-122"/>
                  <a:ea typeface="微软雅黑" panose="020B0503020204020204" charset="-122"/>
                  <a:sym typeface="微软雅黑" panose="020B0503020204020204" charset="-122"/>
                </a:rPr>
                <a:t>答案解析</a:t>
              </a:r>
            </a:p>
          </p:txBody>
        </p:sp>
      </p:grpSp>
      <p:pic>
        <p:nvPicPr>
          <p:cNvPr id="70667" name="图片 5"/>
          <p:cNvPicPr/>
          <p:nvPr>
            <p:custDataLst>
              <p:tags r:id="rId8"/>
            </p:custDataLst>
          </p:nvPr>
        </p:nvPicPr>
        <p:blipFill>
          <a:blip r:embed="rId18"/>
          <a:stretch>
            <a:fillRect/>
          </a:stretch>
        </p:blipFill>
        <p:spPr>
          <a:xfrm>
            <a:off x="7594600" y="63500"/>
            <a:ext cx="1422400" cy="508000"/>
          </a:xfrm>
          <a:prstGeom prst="rect">
            <a:avLst/>
          </a:prstGeom>
          <a:noFill/>
          <a:ln w="9525">
            <a:noFill/>
          </a:ln>
        </p:spPr>
      </p:pic>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55</a:t>
            </a:fld>
            <a:endParaRPr lang="zh-CN" altLang="en-US" sz="1400" b="0">
              <a:latin typeface="Tahoma" panose="020B0604030504040204" pitchFamily="34" charset="0"/>
              <a:ea typeface="宋体" panose="02010600030101010101" pitchFamily="2" charset="-122"/>
            </a:endParaRPr>
          </a:p>
        </p:txBody>
      </p:sp>
      <p:graphicFrame>
        <p:nvGraphicFramePr>
          <p:cNvPr id="71682" name="表格 71681"/>
          <p:cNvGraphicFramePr/>
          <p:nvPr/>
        </p:nvGraphicFramePr>
        <p:xfrm>
          <a:off x="2689225" y="4581525"/>
          <a:ext cx="3395663" cy="696913"/>
        </p:xfrm>
        <a:graphic>
          <a:graphicData uri="http://schemas.openxmlformats.org/drawingml/2006/table">
            <a:tbl>
              <a:tblPr/>
              <a:tblGrid>
                <a:gridCol w="673100">
                  <a:extLst>
                    <a:ext uri="{9D8B030D-6E8A-4147-A177-3AD203B41FA5}">
                      <a16:colId xmlns:a16="http://schemas.microsoft.com/office/drawing/2014/main" val="20000"/>
                    </a:ext>
                  </a:extLst>
                </a:gridCol>
                <a:gridCol w="858838">
                  <a:extLst>
                    <a:ext uri="{9D8B030D-6E8A-4147-A177-3AD203B41FA5}">
                      <a16:colId xmlns:a16="http://schemas.microsoft.com/office/drawing/2014/main" val="20001"/>
                    </a:ext>
                  </a:extLst>
                </a:gridCol>
                <a:gridCol w="1863725">
                  <a:extLst>
                    <a:ext uri="{9D8B030D-6E8A-4147-A177-3AD203B41FA5}">
                      <a16:colId xmlns:a16="http://schemas.microsoft.com/office/drawing/2014/main" val="20002"/>
                    </a:ext>
                  </a:extLst>
                </a:gridCol>
              </a:tblGrid>
              <a:tr h="1682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just" eaLnBrk="1" hangingPunct="1">
                        <a:buNone/>
                      </a:pPr>
                      <a:r>
                        <a:rPr lang="zh-CN" altLang="zh-CN" sz="900" b="1">
                          <a:solidFill>
                            <a:srgbClr val="FFFFFF"/>
                          </a:solidFill>
                          <a:latin typeface="Times New Roman" panose="02020603050405020304" pitchFamily="18" charset="0"/>
                          <a:ea typeface="楷体_GB2312" pitchFamily="49" charset="-122"/>
                        </a:rPr>
                        <a:t>页号</a:t>
                      </a:r>
                      <a:endParaRPr lang="zh-CN" altLang="zh-CN" sz="1000" b="1">
                        <a:solidFill>
                          <a:srgbClr val="FFFFFF"/>
                        </a:solidFill>
                        <a:latin typeface="Times New Roman" panose="02020603050405020304" pitchFamily="18" charset="0"/>
                        <a:ea typeface="宋体" panose="02010600030101010101"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just" eaLnBrk="1" hangingPunct="1">
                        <a:buNone/>
                      </a:pPr>
                      <a:r>
                        <a:rPr lang="zh-CN" altLang="zh-CN" sz="900" b="1">
                          <a:solidFill>
                            <a:srgbClr val="FFFFFF"/>
                          </a:solidFill>
                          <a:latin typeface="Times New Roman" panose="02020603050405020304" pitchFamily="18" charset="0"/>
                          <a:ea typeface="楷体_GB2312" pitchFamily="49" charset="-122"/>
                        </a:rPr>
                        <a:t>页框号</a:t>
                      </a:r>
                      <a:endParaRPr lang="zh-CN" altLang="zh-CN" sz="1000" b="1">
                        <a:solidFill>
                          <a:srgbClr val="FFFFFF"/>
                        </a:solidFill>
                        <a:latin typeface="Times New Roman" panose="02020603050405020304" pitchFamily="18" charset="0"/>
                        <a:ea typeface="宋体" panose="02010600030101010101"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just" eaLnBrk="1" hangingPunct="1">
                        <a:buNone/>
                      </a:pPr>
                      <a:r>
                        <a:rPr lang="zh-CN" altLang="zh-CN" sz="900" b="1">
                          <a:solidFill>
                            <a:srgbClr val="FFFFFF"/>
                          </a:solidFill>
                          <a:latin typeface="Times New Roman" panose="02020603050405020304" pitchFamily="18" charset="0"/>
                          <a:ea typeface="楷体_GB2312" pitchFamily="49" charset="-122"/>
                        </a:rPr>
                        <a:t>有效位（存在位）</a:t>
                      </a:r>
                      <a:endParaRPr lang="zh-CN" altLang="zh-CN" sz="1000" b="1">
                        <a:solidFill>
                          <a:srgbClr val="FFFFFF"/>
                        </a:solidFill>
                        <a:latin typeface="Times New Roman" panose="02020603050405020304" pitchFamily="18" charset="0"/>
                        <a:ea typeface="宋体" panose="02010600030101010101"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7621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just" eaLnBrk="1" hangingPunct="1">
                        <a:buNone/>
                      </a:pPr>
                      <a:r>
                        <a:rPr lang="en-US" altLang="zh-CN" sz="900" b="1">
                          <a:solidFill>
                            <a:srgbClr val="FFFFFF"/>
                          </a:solidFill>
                          <a:latin typeface="Times New Roman" panose="02020603050405020304" pitchFamily="18" charset="0"/>
                          <a:ea typeface="楷体_GB2312" pitchFamily="49" charset="-122"/>
                        </a:rPr>
                        <a:t>0</a:t>
                      </a:r>
                      <a:endParaRPr lang="zh-CN" altLang="zh-CN" sz="1000" b="1">
                        <a:solidFill>
                          <a:srgbClr val="FFFFFF"/>
                        </a:solidFill>
                        <a:latin typeface="Times New Roman" panose="02020603050405020304" pitchFamily="18" charset="0"/>
                        <a:ea typeface="宋体" panose="02010600030101010101"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just" eaLnBrk="1" hangingPunct="1">
                        <a:buNone/>
                      </a:pPr>
                      <a:r>
                        <a:rPr lang="en-US" altLang="zh-CN" sz="900">
                          <a:solidFill>
                            <a:srgbClr val="000000"/>
                          </a:solidFill>
                          <a:latin typeface="Times New Roman" panose="02020603050405020304" pitchFamily="18" charset="0"/>
                          <a:ea typeface="楷体_GB2312" pitchFamily="49" charset="-122"/>
                        </a:rPr>
                        <a:t>101H</a:t>
                      </a:r>
                      <a:endParaRPr lang="zh-CN" altLang="zh-CN" sz="1000">
                        <a:solidFill>
                          <a:srgbClr val="000000"/>
                        </a:solidFill>
                        <a:latin typeface="Times New Roman" panose="02020603050405020304" pitchFamily="18" charset="0"/>
                        <a:ea typeface="宋体" panose="02010600030101010101"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BF5E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just" eaLnBrk="1" hangingPunct="1">
                        <a:buNone/>
                      </a:pPr>
                      <a:r>
                        <a:rPr lang="en-US" altLang="zh-CN" sz="900">
                          <a:solidFill>
                            <a:srgbClr val="000000"/>
                          </a:solidFill>
                          <a:latin typeface="Times New Roman" panose="02020603050405020304" pitchFamily="18" charset="0"/>
                          <a:ea typeface="楷体_GB2312" pitchFamily="49" charset="-122"/>
                        </a:rPr>
                        <a:t>1</a:t>
                      </a:r>
                      <a:endParaRPr lang="zh-CN" altLang="zh-CN" sz="1000">
                        <a:solidFill>
                          <a:srgbClr val="000000"/>
                        </a:solidFill>
                        <a:latin typeface="Times New Roman" panose="02020603050405020304" pitchFamily="18" charset="0"/>
                        <a:ea typeface="宋体" panose="02010600030101010101"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10001"/>
                  </a:ext>
                </a:extLst>
              </a:tr>
              <a:tr h="1682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just" eaLnBrk="1" hangingPunct="1">
                        <a:buNone/>
                      </a:pPr>
                      <a:r>
                        <a:rPr lang="en-US" altLang="zh-CN" sz="900" b="1">
                          <a:solidFill>
                            <a:srgbClr val="FFFFFF"/>
                          </a:solidFill>
                          <a:latin typeface="Times New Roman" panose="02020603050405020304" pitchFamily="18" charset="0"/>
                          <a:ea typeface="楷体_GB2312" pitchFamily="49" charset="-122"/>
                        </a:rPr>
                        <a:t>1</a:t>
                      </a:r>
                      <a:endParaRPr lang="zh-CN" altLang="zh-CN" sz="1000" b="1">
                        <a:solidFill>
                          <a:srgbClr val="FFFFFF"/>
                        </a:solidFill>
                        <a:latin typeface="Times New Roman" panose="02020603050405020304" pitchFamily="18" charset="0"/>
                        <a:ea typeface="宋体" panose="02010600030101010101"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just" eaLnBrk="1" hangingPunct="1">
                        <a:buNone/>
                      </a:pPr>
                      <a:r>
                        <a:rPr lang="en-US" altLang="zh-CN" sz="900">
                          <a:solidFill>
                            <a:srgbClr val="000000"/>
                          </a:solidFill>
                          <a:latin typeface="Times New Roman" panose="02020603050405020304" pitchFamily="18" charset="0"/>
                          <a:ea typeface="楷体_GB2312" pitchFamily="49" charset="-122"/>
                        </a:rPr>
                        <a:t>--</a:t>
                      </a:r>
                      <a:endParaRPr lang="zh-CN" altLang="zh-CN" sz="1000">
                        <a:solidFill>
                          <a:srgbClr val="000000"/>
                        </a:solidFill>
                        <a:latin typeface="Times New Roman" panose="02020603050405020304" pitchFamily="18" charset="0"/>
                        <a:ea typeface="宋体" panose="02010600030101010101"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BF5E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just" eaLnBrk="1" hangingPunct="1">
                        <a:buNone/>
                      </a:pPr>
                      <a:r>
                        <a:rPr lang="en-US" altLang="zh-CN" sz="900">
                          <a:solidFill>
                            <a:srgbClr val="000000"/>
                          </a:solidFill>
                          <a:latin typeface="Times New Roman" panose="02020603050405020304" pitchFamily="18" charset="0"/>
                          <a:ea typeface="楷体_GB2312" pitchFamily="49" charset="-122"/>
                        </a:rPr>
                        <a:t>0</a:t>
                      </a:r>
                      <a:endParaRPr lang="zh-CN" altLang="zh-CN" sz="1000">
                        <a:solidFill>
                          <a:srgbClr val="000000"/>
                        </a:solidFill>
                        <a:latin typeface="Times New Roman" panose="02020603050405020304" pitchFamily="18" charset="0"/>
                        <a:ea typeface="宋体" panose="02010600030101010101"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10002"/>
                  </a:ext>
                </a:extLst>
              </a:tr>
              <a:tr h="18415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just" eaLnBrk="1" hangingPunct="1">
                        <a:buNone/>
                      </a:pPr>
                      <a:r>
                        <a:rPr lang="en-US" altLang="zh-CN" sz="900" b="1">
                          <a:solidFill>
                            <a:srgbClr val="FFFFFF"/>
                          </a:solidFill>
                          <a:latin typeface="Times New Roman" panose="02020603050405020304" pitchFamily="18" charset="0"/>
                          <a:ea typeface="楷体_GB2312" pitchFamily="49" charset="-122"/>
                        </a:rPr>
                        <a:t>2</a:t>
                      </a:r>
                      <a:endParaRPr lang="zh-CN" altLang="zh-CN" sz="1000" b="1">
                        <a:solidFill>
                          <a:srgbClr val="FFFFFF"/>
                        </a:solidFill>
                        <a:latin typeface="Times New Roman" panose="02020603050405020304" pitchFamily="18" charset="0"/>
                        <a:ea typeface="宋体" panose="02010600030101010101"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just" eaLnBrk="1" hangingPunct="1">
                        <a:buNone/>
                      </a:pPr>
                      <a:r>
                        <a:rPr lang="en-US" altLang="zh-CN" sz="900">
                          <a:solidFill>
                            <a:srgbClr val="000000"/>
                          </a:solidFill>
                          <a:latin typeface="Times New Roman" panose="02020603050405020304" pitchFamily="18" charset="0"/>
                          <a:ea typeface="楷体_GB2312" pitchFamily="49" charset="-122"/>
                        </a:rPr>
                        <a:t>254H</a:t>
                      </a:r>
                      <a:endParaRPr lang="zh-CN" altLang="zh-CN" sz="1000">
                        <a:solidFill>
                          <a:srgbClr val="000000"/>
                        </a:solidFill>
                        <a:latin typeface="Times New Roman" panose="02020603050405020304" pitchFamily="18" charset="0"/>
                        <a:ea typeface="宋体" panose="02010600030101010101"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BF5E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stStyle>
                    <a:p>
                      <a:pPr lvl="0" algn="just" eaLnBrk="1" hangingPunct="1">
                        <a:buNone/>
                      </a:pPr>
                      <a:r>
                        <a:rPr lang="en-US" altLang="zh-CN" sz="900">
                          <a:solidFill>
                            <a:srgbClr val="000000"/>
                          </a:solidFill>
                          <a:latin typeface="Times New Roman" panose="02020603050405020304" pitchFamily="18" charset="0"/>
                          <a:ea typeface="楷体_GB2312" pitchFamily="49" charset="-122"/>
                        </a:rPr>
                        <a:t>1</a:t>
                      </a:r>
                      <a:endParaRPr lang="zh-CN" altLang="zh-CN" sz="1000">
                        <a:solidFill>
                          <a:srgbClr val="000000"/>
                        </a:solidFill>
                        <a:latin typeface="Times New Roman" panose="02020603050405020304" pitchFamily="18" charset="0"/>
                        <a:ea typeface="宋体" panose="02010600030101010101"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10003"/>
                  </a:ext>
                </a:extLst>
              </a:tr>
            </a:tbl>
          </a:graphicData>
        </a:graphic>
      </p:graphicFrame>
      <p:sp>
        <p:nvSpPr>
          <p:cNvPr id="71704" name="Rectangle 1"/>
          <p:cNvSpPr>
            <a:spLocks noGrp="1"/>
          </p:cNvSpPr>
          <p:nvPr>
            <p:ph idx="1"/>
          </p:nvPr>
        </p:nvSpPr>
        <p:spPr>
          <a:xfrm>
            <a:off x="1116013" y="1370013"/>
            <a:ext cx="6985000" cy="3138487"/>
          </a:xfrm>
        </p:spPr>
        <p:txBody>
          <a:bodyPr vert="horz" wrap="square" lIns="91440" tIns="45720" rIns="91440" bIns="45720" anchor="ctr" anchorCtr="0">
            <a:spAutoFit/>
          </a:bodyPr>
          <a:lstStyle/>
          <a:p>
            <a:pPr marL="0" indent="0">
              <a:spcBef>
                <a:spcPct val="0"/>
              </a:spcBef>
              <a:buClrTx/>
              <a:buFont typeface="Wingdings" panose="05000000000000000000" pitchFamily="2" charset="2"/>
              <a:buNone/>
            </a:pPr>
            <a:r>
              <a:rPr lang="zh-CN" altLang="en-US" sz="1800">
                <a:ea typeface="宋体" panose="02010600030101010101" pitchFamily="2" charset="-122"/>
              </a:rPr>
              <a:t>请求分页管理系统中，假设某进程的页表内容如下表所示： </a:t>
            </a:r>
            <a:endParaRPr lang="zh-CN" altLang="en-US" sz="600">
              <a:ea typeface="宋体" panose="02010600030101010101" pitchFamily="2" charset="-122"/>
            </a:endParaRPr>
          </a:p>
          <a:p>
            <a:pPr marL="0" indent="0">
              <a:spcBef>
                <a:spcPct val="0"/>
              </a:spcBef>
              <a:buClrTx/>
              <a:buFont typeface="Wingdings" panose="05000000000000000000" pitchFamily="2" charset="2"/>
              <a:buNone/>
            </a:pPr>
            <a:r>
              <a:rPr lang="zh-CN" altLang="en-US" sz="1800">
                <a:ea typeface="宋体" panose="02010600030101010101" pitchFamily="2" charset="-122"/>
              </a:rPr>
              <a:t>  页面大小为</a:t>
            </a:r>
            <a:r>
              <a:rPr lang="en-US" altLang="zh-CN" sz="1800">
                <a:ea typeface="宋体" panose="02010600030101010101" pitchFamily="2" charset="-122"/>
              </a:rPr>
              <a:t>4KB</a:t>
            </a:r>
            <a:r>
              <a:rPr lang="zh-CN" altLang="en-US" sz="1800">
                <a:ea typeface="宋体" panose="02010600030101010101" pitchFamily="2" charset="-122"/>
              </a:rPr>
              <a:t>，一次内存的访问时间是</a:t>
            </a:r>
            <a:r>
              <a:rPr lang="en-US" altLang="zh-CN" sz="1800">
                <a:ea typeface="宋体" panose="02010600030101010101" pitchFamily="2" charset="-122"/>
              </a:rPr>
              <a:t>100ns</a:t>
            </a:r>
            <a:r>
              <a:rPr lang="zh-CN" altLang="en-US" sz="1800">
                <a:ea typeface="宋体" panose="02010600030101010101" pitchFamily="2" charset="-122"/>
              </a:rPr>
              <a:t>，一次快表（</a:t>
            </a:r>
            <a:r>
              <a:rPr lang="en-US" altLang="zh-CN" sz="1800">
                <a:ea typeface="宋体" panose="02010600030101010101" pitchFamily="2" charset="-122"/>
              </a:rPr>
              <a:t>TLB</a:t>
            </a:r>
            <a:r>
              <a:rPr lang="zh-CN" altLang="en-US" sz="1800">
                <a:ea typeface="宋体" panose="02010600030101010101" pitchFamily="2" charset="-122"/>
              </a:rPr>
              <a:t>）的访问时间是</a:t>
            </a:r>
            <a:r>
              <a:rPr lang="en-US" altLang="zh-CN" sz="1800">
                <a:ea typeface="宋体" panose="02010600030101010101" pitchFamily="2" charset="-122"/>
              </a:rPr>
              <a:t>10ns</a:t>
            </a:r>
            <a:r>
              <a:rPr lang="zh-CN" altLang="en-US" sz="1800">
                <a:ea typeface="宋体" panose="02010600030101010101" pitchFamily="2" charset="-122"/>
              </a:rPr>
              <a:t>，处理一次缺页的平均时间为</a:t>
            </a:r>
            <a:r>
              <a:rPr lang="en-US" altLang="zh-CN" sz="1800">
                <a:ea typeface="宋体" panose="02010600030101010101" pitchFamily="2" charset="-122"/>
              </a:rPr>
              <a:t>10</a:t>
            </a:r>
            <a:r>
              <a:rPr lang="en-US" altLang="zh-CN" sz="1800" baseline="30000">
                <a:ea typeface="宋体" panose="02010600030101010101" pitchFamily="2" charset="-122"/>
              </a:rPr>
              <a:t>8</a:t>
            </a:r>
            <a:r>
              <a:rPr lang="en-US" altLang="zh-CN" sz="1800">
                <a:ea typeface="宋体" panose="02010600030101010101" pitchFamily="2" charset="-122"/>
              </a:rPr>
              <a:t>ns</a:t>
            </a:r>
            <a:r>
              <a:rPr lang="zh-CN" altLang="en-US" sz="1800">
                <a:ea typeface="宋体" panose="02010600030101010101" pitchFamily="2" charset="-122"/>
              </a:rPr>
              <a:t>（已含更新</a:t>
            </a:r>
            <a:r>
              <a:rPr lang="en-US" altLang="zh-CN" sz="1800">
                <a:ea typeface="宋体" panose="02010600030101010101" pitchFamily="2" charset="-122"/>
              </a:rPr>
              <a:t>TLB</a:t>
            </a:r>
            <a:r>
              <a:rPr lang="zh-CN" altLang="en-US" sz="1800">
                <a:ea typeface="宋体" panose="02010600030101010101" pitchFamily="2" charset="-122"/>
              </a:rPr>
              <a:t>和页表的时间），进程的驻留集大小固定为</a:t>
            </a:r>
            <a:r>
              <a:rPr lang="en-US" altLang="zh-CN" sz="1800">
                <a:ea typeface="宋体" panose="02010600030101010101" pitchFamily="2" charset="-122"/>
              </a:rPr>
              <a:t>2</a:t>
            </a:r>
            <a:r>
              <a:rPr lang="zh-CN" altLang="en-US" sz="1800">
                <a:ea typeface="宋体" panose="02010600030101010101" pitchFamily="2" charset="-122"/>
              </a:rPr>
              <a:t>，采用最近最少使用置换算法（</a:t>
            </a:r>
            <a:r>
              <a:rPr lang="en-US" altLang="zh-CN" sz="1800">
                <a:ea typeface="宋体" panose="02010600030101010101" pitchFamily="2" charset="-122"/>
              </a:rPr>
              <a:t>LRU</a:t>
            </a:r>
            <a:r>
              <a:rPr lang="zh-CN" altLang="en-US" sz="1800">
                <a:ea typeface="宋体" panose="02010600030101010101" pitchFamily="2" charset="-122"/>
              </a:rPr>
              <a:t>）和局部淘汰策略。假设：①</a:t>
            </a:r>
            <a:r>
              <a:rPr lang="en-US" altLang="zh-CN" sz="1800">
                <a:ea typeface="宋体" panose="02010600030101010101" pitchFamily="2" charset="-122"/>
              </a:rPr>
              <a:t>TLB</a:t>
            </a:r>
            <a:r>
              <a:rPr lang="zh-CN" altLang="en-US" sz="1800">
                <a:ea typeface="宋体" panose="02010600030101010101" pitchFamily="2" charset="-122"/>
              </a:rPr>
              <a:t>初始为空②地址转换时先访问</a:t>
            </a:r>
            <a:r>
              <a:rPr lang="en-US" altLang="zh-CN" sz="1800">
                <a:ea typeface="宋体" panose="02010600030101010101" pitchFamily="2" charset="-122"/>
              </a:rPr>
              <a:t>TLB</a:t>
            </a:r>
            <a:r>
              <a:rPr lang="zh-CN" altLang="en-US" sz="1800">
                <a:ea typeface="宋体" panose="02010600030101010101" pitchFamily="2" charset="-122"/>
              </a:rPr>
              <a:t>，若</a:t>
            </a:r>
            <a:r>
              <a:rPr lang="en-US" altLang="zh-CN" sz="1800">
                <a:ea typeface="宋体" panose="02010600030101010101" pitchFamily="2" charset="-122"/>
              </a:rPr>
              <a:t>TLB</a:t>
            </a:r>
            <a:r>
              <a:rPr lang="zh-CN" altLang="en-US" sz="1800">
                <a:ea typeface="宋体" panose="02010600030101010101" pitchFamily="2" charset="-122"/>
              </a:rPr>
              <a:t>未命中，再访问页表（忽略访问页表之后的</a:t>
            </a:r>
            <a:r>
              <a:rPr lang="en-US" altLang="zh-CN" sz="1800">
                <a:ea typeface="宋体" panose="02010600030101010101" pitchFamily="2" charset="-122"/>
              </a:rPr>
              <a:t>TLB</a:t>
            </a:r>
            <a:r>
              <a:rPr lang="zh-CN" altLang="en-US" sz="1800">
                <a:ea typeface="宋体" panose="02010600030101010101" pitchFamily="2" charset="-122"/>
              </a:rPr>
              <a:t>更新时间）；③有效位为</a:t>
            </a:r>
            <a:r>
              <a:rPr lang="en-US" altLang="zh-CN" sz="1800">
                <a:ea typeface="宋体" panose="02010600030101010101" pitchFamily="2" charset="-122"/>
              </a:rPr>
              <a:t>0</a:t>
            </a:r>
            <a:r>
              <a:rPr lang="zh-CN" altLang="en-US" sz="1800">
                <a:ea typeface="宋体" panose="02010600030101010101" pitchFamily="2" charset="-122"/>
              </a:rPr>
              <a:t>表示页面不在内存，产生缺页中断，缺页中断处理后，返回到产生缺页中断的指令处重新执行。设有虚地址访问序列</a:t>
            </a:r>
            <a:r>
              <a:rPr lang="en-US" altLang="zh-CN" sz="1800">
                <a:ea typeface="宋体" panose="02010600030101010101" pitchFamily="2" charset="-122"/>
              </a:rPr>
              <a:t>2362H</a:t>
            </a:r>
            <a:r>
              <a:rPr lang="zh-CN" altLang="en-US" sz="1800">
                <a:ea typeface="宋体" panose="02010600030101010101" pitchFamily="2" charset="-122"/>
              </a:rPr>
              <a:t>、</a:t>
            </a:r>
            <a:r>
              <a:rPr lang="en-US" altLang="zh-CN" sz="1800">
                <a:ea typeface="宋体" panose="02010600030101010101" pitchFamily="2" charset="-122"/>
              </a:rPr>
              <a:t>1565H</a:t>
            </a:r>
            <a:r>
              <a:rPr lang="zh-CN" altLang="en-US" sz="1800">
                <a:ea typeface="宋体" panose="02010600030101010101" pitchFamily="2" charset="-122"/>
              </a:rPr>
              <a:t>、</a:t>
            </a:r>
            <a:r>
              <a:rPr lang="en-US" altLang="zh-CN" sz="1800">
                <a:ea typeface="宋体" panose="02010600030101010101" pitchFamily="2" charset="-122"/>
              </a:rPr>
              <a:t>25A5H</a:t>
            </a:r>
            <a:r>
              <a:rPr lang="zh-CN" altLang="en-US" sz="1800">
                <a:ea typeface="宋体" panose="02010600030101010101" pitchFamily="2" charset="-122"/>
              </a:rPr>
              <a:t>，请问：  （</a:t>
            </a:r>
            <a:r>
              <a:rPr lang="en-US" altLang="zh-CN" sz="1800">
                <a:ea typeface="宋体" panose="02010600030101010101" pitchFamily="2" charset="-122"/>
              </a:rPr>
              <a:t>1</a:t>
            </a:r>
            <a:r>
              <a:rPr lang="zh-CN" altLang="en-US" sz="1800">
                <a:ea typeface="宋体" panose="02010600030101010101" pitchFamily="2" charset="-122"/>
              </a:rPr>
              <a:t>） 依次访问上述三个虚地址，各需多少时间？给出计算过程。 （</a:t>
            </a:r>
            <a:r>
              <a:rPr lang="en-US" altLang="zh-CN" sz="1800">
                <a:ea typeface="宋体" panose="02010600030101010101" pitchFamily="2" charset="-122"/>
              </a:rPr>
              <a:t>2</a:t>
            </a:r>
            <a:r>
              <a:rPr lang="zh-CN" altLang="en-US" sz="1800">
                <a:ea typeface="宋体" panose="02010600030101010101" pitchFamily="2" charset="-122"/>
              </a:rPr>
              <a:t>） 基于上述访问序列，虚地址</a:t>
            </a:r>
            <a:r>
              <a:rPr lang="en-US" altLang="zh-CN" sz="1800">
                <a:ea typeface="宋体" panose="02010600030101010101" pitchFamily="2" charset="-122"/>
              </a:rPr>
              <a:t>1565H</a:t>
            </a:r>
            <a:r>
              <a:rPr lang="zh-CN" altLang="en-US" sz="1800">
                <a:ea typeface="宋体" panose="02010600030101010101" pitchFamily="2" charset="-122"/>
              </a:rPr>
              <a:t>的 物理地址是多少？请说明理由。 </a:t>
            </a:r>
            <a:endParaRPr lang="en-US" altLang="zh-CN" sz="1800">
              <a:ea typeface="宋体" panose="02010600030101010101" pitchFamily="2" charset="-122"/>
            </a:endParaRPr>
          </a:p>
        </p:txBody>
      </p:sp>
      <p:sp>
        <p:nvSpPr>
          <p:cNvPr id="4" name="矩形 3"/>
          <p:cNvSpPr/>
          <p:nvPr/>
        </p:nvSpPr>
        <p:spPr>
          <a:xfrm>
            <a:off x="1079500" y="5391150"/>
            <a:ext cx="7164388" cy="12461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300" b="0">
              <a:ea typeface="宋体" panose="02010600030101010101" pitchFamily="2" charset="-122"/>
            </a:endParaRPr>
          </a:p>
          <a:p>
            <a:pPr marL="0" lvl="0" indent="0" eaLnBrk="1" hangingPunct="1">
              <a:spcBef>
                <a:spcPct val="0"/>
              </a:spcBef>
              <a:buClrTx/>
              <a:buFontTx/>
              <a:buNone/>
            </a:pPr>
            <a:r>
              <a:rPr lang="zh-CN" altLang="en-US" sz="1200" b="0">
                <a:ea typeface="宋体" panose="02010600030101010101" pitchFamily="2" charset="-122"/>
              </a:rPr>
              <a:t>解：</a:t>
            </a:r>
            <a:r>
              <a:rPr lang="en-US" altLang="zh-CN" sz="1200" b="0">
                <a:ea typeface="宋体" panose="02010600030101010101" pitchFamily="2" charset="-122"/>
              </a:rPr>
              <a:t>(1)2362H</a:t>
            </a:r>
            <a:r>
              <a:rPr lang="zh-CN" altLang="en-US" sz="1200" b="0">
                <a:ea typeface="宋体" panose="02010600030101010101" pitchFamily="2" charset="-122"/>
              </a:rPr>
              <a:t>：页号</a:t>
            </a:r>
            <a:r>
              <a:rPr lang="en-US" altLang="zh-CN" sz="1200" b="0">
                <a:ea typeface="宋体" panose="02010600030101010101" pitchFamily="2" charset="-122"/>
              </a:rPr>
              <a:t>2</a:t>
            </a:r>
            <a:r>
              <a:rPr lang="zh-CN" altLang="en-US" sz="1200" b="0">
                <a:ea typeface="宋体" panose="02010600030101010101" pitchFamily="2" charset="-122"/>
              </a:rPr>
              <a:t>，页内地址</a:t>
            </a:r>
            <a:r>
              <a:rPr lang="en-US" altLang="zh-CN" sz="1200" b="0">
                <a:ea typeface="宋体" panose="02010600030101010101" pitchFamily="2" charset="-122"/>
              </a:rPr>
              <a:t>362H</a:t>
            </a:r>
            <a:r>
              <a:rPr lang="zh-CN" altLang="en-US" sz="1200" b="0">
                <a:ea typeface="宋体" panose="02010600030101010101" pitchFamily="2" charset="-122"/>
              </a:rPr>
              <a:t>。由页表知，此页在内存。访问时间：</a:t>
            </a:r>
            <a:r>
              <a:rPr lang="en-US" altLang="zh-CN" sz="1200" b="0">
                <a:ea typeface="宋体" panose="02010600030101010101" pitchFamily="2" charset="-122"/>
              </a:rPr>
              <a:t>10 ns +100 ns +100 ns =210ns </a:t>
            </a:r>
          </a:p>
          <a:p>
            <a:pPr marL="0" lvl="0" indent="0" eaLnBrk="1" hangingPunct="1">
              <a:spcBef>
                <a:spcPct val="0"/>
              </a:spcBef>
              <a:buClrTx/>
              <a:buFontTx/>
              <a:buNone/>
            </a:pPr>
            <a:r>
              <a:rPr lang="en-US" altLang="zh-CN" sz="1200" b="0">
                <a:ea typeface="宋体" panose="02010600030101010101" pitchFamily="2" charset="-122"/>
              </a:rPr>
              <a:t>1565H: </a:t>
            </a:r>
            <a:r>
              <a:rPr lang="zh-CN" altLang="en-US" sz="1200" b="0">
                <a:ea typeface="宋体" panose="02010600030101010101" pitchFamily="2" charset="-122"/>
              </a:rPr>
              <a:t>页号</a:t>
            </a:r>
            <a:r>
              <a:rPr lang="en-US" altLang="zh-CN" sz="1200" b="0">
                <a:ea typeface="宋体" panose="02010600030101010101" pitchFamily="2" charset="-122"/>
              </a:rPr>
              <a:t>1</a:t>
            </a:r>
            <a:r>
              <a:rPr lang="zh-CN" altLang="en-US" sz="1200" b="0">
                <a:ea typeface="宋体" panose="02010600030101010101" pitchFamily="2" charset="-122"/>
              </a:rPr>
              <a:t>，页内地址</a:t>
            </a:r>
            <a:r>
              <a:rPr lang="en-US" altLang="zh-CN" sz="1200" b="0">
                <a:ea typeface="宋体" panose="02010600030101010101" pitchFamily="2" charset="-122"/>
              </a:rPr>
              <a:t>565H</a:t>
            </a:r>
            <a:r>
              <a:rPr lang="zh-CN" altLang="en-US" sz="1200" b="0">
                <a:ea typeface="宋体" panose="02010600030101010101" pitchFamily="2" charset="-122"/>
              </a:rPr>
              <a:t>。由页表知，此页不在内存。访问时间：</a:t>
            </a:r>
            <a:r>
              <a:rPr lang="en-US" altLang="zh-CN" sz="1200" b="0">
                <a:ea typeface="宋体" panose="02010600030101010101" pitchFamily="2" charset="-122"/>
              </a:rPr>
              <a:t>10 ns +100 ns +10</a:t>
            </a:r>
            <a:r>
              <a:rPr lang="en-US" altLang="zh-CN" sz="1200" b="0" baseline="30000">
                <a:ea typeface="宋体" panose="02010600030101010101" pitchFamily="2" charset="-122"/>
              </a:rPr>
              <a:t>8</a:t>
            </a:r>
            <a:r>
              <a:rPr lang="en-US" altLang="zh-CN" sz="1200" b="0">
                <a:ea typeface="宋体" panose="02010600030101010101" pitchFamily="2" charset="-122"/>
              </a:rPr>
              <a:t>ns+100 ns≈10</a:t>
            </a:r>
            <a:r>
              <a:rPr lang="en-US" altLang="zh-CN" sz="1200" b="0" baseline="30000">
                <a:ea typeface="宋体" panose="02010600030101010101" pitchFamily="2" charset="-122"/>
              </a:rPr>
              <a:t>8</a:t>
            </a:r>
            <a:r>
              <a:rPr lang="en-US" altLang="zh-CN" sz="1200" b="0">
                <a:ea typeface="宋体" panose="02010600030101010101" pitchFamily="2" charset="-122"/>
              </a:rPr>
              <a:t> ns</a:t>
            </a:r>
          </a:p>
          <a:p>
            <a:pPr marL="0" lvl="0" indent="0" eaLnBrk="1" hangingPunct="1">
              <a:spcBef>
                <a:spcPct val="0"/>
              </a:spcBef>
              <a:buClrTx/>
              <a:buFontTx/>
              <a:buNone/>
            </a:pPr>
            <a:r>
              <a:rPr lang="en-US" altLang="zh-CN" sz="1200" b="0">
                <a:ea typeface="宋体" panose="02010600030101010101" pitchFamily="2" charset="-122"/>
              </a:rPr>
              <a:t>25A5H: </a:t>
            </a:r>
            <a:r>
              <a:rPr lang="zh-CN" altLang="en-US" sz="1200" b="0">
                <a:ea typeface="宋体" panose="02010600030101010101" pitchFamily="2" charset="-122"/>
              </a:rPr>
              <a:t>页号</a:t>
            </a:r>
            <a:r>
              <a:rPr lang="en-US" altLang="zh-CN" sz="1200" b="0">
                <a:ea typeface="宋体" panose="02010600030101010101" pitchFamily="2" charset="-122"/>
              </a:rPr>
              <a:t>2</a:t>
            </a:r>
            <a:r>
              <a:rPr lang="zh-CN" altLang="en-US" sz="1200" b="0">
                <a:ea typeface="宋体" panose="02010600030101010101" pitchFamily="2" charset="-122"/>
              </a:rPr>
              <a:t>，页内地址</a:t>
            </a:r>
            <a:r>
              <a:rPr lang="en-US" altLang="zh-CN" sz="1200" b="0">
                <a:ea typeface="宋体" panose="02010600030101010101" pitchFamily="2" charset="-122"/>
              </a:rPr>
              <a:t>5A5H</a:t>
            </a:r>
            <a:r>
              <a:rPr lang="zh-CN" altLang="en-US" sz="1200" b="0">
                <a:ea typeface="宋体" panose="02010600030101010101" pitchFamily="2" charset="-122"/>
              </a:rPr>
              <a:t>。由页表项已放入快表。访问时间：</a:t>
            </a:r>
            <a:r>
              <a:rPr lang="en-US" altLang="zh-CN" sz="1200" b="0">
                <a:ea typeface="宋体" panose="02010600030101010101" pitchFamily="2" charset="-122"/>
              </a:rPr>
              <a:t>10 ns +100 ns =110ns</a:t>
            </a:r>
          </a:p>
          <a:p>
            <a:pPr marL="0" lvl="0" indent="0" eaLnBrk="1" hangingPunct="1">
              <a:spcBef>
                <a:spcPct val="0"/>
              </a:spcBef>
              <a:buClrTx/>
              <a:buFontTx/>
              <a:buNone/>
            </a:pPr>
            <a:r>
              <a:rPr lang="en-US" altLang="zh-CN" sz="1200" b="0">
                <a:ea typeface="宋体" panose="02010600030101010101" pitchFamily="2" charset="-122"/>
              </a:rPr>
              <a:t>(2) 1565H: </a:t>
            </a:r>
            <a:r>
              <a:rPr lang="zh-CN" altLang="en-US" sz="1200" b="0">
                <a:ea typeface="宋体" panose="02010600030101010101" pitchFamily="2" charset="-122"/>
              </a:rPr>
              <a:t>页号</a:t>
            </a:r>
            <a:r>
              <a:rPr lang="en-US" altLang="zh-CN" sz="1200" b="0">
                <a:ea typeface="宋体" panose="02010600030101010101" pitchFamily="2" charset="-122"/>
              </a:rPr>
              <a:t>1</a:t>
            </a:r>
            <a:r>
              <a:rPr lang="zh-CN" altLang="en-US" sz="1200" b="0">
                <a:ea typeface="宋体" panose="02010600030101010101" pitchFamily="2" charset="-122"/>
              </a:rPr>
              <a:t>，页内地址</a:t>
            </a:r>
            <a:r>
              <a:rPr lang="en-US" altLang="zh-CN" sz="1200" b="0">
                <a:ea typeface="宋体" panose="02010600030101010101" pitchFamily="2" charset="-122"/>
              </a:rPr>
              <a:t>565H</a:t>
            </a:r>
            <a:r>
              <a:rPr lang="zh-CN" altLang="en-US" sz="1200" b="0">
                <a:ea typeface="宋体" panose="02010600030101010101" pitchFamily="2" charset="-122"/>
              </a:rPr>
              <a:t>。此页不在内存，把</a:t>
            </a:r>
            <a:r>
              <a:rPr lang="en-US" altLang="zh-CN" sz="1200" b="0">
                <a:ea typeface="宋体" panose="02010600030101010101" pitchFamily="2" charset="-122"/>
              </a:rPr>
              <a:t>0</a:t>
            </a:r>
            <a:r>
              <a:rPr lang="zh-CN" altLang="en-US" sz="1200" b="0">
                <a:ea typeface="宋体" panose="02010600030101010101" pitchFamily="2" charset="-122"/>
              </a:rPr>
              <a:t>号页面换出，</a:t>
            </a:r>
            <a:r>
              <a:rPr lang="en-US" altLang="zh-CN" sz="1200" b="0">
                <a:ea typeface="宋体" panose="02010600030101010101" pitchFamily="2" charset="-122"/>
              </a:rPr>
              <a:t>1</a:t>
            </a:r>
            <a:r>
              <a:rPr lang="zh-CN" altLang="en-US" sz="1200" b="0">
                <a:ea typeface="宋体" panose="02010600030101010101" pitchFamily="2" charset="-122"/>
              </a:rPr>
              <a:t>号页面放入</a:t>
            </a:r>
            <a:r>
              <a:rPr lang="en-US" altLang="zh-CN" sz="1200">
                <a:ea typeface="宋体" panose="02010600030101010101" pitchFamily="2" charset="-122"/>
              </a:rPr>
              <a:t>101H</a:t>
            </a:r>
            <a:r>
              <a:rPr lang="zh-CN" altLang="en-US" sz="1200">
                <a:ea typeface="宋体" panose="02010600030101010101" pitchFamily="2" charset="-122"/>
              </a:rPr>
              <a:t>页框，所以物理地址为</a:t>
            </a:r>
            <a:r>
              <a:rPr lang="en-US" altLang="zh-CN" sz="1200">
                <a:ea typeface="宋体" panose="02010600030101010101" pitchFamily="2" charset="-122"/>
              </a:rPr>
              <a:t>101565H</a:t>
            </a:r>
            <a:r>
              <a:rPr lang="zh-CN" altLang="en-US" sz="1200">
                <a:ea typeface="宋体" panose="02010600030101010101" pitchFamily="2" charset="-122"/>
              </a:rPr>
              <a:t>。</a:t>
            </a:r>
            <a:endParaRPr lang="zh-CN" altLang="en-US" sz="4000" b="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56</a:t>
            </a:fld>
            <a:endParaRPr lang="zh-CN" altLang="en-US" sz="1400" b="0">
              <a:latin typeface="Tahoma" panose="020B0604030504040204" pitchFamily="34" charset="0"/>
              <a:ea typeface="宋体" panose="02010600030101010101" pitchFamily="2" charset="-122"/>
            </a:endParaRPr>
          </a:p>
        </p:txBody>
      </p:sp>
      <p:sp>
        <p:nvSpPr>
          <p:cNvPr id="72706"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9</a:t>
            </a:r>
            <a:r>
              <a:rPr lang="zh-CN" altLang="en-US"/>
              <a:t>虚拟段式存储</a:t>
            </a:r>
          </a:p>
        </p:txBody>
      </p:sp>
      <p:sp>
        <p:nvSpPr>
          <p:cNvPr id="65539" name="Rectangle 3"/>
          <p:cNvSpPr>
            <a:spLocks noGrp="1" noChangeArrowheads="1"/>
          </p:cNvSpPr>
          <p:nvPr>
            <p:ph idx="1"/>
          </p:nvPr>
        </p:nvSpPr>
        <p:spPr>
          <a:xfrm>
            <a:off x="179388" y="1412875"/>
            <a:ext cx="8569325" cy="4968875"/>
          </a:xfrm>
        </p:spPr>
        <p:txBody>
          <a:bodyPr vert="horz" wrap="square" lIns="91440" tIns="45720" rIns="91440" bIns="45720" numCol="1" anchor="t" anchorCtr="0" compatLnSpc="1"/>
          <a:lstStyle/>
          <a:p>
            <a:pPr eaLnBrk="1" hangingPunct="1"/>
            <a:r>
              <a:rPr lang="zh-CN" altLang="en-US" sz="2400" b="0">
                <a:latin typeface="黑体" panose="02010609060101010101" pitchFamily="49" charset="-122"/>
              </a:rPr>
              <a:t>虚拟段式</a:t>
            </a:r>
            <a:r>
              <a:rPr lang="en-US" altLang="zh-CN" sz="2400" b="0">
                <a:latin typeface="黑体" panose="02010609060101010101" pitchFamily="49" charset="-122"/>
              </a:rPr>
              <a:t>(virtual segmentation)</a:t>
            </a:r>
          </a:p>
          <a:p>
            <a:pPr eaLnBrk="1" hangingPunct="1">
              <a:buFont typeface="Wingdings" panose="05000000000000000000" pitchFamily="2" charset="2"/>
              <a:buNone/>
            </a:pPr>
            <a:r>
              <a:rPr lang="zh-CN" altLang="en-US" sz="2400" b="0">
                <a:latin typeface="黑体" panose="02010609060101010101" pitchFamily="49" charset="-122"/>
              </a:rPr>
              <a:t>	在简单段式存储管理的基础上，增加请求调段和段置换功能。需要在进程段表中添加若干项：</a:t>
            </a:r>
          </a:p>
          <a:p>
            <a:pPr lvl="2" eaLnBrk="1" hangingPunct="1"/>
            <a:r>
              <a:rPr lang="zh-CN" altLang="en-US" sz="2400" b="0">
                <a:latin typeface="黑体" panose="02010609060101010101" pitchFamily="49" charset="-122"/>
              </a:rPr>
              <a:t>标志位：存在位</a:t>
            </a:r>
            <a:r>
              <a:rPr lang="en-US" altLang="zh-CN" sz="2400" b="0">
                <a:latin typeface="黑体" panose="02010609060101010101" pitchFamily="49" charset="-122"/>
              </a:rPr>
              <a:t>(present bit)</a:t>
            </a:r>
            <a:r>
              <a:rPr lang="zh-CN" altLang="en-US" sz="2400" b="0">
                <a:latin typeface="黑体" panose="02010609060101010101" pitchFamily="49" charset="-122"/>
              </a:rPr>
              <a:t>，修改位</a:t>
            </a:r>
            <a:r>
              <a:rPr lang="en-US" altLang="zh-CN" sz="2400" b="0">
                <a:latin typeface="黑体" panose="02010609060101010101" pitchFamily="49" charset="-122"/>
              </a:rPr>
              <a:t>(modified bit/dirty bit)</a:t>
            </a:r>
            <a:r>
              <a:rPr lang="zh-CN" altLang="en-US" sz="2400" b="0">
                <a:latin typeface="黑体" panose="02010609060101010101" pitchFamily="49" charset="-122"/>
              </a:rPr>
              <a:t>，增长位（该段是否增长过），供判断越界时使用。</a:t>
            </a:r>
          </a:p>
          <a:p>
            <a:pPr lvl="2" eaLnBrk="1" hangingPunct="1"/>
            <a:r>
              <a:rPr lang="zh-CN" altLang="en-US" sz="2400" b="0">
                <a:latin typeface="黑体" panose="02010609060101010101" pitchFamily="49" charset="-122"/>
              </a:rPr>
              <a:t>访问统计：如使用位</a:t>
            </a:r>
            <a:r>
              <a:rPr lang="en-US" altLang="zh-CN" sz="2400" b="0">
                <a:latin typeface="黑体" panose="02010609060101010101" pitchFamily="49" charset="-122"/>
              </a:rPr>
              <a:t>(use bit)</a:t>
            </a:r>
          </a:p>
          <a:p>
            <a:pPr lvl="2" eaLnBrk="1" hangingPunct="1"/>
            <a:r>
              <a:rPr lang="zh-CN" altLang="en-US" sz="2400" b="0">
                <a:latin typeface="黑体" panose="02010609060101010101" pitchFamily="49" charset="-122"/>
              </a:rPr>
              <a:t>存取权限：如读</a:t>
            </a:r>
            <a:r>
              <a:rPr lang="en-US" altLang="zh-CN" sz="2400" b="0">
                <a:latin typeface="黑体" panose="02010609060101010101" pitchFamily="49" charset="-122"/>
              </a:rPr>
              <a:t>R</a:t>
            </a:r>
            <a:r>
              <a:rPr lang="zh-CN" altLang="en-US" sz="2400" b="0">
                <a:latin typeface="黑体" panose="02010609060101010101" pitchFamily="49" charset="-122"/>
              </a:rPr>
              <a:t>，写</a:t>
            </a:r>
            <a:r>
              <a:rPr lang="en-US" altLang="zh-CN" sz="2400" b="0">
                <a:latin typeface="黑体" panose="02010609060101010101" pitchFamily="49" charset="-122"/>
              </a:rPr>
              <a:t>W</a:t>
            </a:r>
            <a:r>
              <a:rPr lang="zh-CN" altLang="en-US" sz="2400" b="0">
                <a:latin typeface="黑体" panose="02010609060101010101" pitchFamily="49" charset="-122"/>
              </a:rPr>
              <a:t>，执行</a:t>
            </a:r>
            <a:r>
              <a:rPr lang="en-US" altLang="zh-CN" sz="2400" b="0">
                <a:latin typeface="黑体" panose="02010609060101010101" pitchFamily="49" charset="-122"/>
              </a:rPr>
              <a:t>X</a:t>
            </a:r>
          </a:p>
          <a:p>
            <a:pPr lvl="2" eaLnBrk="1" hangingPunct="1"/>
            <a:r>
              <a:rPr lang="zh-CN" altLang="en-US" sz="2400" b="0">
                <a:latin typeface="黑体" panose="02010609060101010101" pitchFamily="49" charset="-122"/>
              </a:rPr>
              <a:t>外存地址：本段在外存中的起始地址</a:t>
            </a:r>
          </a:p>
          <a:p>
            <a:pPr lvl="1" eaLnBrk="1" hangingPunct="1"/>
            <a:r>
              <a:rPr lang="zh-CN" altLang="en-US" b="0">
                <a:latin typeface="黑体" panose="02010609060101010101" pitchFamily="49" charset="-122"/>
              </a:rPr>
              <a:t>地址变换和缺段中断：指令和操作数必定不会跨越在段边界上。</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57</a:t>
            </a:fld>
            <a:endParaRPr lang="zh-CN" altLang="en-US" sz="1400" b="0">
              <a:latin typeface="Tahoma" panose="020B0604030504040204" pitchFamily="34" charset="0"/>
              <a:ea typeface="宋体" panose="02010600030101010101" pitchFamily="2" charset="-122"/>
            </a:endParaRPr>
          </a:p>
        </p:txBody>
      </p:sp>
      <p:sp>
        <p:nvSpPr>
          <p:cNvPr id="73730"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10</a:t>
            </a:r>
            <a:r>
              <a:rPr lang="zh-CN" altLang="en-US"/>
              <a:t> 虚拟段页存储</a:t>
            </a:r>
          </a:p>
        </p:txBody>
      </p:sp>
      <p:sp>
        <p:nvSpPr>
          <p:cNvPr id="66563" name="Rectangle 3"/>
          <p:cNvSpPr>
            <a:spLocks noGrp="1" noChangeArrowheads="1"/>
          </p:cNvSpPr>
          <p:nvPr>
            <p:ph idx="1"/>
          </p:nvPr>
        </p:nvSpPr>
        <p:spPr/>
        <p:txBody>
          <a:bodyPr vert="horz" wrap="square" lIns="91440" tIns="45720" rIns="91440" bIns="45720" numCol="1" anchor="t" anchorCtr="0" compatLnSpc="1"/>
          <a:lstStyle/>
          <a:p>
            <a:pPr eaLnBrk="1" hangingPunct="1"/>
            <a:r>
              <a:rPr lang="zh-CN" altLang="en-US" sz="2400" b="0">
                <a:latin typeface="黑体" panose="02010609060101010101" pitchFamily="49" charset="-122"/>
              </a:rPr>
              <a:t>虚拟段页式</a:t>
            </a:r>
            <a:r>
              <a:rPr lang="en-US" altLang="zh-CN" sz="2400" b="0">
                <a:latin typeface="黑体" panose="02010609060101010101" pitchFamily="49" charset="-122"/>
              </a:rPr>
              <a:t>(combined paging and segmentation)</a:t>
            </a:r>
          </a:p>
          <a:p>
            <a:pPr eaLnBrk="1" hangingPunct="1">
              <a:buFont typeface="Wingdings" panose="05000000000000000000" pitchFamily="2" charset="2"/>
              <a:buNone/>
            </a:pPr>
            <a:r>
              <a:rPr lang="zh-CN" altLang="en-US" sz="2400" b="0">
                <a:latin typeface="黑体" panose="02010609060101010101" pitchFamily="49" charset="-122"/>
              </a:rPr>
              <a:t>	虚拟页式和虚拟段式存储管理的结合。</a:t>
            </a:r>
            <a:endParaRPr lang="en-US" altLang="zh-CN" sz="2400" b="0">
              <a:latin typeface="黑体" panose="02010609060101010101" pitchFamily="49" charset="-122"/>
            </a:endParaRPr>
          </a:p>
          <a:p>
            <a:pPr lvl="1" eaLnBrk="1" hangingPunct="1"/>
            <a:r>
              <a:rPr lang="zh-CN" altLang="en-US" b="0">
                <a:latin typeface="黑体" panose="02010609060101010101" pitchFamily="49" charset="-122"/>
              </a:rPr>
              <a:t>存储管理的分配单位是：段，页</a:t>
            </a:r>
          </a:p>
          <a:p>
            <a:pPr lvl="1" eaLnBrk="1" hangingPunct="1"/>
            <a:r>
              <a:rPr lang="zh-CN" altLang="en-US" b="0">
                <a:latin typeface="黑体" panose="02010609060101010101" pitchFamily="49" charset="-122"/>
              </a:rPr>
              <a:t>逻辑地址的组成：段号，页号，页内偏移地址。</a:t>
            </a:r>
          </a:p>
          <a:p>
            <a:pPr lvl="1" eaLnBrk="1" hangingPunct="1"/>
            <a:r>
              <a:rPr lang="zh-CN" altLang="en-US" b="0">
                <a:latin typeface="黑体" panose="02010609060101010101" pitchFamily="49" charset="-122"/>
              </a:rPr>
              <a:t>地址变换：先查段表，再查该段的页表。缺段中断和缺页中断。</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58</a:t>
            </a:fld>
            <a:endParaRPr lang="zh-CN" altLang="en-US" sz="1400" b="0">
              <a:latin typeface="Tahoma" panose="020B0604030504040204" pitchFamily="34" charset="0"/>
              <a:ea typeface="宋体" panose="02010600030101010101" pitchFamily="2" charset="-122"/>
            </a:endParaRPr>
          </a:p>
        </p:txBody>
      </p:sp>
      <p:sp>
        <p:nvSpPr>
          <p:cNvPr id="74754" name="Rectangle 3"/>
          <p:cNvSpPr>
            <a:spLocks noGrp="1"/>
          </p:cNvSpPr>
          <p:nvPr>
            <p:ph type="title"/>
          </p:nvPr>
        </p:nvSpPr>
        <p:spPr/>
        <p:txBody>
          <a:bodyPr vert="horz" wrap="square" lIns="91440" tIns="45720" rIns="91440" bIns="45720" anchor="b" anchorCtr="0"/>
          <a:lstStyle/>
          <a:p>
            <a:pPr eaLnBrk="1" hangingPunct="1"/>
            <a:r>
              <a:rPr lang="zh-CN" altLang="en-US"/>
              <a:t>总结</a:t>
            </a:r>
            <a:endParaRPr lang="en-US" altLang="zh-CN"/>
          </a:p>
        </p:txBody>
      </p:sp>
      <p:sp>
        <p:nvSpPr>
          <p:cNvPr id="14342" name="Rectangle 6"/>
          <p:cNvSpPr>
            <a:spLocks noGrp="1"/>
          </p:cNvSpPr>
          <p:nvPr>
            <p:ph idx="1"/>
          </p:nvPr>
        </p:nvSpPr>
        <p:spPr>
          <a:xfrm>
            <a:off x="-36512" y="1436688"/>
            <a:ext cx="3313112" cy="4800600"/>
          </a:xfrm>
        </p:spPr>
        <p:txBody>
          <a:bodyPr vert="horz" wrap="square" lIns="91440" tIns="45720" rIns="91440" bIns="45720" anchor="t" anchorCtr="0"/>
          <a:lstStyle/>
          <a:p>
            <a:pPr marL="0" indent="0">
              <a:buNone/>
            </a:pPr>
            <a:r>
              <a:rPr lang="en-US" altLang="zh-CN" sz="2400" b="0"/>
              <a:t>5.1</a:t>
            </a:r>
            <a:r>
              <a:rPr lang="zh-CN" altLang="en-US" sz="2400" b="0"/>
              <a:t>逻辑地址和物理地址</a:t>
            </a:r>
            <a:endParaRPr lang="en-US" altLang="zh-CN" sz="2400" b="0"/>
          </a:p>
          <a:p>
            <a:pPr marL="0" indent="0">
              <a:buNone/>
            </a:pPr>
            <a:r>
              <a:rPr lang="en-US" altLang="zh-CN" sz="2400" b="0"/>
              <a:t>5.2</a:t>
            </a:r>
            <a:r>
              <a:rPr lang="zh-CN" altLang="en-US" sz="2400" b="0"/>
              <a:t>程序装入方式</a:t>
            </a:r>
            <a:endParaRPr lang="en-US" altLang="zh-CN" sz="2400" b="0"/>
          </a:p>
          <a:p>
            <a:pPr marL="0" indent="0">
              <a:buNone/>
            </a:pPr>
            <a:r>
              <a:rPr lang="en-US" altLang="zh-CN" sz="2400" b="0">
                <a:solidFill>
                  <a:srgbClr val="FF0000"/>
                </a:solidFill>
              </a:rPr>
              <a:t>5.3</a:t>
            </a:r>
            <a:r>
              <a:rPr lang="zh-CN" altLang="en-US" sz="2400" b="0">
                <a:solidFill>
                  <a:srgbClr val="FF0000"/>
                </a:solidFill>
              </a:rPr>
              <a:t>连续存储管理</a:t>
            </a:r>
            <a:endParaRPr lang="en-US" altLang="zh-CN" sz="2400" b="0">
              <a:solidFill>
                <a:srgbClr val="FF0000"/>
              </a:solidFill>
            </a:endParaRPr>
          </a:p>
          <a:p>
            <a:pPr marL="0" indent="0">
              <a:buNone/>
            </a:pPr>
            <a:r>
              <a:rPr lang="en-US" altLang="zh-CN" sz="2400" b="0"/>
              <a:t>5.3.1</a:t>
            </a:r>
            <a:r>
              <a:rPr lang="zh-CN" altLang="en-US" sz="2400" b="0"/>
              <a:t>单一连续分区</a:t>
            </a:r>
            <a:endParaRPr lang="en-US" altLang="zh-CN" sz="2400" b="0"/>
          </a:p>
          <a:p>
            <a:pPr marL="0" indent="0">
              <a:buNone/>
            </a:pPr>
            <a:r>
              <a:rPr lang="en-US" altLang="zh-CN" sz="2400" b="0"/>
              <a:t>5.3.2</a:t>
            </a:r>
            <a:r>
              <a:rPr lang="zh-CN" altLang="en-US" sz="2400" b="0"/>
              <a:t>固定分区</a:t>
            </a:r>
            <a:endParaRPr lang="en-US" altLang="zh-CN" sz="2400" b="0"/>
          </a:p>
          <a:p>
            <a:pPr marL="0" indent="0">
              <a:buNone/>
            </a:pPr>
            <a:r>
              <a:rPr lang="en-US" altLang="zh-CN" sz="2400" b="0"/>
              <a:t>5.3.3</a:t>
            </a:r>
            <a:r>
              <a:rPr lang="zh-CN" altLang="en-US" sz="2400" b="0"/>
              <a:t>可变分区分区 </a:t>
            </a:r>
            <a:endParaRPr lang="en-US" altLang="zh-CN" sz="2400" b="0"/>
          </a:p>
          <a:p>
            <a:pPr marL="0" indent="0">
              <a:buNone/>
            </a:pPr>
            <a:r>
              <a:rPr lang="en-US" altLang="zh-CN" sz="2400" b="0"/>
              <a:t>5.3.4</a:t>
            </a:r>
            <a:r>
              <a:rPr lang="zh-CN" altLang="en-US" sz="2400" b="0"/>
              <a:t>可再定位分区</a:t>
            </a:r>
            <a:endParaRPr lang="en-US" altLang="zh-CN" sz="2400" b="0"/>
          </a:p>
          <a:p>
            <a:pPr marL="0" indent="0">
              <a:buNone/>
            </a:pPr>
            <a:r>
              <a:rPr lang="en-US" altLang="zh-CN" sz="2400" b="0"/>
              <a:t>5.3.5</a:t>
            </a:r>
            <a:r>
              <a:rPr lang="zh-CN" altLang="en-US" sz="2400" b="0"/>
              <a:t>多重分区</a:t>
            </a:r>
            <a:endParaRPr lang="en-US" altLang="zh-CN" sz="2400" b="0"/>
          </a:p>
          <a:p>
            <a:pPr marL="0" indent="0">
              <a:buFont typeface="Wingdings" panose="05000000000000000000" pitchFamily="2" charset="2"/>
              <a:buNone/>
            </a:pPr>
            <a:endParaRPr lang="zh-CN" altLang="en-US" sz="2400"/>
          </a:p>
        </p:txBody>
      </p:sp>
      <p:sp>
        <p:nvSpPr>
          <p:cNvPr id="74756" name="矩形 1"/>
          <p:cNvSpPr/>
          <p:nvPr/>
        </p:nvSpPr>
        <p:spPr>
          <a:xfrm>
            <a:off x="2843213" y="2276475"/>
            <a:ext cx="3889375" cy="37861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solidFill>
                  <a:srgbClr val="FF0000"/>
                </a:solidFill>
              </a:rPr>
              <a:t>非连续分区存储管理</a:t>
            </a:r>
            <a:endParaRPr lang="en-US" altLang="zh-CN" sz="2400" b="0">
              <a:solidFill>
                <a:srgbClr val="FF0000"/>
              </a:solidFill>
            </a:endParaRPr>
          </a:p>
          <a:p>
            <a:pPr marL="0" lvl="0" indent="0">
              <a:spcBef>
                <a:spcPct val="0"/>
              </a:spcBef>
              <a:buClrTx/>
              <a:buFontTx/>
              <a:buNone/>
            </a:pPr>
            <a:r>
              <a:rPr lang="en-US" altLang="zh-CN" sz="2400" b="0"/>
              <a:t>5.4</a:t>
            </a:r>
            <a:r>
              <a:rPr lang="zh-CN" altLang="en-US" sz="2400" b="0"/>
              <a:t>页式存储管理</a:t>
            </a:r>
            <a:endParaRPr lang="en-US" altLang="zh-CN" sz="2400" b="0"/>
          </a:p>
          <a:p>
            <a:pPr marL="0" lvl="0" indent="0">
              <a:spcBef>
                <a:spcPct val="0"/>
              </a:spcBef>
              <a:buClrTx/>
              <a:buFontTx/>
              <a:buNone/>
            </a:pPr>
            <a:r>
              <a:rPr lang="en-US" altLang="zh-CN" sz="2400" b="0"/>
              <a:t>5.4.1</a:t>
            </a:r>
            <a:r>
              <a:rPr lang="zh-CN" altLang="en-US" sz="2400" b="0"/>
              <a:t>页式存储管理原理</a:t>
            </a:r>
            <a:endParaRPr lang="en-US" altLang="zh-CN" sz="2400" b="0"/>
          </a:p>
          <a:p>
            <a:pPr marL="0" lvl="0" indent="0">
              <a:spcBef>
                <a:spcPct val="0"/>
              </a:spcBef>
              <a:buClrTx/>
              <a:buFontTx/>
              <a:buNone/>
            </a:pPr>
            <a:r>
              <a:rPr lang="en-US" altLang="zh-CN" sz="2400" b="0"/>
              <a:t>5.4.2</a:t>
            </a:r>
            <a:r>
              <a:rPr lang="zh-CN" altLang="en-US" sz="2400" b="0"/>
              <a:t>地址变换机构</a:t>
            </a:r>
            <a:endParaRPr lang="en-US" altLang="zh-CN" sz="2400" b="0"/>
          </a:p>
          <a:p>
            <a:pPr marL="0" lvl="0" indent="0">
              <a:spcBef>
                <a:spcPct val="0"/>
              </a:spcBef>
              <a:buClrTx/>
              <a:buFontTx/>
              <a:buNone/>
            </a:pPr>
            <a:r>
              <a:rPr lang="en-US" altLang="zh-CN" sz="2400" b="0"/>
              <a:t>5.4.3</a:t>
            </a:r>
            <a:r>
              <a:rPr lang="zh-CN" altLang="en-US" sz="2400" b="0"/>
              <a:t>页面分配</a:t>
            </a:r>
            <a:endParaRPr lang="en-US" altLang="zh-CN" sz="2400" b="0"/>
          </a:p>
          <a:p>
            <a:pPr marL="0" lvl="0" indent="0">
              <a:spcBef>
                <a:spcPct val="0"/>
              </a:spcBef>
              <a:buClrTx/>
              <a:buFontTx/>
              <a:buNone/>
            </a:pPr>
            <a:r>
              <a:rPr lang="en-US" altLang="zh-CN" sz="2400" b="0"/>
              <a:t>5.4.4</a:t>
            </a:r>
            <a:r>
              <a:rPr lang="zh-CN" altLang="en-US" sz="2400" b="0"/>
              <a:t>多级页表</a:t>
            </a:r>
            <a:endParaRPr lang="en-US" altLang="zh-CN" sz="2400" b="0"/>
          </a:p>
          <a:p>
            <a:pPr marL="0" lvl="0" indent="0">
              <a:spcBef>
                <a:spcPct val="0"/>
              </a:spcBef>
              <a:buClrTx/>
              <a:buFontTx/>
              <a:buNone/>
            </a:pPr>
            <a:r>
              <a:rPr lang="en-US" altLang="zh-CN" sz="2400" b="0"/>
              <a:t>5.5</a:t>
            </a:r>
            <a:r>
              <a:rPr lang="zh-CN" altLang="en-US" sz="2400" b="0"/>
              <a:t> 段式存储管理</a:t>
            </a:r>
            <a:endParaRPr lang="en-US" altLang="zh-CN" sz="2400" b="0"/>
          </a:p>
          <a:p>
            <a:pPr marL="0" lvl="0" indent="0">
              <a:spcBef>
                <a:spcPct val="0"/>
              </a:spcBef>
              <a:buClrTx/>
              <a:buFontTx/>
              <a:buNone/>
            </a:pPr>
            <a:r>
              <a:rPr lang="en-US" altLang="zh-CN" sz="2400" b="0"/>
              <a:t>5.5.1 </a:t>
            </a:r>
            <a:r>
              <a:rPr lang="zh-CN" altLang="en-US" sz="2400" b="0"/>
              <a:t>段式存储管理引入</a:t>
            </a:r>
            <a:endParaRPr lang="en-US" altLang="zh-CN" sz="2400" b="0"/>
          </a:p>
          <a:p>
            <a:pPr marL="0" lvl="0" indent="0">
              <a:spcBef>
                <a:spcPct val="0"/>
              </a:spcBef>
              <a:buClrTx/>
              <a:buFontTx/>
              <a:buNone/>
            </a:pPr>
            <a:r>
              <a:rPr lang="en-US" altLang="zh-CN" sz="2400" b="0"/>
              <a:t>5.5.2 </a:t>
            </a:r>
            <a:r>
              <a:rPr lang="zh-CN" altLang="en-US" sz="2400" b="0"/>
              <a:t>段式存储管理原理</a:t>
            </a:r>
            <a:endParaRPr lang="en-US" altLang="zh-CN" sz="2400" b="0"/>
          </a:p>
          <a:p>
            <a:pPr marL="0" lvl="0" indent="0">
              <a:spcBef>
                <a:spcPct val="0"/>
              </a:spcBef>
              <a:buClrTx/>
              <a:buFontTx/>
              <a:buNone/>
            </a:pPr>
            <a:r>
              <a:rPr lang="zh-CN" altLang="en-US" sz="2400" b="0"/>
              <a:t>5.</a:t>
            </a:r>
            <a:r>
              <a:rPr lang="en-US" altLang="zh-CN" sz="2400" b="0"/>
              <a:t>6</a:t>
            </a:r>
            <a:r>
              <a:rPr lang="zh-CN" altLang="en-US" sz="2400" b="0"/>
              <a:t> 段页式存储管理</a:t>
            </a:r>
            <a:endParaRPr lang="en-US" altLang="zh-CN" sz="2400" b="0"/>
          </a:p>
        </p:txBody>
      </p:sp>
      <p:sp>
        <p:nvSpPr>
          <p:cNvPr id="6" name="Rectangle 6"/>
          <p:cNvSpPr txBox="1">
            <a:spLocks noChangeArrowheads="1"/>
          </p:cNvSpPr>
          <p:nvPr/>
        </p:nvSpPr>
        <p:spPr bwMode="auto">
          <a:xfrm>
            <a:off x="6084888" y="2300288"/>
            <a:ext cx="357187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342900" lvl="0" indent="-342900">
              <a:spcBef>
                <a:spcPct val="0"/>
              </a:spcBef>
              <a:buClrTx/>
              <a:buFontTx/>
              <a:buNone/>
            </a:pPr>
            <a:r>
              <a:rPr lang="zh-CN" altLang="en-US" sz="2400" b="0"/>
              <a:t>5.</a:t>
            </a:r>
            <a:r>
              <a:rPr lang="en-US" altLang="zh-CN" sz="2400" b="0"/>
              <a:t>7</a:t>
            </a:r>
            <a:r>
              <a:rPr lang="zh-CN" altLang="en-US" sz="2400" b="0"/>
              <a:t>内存扩充技术</a:t>
            </a:r>
            <a:endParaRPr lang="en-US" altLang="zh-CN" sz="2400" b="0"/>
          </a:p>
          <a:p>
            <a:pPr marL="342900" lvl="0" indent="-342900">
              <a:spcBef>
                <a:spcPct val="0"/>
              </a:spcBef>
              <a:buClrTx/>
              <a:buFontTx/>
              <a:buNone/>
            </a:pPr>
            <a:r>
              <a:rPr lang="zh-CN" altLang="en-US" sz="2400" b="0"/>
              <a:t>交换</a:t>
            </a:r>
            <a:r>
              <a:rPr lang="en-US" altLang="zh-CN" sz="2400" b="0"/>
              <a:t>,</a:t>
            </a:r>
            <a:r>
              <a:rPr lang="zh-CN" altLang="en-US" sz="2400" b="0"/>
              <a:t>覆盖</a:t>
            </a:r>
            <a:r>
              <a:rPr lang="en-US" altLang="zh-CN" sz="2400" b="0"/>
              <a:t>,</a:t>
            </a:r>
            <a:r>
              <a:rPr lang="zh-CN" altLang="en-US" sz="2400" b="0"/>
              <a:t>虚拟存储</a:t>
            </a:r>
            <a:endParaRPr lang="en-US" altLang="zh-CN" sz="2400" b="0"/>
          </a:p>
          <a:p>
            <a:pPr marL="342900" lvl="0" indent="-342900">
              <a:buNone/>
            </a:pPr>
            <a:r>
              <a:rPr lang="en-US" altLang="zh-CN" sz="2400" b="0"/>
              <a:t>5.8</a:t>
            </a:r>
            <a:r>
              <a:rPr lang="zh-CN" altLang="en-US" sz="2400" b="0"/>
              <a:t>虚拟页式存储</a:t>
            </a:r>
            <a:endParaRPr lang="en-US" altLang="zh-CN" sz="2400" b="0"/>
          </a:p>
          <a:p>
            <a:pPr marL="342900" lvl="0" indent="-342900">
              <a:buNone/>
            </a:pPr>
            <a:r>
              <a:rPr lang="en-US" altLang="zh-CN" sz="2400" b="0"/>
              <a:t>5.8.1</a:t>
            </a:r>
            <a:r>
              <a:rPr lang="zh-CN" altLang="en-US" sz="2400" b="0"/>
              <a:t>工作集，缺页率</a:t>
            </a:r>
            <a:endParaRPr lang="en-US" altLang="zh-CN" sz="2400" b="0"/>
          </a:p>
          <a:p>
            <a:pPr marL="342900" lvl="0" indent="-342900">
              <a:buNone/>
            </a:pPr>
            <a:r>
              <a:rPr lang="en-US" altLang="zh-CN" sz="2400" b="0"/>
              <a:t>5.8.2</a:t>
            </a:r>
            <a:r>
              <a:rPr lang="zh-CN" altLang="en-US" sz="2400" b="0"/>
              <a:t>虚拟页式存储过程</a:t>
            </a:r>
            <a:endParaRPr lang="en-US" altLang="zh-CN" sz="2400" b="0"/>
          </a:p>
          <a:p>
            <a:pPr marL="342900" lvl="0" indent="-342900">
              <a:buNone/>
            </a:pPr>
            <a:r>
              <a:rPr lang="en-US" altLang="zh-CN" sz="2400" b="0"/>
              <a:t>5.8.3</a:t>
            </a:r>
            <a:r>
              <a:rPr lang="zh-CN" altLang="en-US" sz="2400" b="0"/>
              <a:t>页面调入策略</a:t>
            </a:r>
            <a:endParaRPr lang="en-US" altLang="zh-CN" sz="2400" b="0"/>
          </a:p>
          <a:p>
            <a:pPr marL="342900" lvl="0" indent="-342900">
              <a:buNone/>
            </a:pPr>
            <a:r>
              <a:rPr lang="en-US" altLang="zh-CN" sz="2400" b="0"/>
              <a:t>5.8.4</a:t>
            </a:r>
            <a:r>
              <a:rPr lang="zh-CN" altLang="en-US" sz="2400" b="0"/>
              <a:t>页面置换算法</a:t>
            </a:r>
            <a:endParaRPr lang="en-US" altLang="zh-CN" sz="2400" b="0"/>
          </a:p>
          <a:p>
            <a:pPr marL="342900" lvl="0" indent="-342900">
              <a:buNone/>
            </a:pPr>
            <a:r>
              <a:rPr lang="en-US" altLang="zh-CN" sz="2400" b="0"/>
              <a:t>5.9</a:t>
            </a:r>
            <a:r>
              <a:rPr lang="zh-CN" altLang="en-US" sz="2400" b="0"/>
              <a:t>虚拟段式存储</a:t>
            </a:r>
            <a:endParaRPr lang="en-US" altLang="zh-CN" sz="2400" b="0"/>
          </a:p>
          <a:p>
            <a:pPr marL="342900" lvl="0" indent="-342900">
              <a:buNone/>
            </a:pPr>
            <a:r>
              <a:rPr lang="en-US" altLang="zh-CN" sz="2400" b="0"/>
              <a:t>5.10</a:t>
            </a:r>
            <a:r>
              <a:rPr lang="zh-CN" altLang="en-US" sz="2400" b="0"/>
              <a:t>虚拟段页式存储</a:t>
            </a:r>
            <a:endParaRPr lang="en-US" altLang="zh-CN" sz="2400" b="0"/>
          </a:p>
          <a:p>
            <a:pPr marL="342900" lvl="0" indent="-342900">
              <a:buFont typeface="Wingdings" panose="05000000000000000000" pitchFamily="2" charset="2"/>
              <a:buNone/>
            </a:pPr>
            <a:r>
              <a:rPr lang="zh-CN" altLang="en-US" sz="2400"/>
              <a:t> </a:t>
            </a:r>
            <a:endParaRPr lang="en-US" altLang="zh-CN" sz="2400"/>
          </a:p>
          <a:p>
            <a:pPr marL="342900" lvl="0" indent="-342900">
              <a:buFont typeface="Wingdings" panose="05000000000000000000" pitchFamily="2" charset="2"/>
              <a:buNone/>
            </a:pPr>
            <a:br>
              <a:rPr lang="zh-CN" altLang="en-US" sz="2400"/>
            </a:b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2">
                                            <p:txEl>
                                              <p:pRg st="0" end="0"/>
                                            </p:txEl>
                                          </p:spTgt>
                                        </p:tgtEl>
                                        <p:attrNameLst>
                                          <p:attrName>style.visibility</p:attrName>
                                        </p:attrNameLst>
                                      </p:cBhvr>
                                      <p:to>
                                        <p:strVal val="visible"/>
                                      </p:to>
                                    </p:set>
                                    <p:animEffect transition="in" filter="blinds(horizontal)">
                                      <p:cBhvr>
                                        <p:cTn id="7" dur="500"/>
                                        <p:tgtEl>
                                          <p:spTgt spid="143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42">
                                            <p:txEl>
                                              <p:pRg st="1" end="1"/>
                                            </p:txEl>
                                          </p:spTgt>
                                        </p:tgtEl>
                                        <p:attrNameLst>
                                          <p:attrName>style.visibility</p:attrName>
                                        </p:attrNameLst>
                                      </p:cBhvr>
                                      <p:to>
                                        <p:strVal val="visible"/>
                                      </p:to>
                                    </p:set>
                                    <p:animEffect transition="in" filter="blinds(horizontal)">
                                      <p:cBhvr>
                                        <p:cTn id="12" dur="500"/>
                                        <p:tgtEl>
                                          <p:spTgt spid="143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42">
                                            <p:txEl>
                                              <p:pRg st="2" end="2"/>
                                            </p:txEl>
                                          </p:spTgt>
                                        </p:tgtEl>
                                        <p:attrNameLst>
                                          <p:attrName>style.visibility</p:attrName>
                                        </p:attrNameLst>
                                      </p:cBhvr>
                                      <p:to>
                                        <p:strVal val="visible"/>
                                      </p:to>
                                    </p:set>
                                    <p:animEffect transition="in" filter="blinds(horizontal)">
                                      <p:cBhvr>
                                        <p:cTn id="17" dur="500"/>
                                        <p:tgtEl>
                                          <p:spTgt spid="143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42">
                                            <p:txEl>
                                              <p:pRg st="3" end="3"/>
                                            </p:txEl>
                                          </p:spTgt>
                                        </p:tgtEl>
                                        <p:attrNameLst>
                                          <p:attrName>style.visibility</p:attrName>
                                        </p:attrNameLst>
                                      </p:cBhvr>
                                      <p:to>
                                        <p:strVal val="visible"/>
                                      </p:to>
                                    </p:set>
                                    <p:animEffect transition="in" filter="blinds(horizontal)">
                                      <p:cBhvr>
                                        <p:cTn id="22" dur="500"/>
                                        <p:tgtEl>
                                          <p:spTgt spid="1434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342">
                                            <p:txEl>
                                              <p:pRg st="4" end="4"/>
                                            </p:txEl>
                                          </p:spTgt>
                                        </p:tgtEl>
                                        <p:attrNameLst>
                                          <p:attrName>style.visibility</p:attrName>
                                        </p:attrNameLst>
                                      </p:cBhvr>
                                      <p:to>
                                        <p:strVal val="visible"/>
                                      </p:to>
                                    </p:set>
                                    <p:animEffect transition="in" filter="blinds(horizontal)">
                                      <p:cBhvr>
                                        <p:cTn id="27" dur="500"/>
                                        <p:tgtEl>
                                          <p:spTgt spid="1434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342">
                                            <p:txEl>
                                              <p:pRg st="5" end="5"/>
                                            </p:txEl>
                                          </p:spTgt>
                                        </p:tgtEl>
                                        <p:attrNameLst>
                                          <p:attrName>style.visibility</p:attrName>
                                        </p:attrNameLst>
                                      </p:cBhvr>
                                      <p:to>
                                        <p:strVal val="visible"/>
                                      </p:to>
                                    </p:set>
                                    <p:animEffect transition="in" filter="blinds(horizontal)">
                                      <p:cBhvr>
                                        <p:cTn id="32" dur="500"/>
                                        <p:tgtEl>
                                          <p:spTgt spid="1434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342">
                                            <p:txEl>
                                              <p:pRg st="6" end="6"/>
                                            </p:txEl>
                                          </p:spTgt>
                                        </p:tgtEl>
                                        <p:attrNameLst>
                                          <p:attrName>style.visibility</p:attrName>
                                        </p:attrNameLst>
                                      </p:cBhvr>
                                      <p:to>
                                        <p:strVal val="visible"/>
                                      </p:to>
                                    </p:set>
                                    <p:animEffect transition="in" filter="blinds(horizontal)">
                                      <p:cBhvr>
                                        <p:cTn id="37" dur="500"/>
                                        <p:tgtEl>
                                          <p:spTgt spid="1434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342">
                                            <p:txEl>
                                              <p:pRg st="7" end="7"/>
                                            </p:txEl>
                                          </p:spTgt>
                                        </p:tgtEl>
                                        <p:attrNameLst>
                                          <p:attrName>style.visibility</p:attrName>
                                        </p:attrNameLst>
                                      </p:cBhvr>
                                      <p:to>
                                        <p:strVal val="visible"/>
                                      </p:to>
                                    </p:set>
                                    <p:animEffect transition="in" filter="blinds(horizontal)">
                                      <p:cBhvr>
                                        <p:cTn id="42" dur="500"/>
                                        <p:tgtEl>
                                          <p:spTgt spid="1434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animEffect transition="in" filter="blinds(horizontal)">
                                      <p:cBhvr>
                                        <p:cTn id="47" dur="500"/>
                                        <p:tgtEl>
                                          <p:spTgt spid="6">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
                                            <p:txEl>
                                              <p:pRg st="1" end="1"/>
                                            </p:txEl>
                                          </p:spTgt>
                                        </p:tgtEl>
                                        <p:attrNameLst>
                                          <p:attrName>style.visibility</p:attrName>
                                        </p:attrNameLst>
                                      </p:cBhvr>
                                      <p:to>
                                        <p:strVal val="visible"/>
                                      </p:to>
                                    </p:set>
                                    <p:animEffect transition="in" filter="blinds(horizontal)">
                                      <p:cBhvr>
                                        <p:cTn id="52" dur="500"/>
                                        <p:tgtEl>
                                          <p:spTgt spid="6">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
                                            <p:txEl>
                                              <p:pRg st="2" end="2"/>
                                            </p:txEl>
                                          </p:spTgt>
                                        </p:tgtEl>
                                        <p:attrNameLst>
                                          <p:attrName>style.visibility</p:attrName>
                                        </p:attrNameLst>
                                      </p:cBhvr>
                                      <p:to>
                                        <p:strVal val="visible"/>
                                      </p:to>
                                    </p:set>
                                    <p:animEffect transition="in" filter="blinds(horizontal)">
                                      <p:cBhvr>
                                        <p:cTn id="57" dur="500"/>
                                        <p:tgtEl>
                                          <p:spTgt spid="6">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
                                            <p:txEl>
                                              <p:pRg st="3" end="3"/>
                                            </p:txEl>
                                          </p:spTgt>
                                        </p:tgtEl>
                                        <p:attrNameLst>
                                          <p:attrName>style.visibility</p:attrName>
                                        </p:attrNameLst>
                                      </p:cBhvr>
                                      <p:to>
                                        <p:strVal val="visible"/>
                                      </p:to>
                                    </p:set>
                                    <p:animEffect transition="in" filter="blinds(horizontal)">
                                      <p:cBhvr>
                                        <p:cTn id="62" dur="500"/>
                                        <p:tgtEl>
                                          <p:spTgt spid="6">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
                                            <p:txEl>
                                              <p:pRg st="4" end="4"/>
                                            </p:txEl>
                                          </p:spTgt>
                                        </p:tgtEl>
                                        <p:attrNameLst>
                                          <p:attrName>style.visibility</p:attrName>
                                        </p:attrNameLst>
                                      </p:cBhvr>
                                      <p:to>
                                        <p:strVal val="visible"/>
                                      </p:to>
                                    </p:set>
                                    <p:animEffect transition="in" filter="blinds(horizontal)">
                                      <p:cBhvr>
                                        <p:cTn id="67" dur="500"/>
                                        <p:tgtEl>
                                          <p:spTgt spid="6">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6">
                                            <p:txEl>
                                              <p:pRg st="5" end="5"/>
                                            </p:txEl>
                                          </p:spTgt>
                                        </p:tgtEl>
                                        <p:attrNameLst>
                                          <p:attrName>style.visibility</p:attrName>
                                        </p:attrNameLst>
                                      </p:cBhvr>
                                      <p:to>
                                        <p:strVal val="visible"/>
                                      </p:to>
                                    </p:set>
                                    <p:animEffect transition="in" filter="blinds(horizontal)">
                                      <p:cBhvr>
                                        <p:cTn id="72" dur="500"/>
                                        <p:tgtEl>
                                          <p:spTgt spid="6">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6">
                                            <p:txEl>
                                              <p:pRg st="6" end="6"/>
                                            </p:txEl>
                                          </p:spTgt>
                                        </p:tgtEl>
                                        <p:attrNameLst>
                                          <p:attrName>style.visibility</p:attrName>
                                        </p:attrNameLst>
                                      </p:cBhvr>
                                      <p:to>
                                        <p:strVal val="visible"/>
                                      </p:to>
                                    </p:set>
                                    <p:animEffect transition="in" filter="blinds(horizontal)">
                                      <p:cBhvr>
                                        <p:cTn id="77" dur="500"/>
                                        <p:tgtEl>
                                          <p:spTgt spid="6">
                                            <p:txEl>
                                              <p:pRg st="6" end="6"/>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6">
                                            <p:txEl>
                                              <p:pRg st="7" end="7"/>
                                            </p:txEl>
                                          </p:spTgt>
                                        </p:tgtEl>
                                        <p:attrNameLst>
                                          <p:attrName>style.visibility</p:attrName>
                                        </p:attrNameLst>
                                      </p:cBhvr>
                                      <p:to>
                                        <p:strVal val="visible"/>
                                      </p:to>
                                    </p:set>
                                    <p:animEffect transition="in" filter="blinds(horizontal)">
                                      <p:cBhvr>
                                        <p:cTn id="82" dur="500"/>
                                        <p:tgtEl>
                                          <p:spTgt spid="6">
                                            <p:txEl>
                                              <p:pRg st="7" end="7"/>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6">
                                            <p:txEl>
                                              <p:pRg st="8" end="8"/>
                                            </p:txEl>
                                          </p:spTgt>
                                        </p:tgtEl>
                                        <p:attrNameLst>
                                          <p:attrName>style.visibility</p:attrName>
                                        </p:attrNameLst>
                                      </p:cBhvr>
                                      <p:to>
                                        <p:strVal val="visible"/>
                                      </p:to>
                                    </p:set>
                                    <p:animEffect transition="in" filter="blinds(horizontal)">
                                      <p:cBhvr>
                                        <p:cTn id="87" dur="500"/>
                                        <p:tgtEl>
                                          <p:spTgt spid="6">
                                            <p:txEl>
                                              <p:pRg st="8" end="8"/>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6">
                                            <p:txEl>
                                              <p:pRg st="9" end="9"/>
                                            </p:txEl>
                                          </p:spTgt>
                                        </p:tgtEl>
                                        <p:attrNameLst>
                                          <p:attrName>style.visibility</p:attrName>
                                        </p:attrNameLst>
                                      </p:cBhvr>
                                      <p:to>
                                        <p:strVal val="visible"/>
                                      </p:to>
                                    </p:set>
                                    <p:animEffect transition="in" filter="blinds(horizontal)">
                                      <p:cBhvr>
                                        <p:cTn id="92" dur="500"/>
                                        <p:tgtEl>
                                          <p:spTgt spid="6">
                                            <p:txEl>
                                              <p:pRg st="9" end="9"/>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6">
                                            <p:txEl>
                                              <p:pRg st="10" end="10"/>
                                            </p:txEl>
                                          </p:spTgt>
                                        </p:tgtEl>
                                        <p:attrNameLst>
                                          <p:attrName>style.visibility</p:attrName>
                                        </p:attrNameLst>
                                      </p:cBhvr>
                                      <p:to>
                                        <p:strVal val="visible"/>
                                      </p:to>
                                    </p:set>
                                    <p:animEffect transition="in" filter="blinds(horizontal)">
                                      <p:cBhvr>
                                        <p:cTn id="97"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 grpId="0" build="p" bldLvl="2"/>
      <p:bldP spid="6" grpId="0" build="p" bldLvl="2"/>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anose="02010600030101010101" pitchFamily="2" charset="-122"/>
              </a:rPr>
              <a:t>59</a:t>
            </a:fld>
            <a:endParaRPr lang="zh-CN" altLang="en-US" sz="1400" b="0">
              <a:latin typeface="Tahoma" panose="020B0604030504040204" pitchFamily="34" charset="0"/>
              <a:ea typeface="宋体" panose="02010600030101010101" pitchFamily="2" charset="-122"/>
            </a:endParaRPr>
          </a:p>
        </p:txBody>
      </p:sp>
      <p:sp>
        <p:nvSpPr>
          <p:cNvPr id="75778" name="Rectangle 2"/>
          <p:cNvSpPr>
            <a:spLocks noGrp="1"/>
          </p:cNvSpPr>
          <p:nvPr>
            <p:ph type="title"/>
          </p:nvPr>
        </p:nvSpPr>
        <p:spPr/>
        <p:txBody>
          <a:bodyPr vert="horz" wrap="square" lIns="91440" tIns="45720" rIns="91440" bIns="45720" anchor="b" anchorCtr="0"/>
          <a:lstStyle/>
          <a:p>
            <a:pPr eaLnBrk="1" hangingPunct="1"/>
            <a:r>
              <a:rPr lang="zh-CN" altLang="en-US"/>
              <a:t>作业</a:t>
            </a:r>
          </a:p>
        </p:txBody>
      </p:sp>
      <p:sp>
        <p:nvSpPr>
          <p:cNvPr id="75779" name="Rectangle 3"/>
          <p:cNvSpPr>
            <a:spLocks noGrp="1"/>
          </p:cNvSpPr>
          <p:nvPr>
            <p:ph idx="1"/>
          </p:nvPr>
        </p:nvSpPr>
        <p:spPr>
          <a:xfrm>
            <a:off x="1143000" y="2514600"/>
            <a:ext cx="7772400" cy="3505200"/>
          </a:xfrm>
        </p:spPr>
        <p:txBody>
          <a:bodyPr vert="horz" wrap="square" lIns="91440" tIns="45720" rIns="91440" bIns="45720" anchor="t" anchorCtr="0"/>
          <a:lstStyle/>
          <a:p>
            <a:pPr marL="0" indent="0" eaLnBrk="1" hangingPunct="1">
              <a:buNone/>
            </a:pPr>
            <a:r>
              <a:rPr lang="zh-CN" altLang="en-US"/>
              <a:t>2，3，5，6，11，15，16，17，18，19，20</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0969a45f-63af-4cfb-bc3e-29f763de1dea"/>
  <p:tag name="COMMONDATA" val="eyJoZGlkIjoiYzVjMGE0OTkyMjE4MGFjZTBkZGNmNTkzMzk5N2EwOTgifQ=="/>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解：(1)2362H：页号2，页内地址362H。由页表知，此页在内存。访问时间：10 ns +100 ns +100 ns =210ns &#10;1565H: 页号1，页内地址565H。由页表知，此页不在内存。访问时间：10 ns +100 ns +108ns+100 ns≈108 ns&#10;25A5H: 页号2，页内地址5A5H。由页表项已放入快表。访问时间：10 ns +100 ns =110ns&#10;(2) 1565H: 页号1，页内地址565H。此页不在内存，把0号页面换出，1号页面放入101H页框，所以物理地址为101565H。"/>
  <p:tag name="PROBLEMVOICEALLOWED" val="True"/>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1.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2.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3.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4.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9.xml><?xml version="1.0" encoding="utf-8"?>
<p:tagLst xmlns:a="http://schemas.openxmlformats.org/drawingml/2006/main" xmlns:r="http://schemas.openxmlformats.org/officeDocument/2006/relationships" xmlns:p="http://schemas.openxmlformats.org/presentationml/2006/main">
  <p:tag name="KSO_WM_UNIT_TABLE_BEAUTIFY" val="smartTable{339290ff-3faa-4782-81a6-efb3c5258b87}"/>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7.xml><?xml version="1.0" encoding="utf-8"?>
<p:tagLst xmlns:a="http://schemas.openxmlformats.org/drawingml/2006/main" xmlns:r="http://schemas.openxmlformats.org/officeDocument/2006/relationships" xmlns:p="http://schemas.openxmlformats.org/presentationml/2006/main">
  <p:tag name="KSO_WM_UNIT_TABLE_BEAUTIFY" val="smartTable{339290ff-3faa-4782-81a6-efb3c5258b87}"/>
</p:tagLst>
</file>

<file path=ppt/tags/tag3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VOICEALLOWED" val="True"/>
</p:tagLst>
</file>

<file path=ppt/tags/tag7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73.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74.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75.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76.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7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解：(1)2362H：页号2，页内地址362H。由页表知，此页在内存。访问时间：10 ns +100 ns +100 ns =210ns &#10;1565H: 页号1，页内地址565H。由页表知，此页不在内存。访问时间：10 ns +100 ns +108ns+100 ns≈108 ns&#10;25A5H: 页号2，页内地址5A5H。由页表项已放入快表。访问时间：10 ns +100 ns =110ns&#10;(2) 1565H: 页号1，页内地址565H。此页不在内存，把0号页面换出，1号页面放入101H页框，所以物理地址为101565H。"/>
  <p:tag name="PROBLEMVOICEALLOWED" val="True"/>
</p:tagLst>
</file>

<file path=ppt/tags/tag8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88.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89.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90.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91.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9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9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操作系统讲义">
  <a:themeElements>
    <a:clrScheme name="操作系统讲义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操作系统讲义">
      <a:majorFont>
        <a:latin typeface="Arial Black"/>
        <a:ea typeface=""/>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操作系统讲义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操作系统讲义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操作系统讲义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操作系统讲义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操作系统讲义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操作系统讲义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操作系统讲义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第3章进程管理_作业习题</Template>
  <TotalTime>32</TotalTime>
  <Words>6108</Words>
  <Application>Microsoft Office PowerPoint</Application>
  <PresentationFormat>全屏显示(4:3)</PresentationFormat>
  <Paragraphs>960</Paragraphs>
  <Slides>59</Slides>
  <Notes>7</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59</vt:i4>
      </vt:variant>
    </vt:vector>
  </HeadingPairs>
  <TitlesOfParts>
    <vt:vector size="76" baseType="lpstr">
      <vt:lpstr>Monotype Sorts</vt:lpstr>
      <vt:lpstr>黑体</vt:lpstr>
      <vt:lpstr>华文行楷</vt:lpstr>
      <vt:lpstr>楷体_GB2312</vt:lpstr>
      <vt:lpstr>隶书</vt:lpstr>
      <vt:lpstr>宋体</vt:lpstr>
      <vt:lpstr>微软雅黑</vt:lpstr>
      <vt:lpstr>Arial</vt:lpstr>
      <vt:lpstr>Arial Black</vt:lpstr>
      <vt:lpstr>Calibri</vt:lpstr>
      <vt:lpstr>Courier New</vt:lpstr>
      <vt:lpstr>Symbol</vt:lpstr>
      <vt:lpstr>Tahoma</vt:lpstr>
      <vt:lpstr>times</vt:lpstr>
      <vt:lpstr>Times New Roman</vt:lpstr>
      <vt:lpstr>Wingdings</vt:lpstr>
      <vt:lpstr>操作系统讲义</vt:lpstr>
      <vt:lpstr>《操作系统》</vt:lpstr>
      <vt:lpstr>5 存储管理</vt:lpstr>
      <vt:lpstr>5.7 内存扩充技术</vt:lpstr>
      <vt:lpstr>5.7 内存扩充技术</vt:lpstr>
      <vt:lpstr>5.7.1 覆盖技术</vt:lpstr>
      <vt:lpstr>5.7.1 覆盖技术</vt:lpstr>
      <vt:lpstr>5.7.2 交换技术</vt:lpstr>
      <vt:lpstr>5.7.2 交换技术</vt:lpstr>
      <vt:lpstr>5.7.2 交换技术</vt:lpstr>
      <vt:lpstr>5.8 虚拟存储</vt:lpstr>
      <vt:lpstr>5.8 虚拟存储</vt:lpstr>
      <vt:lpstr>5.8 虚拟存储</vt:lpstr>
      <vt:lpstr>5.8 虚拟存储</vt:lpstr>
      <vt:lpstr>5.8 虚拟存储</vt:lpstr>
      <vt:lpstr>5.8 虚拟存储</vt:lpstr>
      <vt:lpstr>5.8 虚拟页式存储</vt:lpstr>
      <vt:lpstr>5.8.1虚拟页式存储过程</vt:lpstr>
      <vt:lpstr>5.8.1虚拟页式存储过程</vt:lpstr>
      <vt:lpstr>5.8.1虚拟页式存储过程</vt:lpstr>
      <vt:lpstr>5.8.1虚拟页式存储过程</vt:lpstr>
      <vt:lpstr>PowerPoint 演示文稿</vt:lpstr>
      <vt:lpstr>PowerPoint 演示文稿</vt:lpstr>
      <vt:lpstr>5.8.1虚拟页式存储过程</vt:lpstr>
      <vt:lpstr>5.8.2 分多少块？</vt:lpstr>
      <vt:lpstr>5.8.2分多少块？</vt:lpstr>
      <vt:lpstr>PowerPoint 演示文稿</vt:lpstr>
      <vt:lpstr>5.8.2分多少块？</vt:lpstr>
      <vt:lpstr>5.8.2分多少块？</vt:lpstr>
      <vt:lpstr>5.8.2 缺页率</vt:lpstr>
      <vt:lpstr>5.8.2 缺页率</vt:lpstr>
      <vt:lpstr>5.8.3页面调入策略</vt:lpstr>
      <vt:lpstr>5.8.4页面置换算法</vt:lpstr>
      <vt:lpstr>5.8.4页面置换算法</vt:lpstr>
      <vt:lpstr>PowerPoint 演示文稿</vt:lpstr>
      <vt:lpstr>5.8.4页面置换算法</vt:lpstr>
      <vt:lpstr>5.8.4页面置换算法</vt:lpstr>
      <vt:lpstr>PowerPoint 演示文稿</vt:lpstr>
      <vt:lpstr>PowerPoint 演示文稿</vt:lpstr>
      <vt:lpstr>PowerPoint 演示文稿</vt:lpstr>
      <vt:lpstr>5.8.4页面置换算法</vt:lpstr>
      <vt:lpstr>5.8.4页面置换算法</vt:lpstr>
      <vt:lpstr>5.8.4页面置换算法</vt:lpstr>
      <vt:lpstr>5.8.4页面置换算法</vt:lpstr>
      <vt:lpstr>5.8.4页面置换算法</vt:lpstr>
      <vt:lpstr>5.8.4页面置换算法</vt:lpstr>
      <vt:lpstr>5.8.4页面置换算法</vt:lpstr>
      <vt:lpstr>5.8.4页面置换算法</vt:lpstr>
      <vt:lpstr>PowerPoint 演示文稿</vt:lpstr>
      <vt:lpstr>PowerPoint 演示文稿</vt:lpstr>
      <vt:lpstr>5.8.4页面置换算法</vt:lpstr>
      <vt:lpstr>PowerPoint 演示文稿</vt:lpstr>
      <vt:lpstr>5.8.4页面置换算法</vt:lpstr>
      <vt:lpstr>5.8.4页面置换算法</vt:lpstr>
      <vt:lpstr>PowerPoint 演示文稿</vt:lpstr>
      <vt:lpstr>PowerPoint 演示文稿</vt:lpstr>
      <vt:lpstr>5.9虚拟段式存储</vt:lpstr>
      <vt:lpstr>5.10 虚拟段页存储</vt:lpstr>
      <vt:lpstr>总结</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第1章操作系统概论</dc:title>
  <dc:creator/>
  <cp:lastModifiedBy>Dell</cp:lastModifiedBy>
  <cp:revision>290</cp:revision>
  <dcterms:created xsi:type="dcterms:W3CDTF">1999-09-03T12:49:00Z</dcterms:created>
  <dcterms:modified xsi:type="dcterms:W3CDTF">2024-04-21T23:45:57Z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5C442A3374F549BF9B95314CFAFF5130</vt:lpwstr>
  </property>
  <property fmtid="{D5CDD505-2E9C-101B-9397-08002B2CF9AE}" pid="3" name="KSOProductBuildVer">
    <vt:lpwstr>2052-11.1.0.13703</vt:lpwstr>
  </property>
</Properties>
</file>